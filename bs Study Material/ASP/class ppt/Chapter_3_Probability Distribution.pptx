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C06B-B143-41DE-45EF-7FDA8FFDC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E4D6C-51E5-7214-AA5F-60664C491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CE5D9-F409-374F-F962-2DC038AB7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8B958-6556-78E9-B2E1-6DC06421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Rahul Sharma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A7EC-164F-3862-0545-427AC165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1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908C-55E9-9D9F-5C10-0785423C9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8587A-A57E-FAD2-017E-CC503B07A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5270C-9CDE-B4A8-CB34-97FC3CB4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259C-B46E-3C84-62D4-3492B8F35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Rahul Sharma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646DD-B8F3-75BB-1DB1-AE67A0DF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677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8336-63E5-9A31-278D-55B52B777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36354-3D8A-4E94-10E4-FC83A365D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6944E-2B1C-4727-BB27-FE6F7020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2AEC-EBFE-385B-D498-3E251EBC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B042A-CA8F-1163-D40A-27F3A5E8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17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63B9-ED2C-4C40-E871-02E74745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30F66-0E2D-F8A7-42D0-BB1ADF7E4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7A77C-87D9-6EB8-25B2-8342AC099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AB78-FE81-6528-0D60-8854952C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FF63D-C807-2168-FFEC-A3EA0D46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E7141-07E8-4924-5E95-BA97BD91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6E13-7A2A-4E2B-E7A3-6AC3A694F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38C4F-4E90-AA4B-50E4-4F794372D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4F25E-DD07-AEBC-5AB6-D884D86A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0D783B-0725-7412-A000-E2474E25B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57F8-0EC0-8B6C-7FB9-E285F36EE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FF90A-91E0-ECB1-BCA4-6AEA74747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148E78-C90D-83F4-2434-D74C1BC8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C121D5-580C-F344-EB6D-FA8A5273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771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CC13-E209-9590-C4E0-603C9335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685AE-5B3D-E803-A6ED-F5EB2EA2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2C36A-7865-3C7B-900A-E6C33782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0F5AB-007F-7A06-2249-9DACF92F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31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C5D67-A492-7FD8-B3FC-3AC0BFE9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BDD1E-6194-6A3F-0B00-688DFA08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6174-68CF-59B9-EC6B-001249BD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20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D625-B5E8-3161-52BB-0C9FC49F7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B5E88-31C0-D280-9ACD-86D11B794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BC1D9-0BAC-8187-FC1F-C72924917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F29BA-BDE4-6CD5-EA0B-D7506B2EF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E92F6-CB57-203D-3D84-9DBA0830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4BA18-BF0E-D5E4-DBBC-B1FBE2002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55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E0234-4BC0-E3F2-095D-9CEF7784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4608F3-7BAC-2521-75FB-787E9F851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830F9-0E9E-0FF2-C67C-6D7FF0137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2F698-60BD-66B0-1FCB-16A4D4F7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783AB-98E5-FAE8-A75C-998DF79E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94EE4-3FDB-AD75-C3BC-484BBC7C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9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FA14-84A1-BF5F-B81A-88DE82AE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FCEF9-6ADC-44E9-8539-50A5E80CE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912A-5238-A539-449B-43D9DF67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28DC-549D-4103-A089-F110C8D4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B0B0-2D69-AB5D-0340-F6387CA36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70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6ECCD-4C2D-2E77-F207-B5AF1071C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3F817-9FE9-0229-D143-B0E50E5F8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71B7-2EF7-3642-FFF8-00A6FA2C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D4B8-D0AC-4527-6DA4-669FC3E4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C1BE4-E58A-D82B-096C-64207014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2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24C88-DEF9-0EB1-5B18-6BB3BBCB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A9714-980F-B0AB-DC23-5B3DDC943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F55B4-4B70-1B73-3E3D-ACE192F14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ED383-DEFA-46E4-9015-9A55333F7748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7345-58ED-3AB0-82DD-F97FB527A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4813E-AEE9-FB26-75BE-A80B18B0B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6D34-5B26-4957-9FB3-9A0AC69722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96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sharma.rahul@jaipur.manipal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EF5EA-F5CC-1F81-0327-4F5EF08AD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6800" y="2275114"/>
            <a:ext cx="7253514" cy="1584505"/>
          </a:xfrm>
        </p:spPr>
        <p:txBody>
          <a:bodyPr anchor="ctr"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SEMESTER I </a:t>
            </a:r>
            <a:br>
              <a:rPr lang="en-IN" sz="2800" dirty="0">
                <a:latin typeface="Arial Black" panose="020B0A04020102020204" pitchFamily="34" charset="0"/>
              </a:rPr>
            </a:br>
            <a:br>
              <a:rPr lang="en-IN" sz="2800" dirty="0">
                <a:latin typeface="Arial Black" panose="020B0A04020102020204" pitchFamily="34" charset="0"/>
              </a:rPr>
            </a:br>
            <a:r>
              <a:rPr lang="en-IN" sz="2800" dirty="0">
                <a:latin typeface="Arial Black" panose="020B0A04020102020204" pitchFamily="34" charset="0"/>
              </a:rPr>
              <a:t>AI6101:3  Probability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AC5EA-D758-8246-D723-A8EA42480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7748" y="4359349"/>
            <a:ext cx="5996763" cy="1860475"/>
          </a:xfrm>
        </p:spPr>
        <p:txBody>
          <a:bodyPr anchor="t">
            <a:normAutofit/>
          </a:bodyPr>
          <a:lstStyle/>
          <a:p>
            <a:endParaRPr lang="en-IN" sz="1300" b="1" dirty="0">
              <a:latin typeface="Arial Black" panose="020B0A04020102020204" pitchFamily="34" charset="0"/>
            </a:endParaRPr>
          </a:p>
          <a:p>
            <a:r>
              <a:rPr lang="en-IN" sz="1300" b="1" dirty="0">
                <a:latin typeface="Arial Black" panose="020B0A04020102020204" pitchFamily="34" charset="0"/>
              </a:rPr>
              <a:t>Dr. Rahul Sharma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Assistant Professor (Senior Scale)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Department of Artificial Intelligence and Machine Learning </a:t>
            </a:r>
          </a:p>
          <a:p>
            <a:r>
              <a:rPr lang="en-IN" sz="1300" dirty="0">
                <a:latin typeface="Arial Black" panose="020B0A04020102020204" pitchFamily="34" charset="0"/>
              </a:rPr>
              <a:t>Manipal University Jaipur</a:t>
            </a:r>
          </a:p>
          <a:p>
            <a:r>
              <a:rPr lang="en-IN" sz="1300" dirty="0">
                <a:solidFill>
                  <a:schemeClr val="tx2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hlinkClick r:id="rId2"/>
              </a:rPr>
              <a:t>Email: sharma.rahul@jaipur.manipal.edu</a:t>
            </a:r>
            <a:endParaRPr lang="en-IN" sz="1300" dirty="0">
              <a:solidFill>
                <a:schemeClr val="tx2">
                  <a:lumMod val="50000"/>
                  <a:lumOff val="50000"/>
                </a:schemeClr>
              </a:solidFill>
              <a:latin typeface="Arial Black" panose="020B0A04020102020204" pitchFamily="34" charset="0"/>
            </a:endParaRPr>
          </a:p>
          <a:p>
            <a:pPr algn="l"/>
            <a:endParaRPr lang="en-IN" sz="18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algn="l"/>
            <a:endParaRPr lang="en-IN" sz="1800" dirty="0"/>
          </a:p>
        </p:txBody>
      </p: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4F23B62B-8DE4-26CD-FB5B-737F7CA38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1" b="22209"/>
          <a:stretch>
            <a:fillRect/>
          </a:stretch>
        </p:blipFill>
        <p:spPr>
          <a:xfrm>
            <a:off x="1741715" y="8634"/>
            <a:ext cx="8534400" cy="226648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641448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9E00-38EE-C53B-AF04-548AB2C8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Spaces and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91A3D-FA4A-45C7-9799-FC3F514637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45502" cy="4351338"/>
              </a:xfrm>
            </p:spPr>
            <p:txBody>
              <a:bodyPr>
                <a:normAutofit fontScale="55000" lnSpcReduction="20000"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IN" sz="4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 (S)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all possible outcomes of a random experiment.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Tossing a coin →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ar-AE" sz="4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ar-AE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rolling a die → </a:t>
                </a:r>
                <a14:m>
                  <m:oMath xmlns:m="http://schemas.openxmlformats.org/officeDocument/2006/math">
                    <m:r>
                      <a:rPr lang="en-IN" sz="4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4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4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sz="42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lang="ar-AE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IN" sz="4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(E)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subset of the sample space that represents one or more outcomes.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sz="4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Simple event: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Consists of only one outcome (e.g., getting a 4 in dice).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sz="4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Compound event: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Consists of two or more outcomes (e.g., getting an even number).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IN" sz="4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Certain event:</a:t>
                </a:r>
                <a:r>
                  <a:rPr lang="en-IN" sz="4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whole sample space, probability = 1.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691A3D-FA4A-45C7-9799-FC3F514637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45502" cy="4351338"/>
              </a:xfrm>
              <a:blipFill>
                <a:blip r:embed="rId2"/>
                <a:stretch>
                  <a:fillRect l="-759" t="-1120" r="-8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18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EB151-4A8C-B305-AC37-B0EE80072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EBA7-5655-33C1-ABE6-3817C3EC7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Spaces and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E4350-AA28-09FD-2AD4-FA78D3D916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Impossible event:</a:t>
                </a: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empty set, probability = 0.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Mutually exclusive events:</a:t>
                </a: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Events that cannot happen together (e.g., odd and even number in one die roll).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Exhaustive events:</a:t>
                </a: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 of events covering the whole sample space.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an event </a:t>
                </a:r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5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5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ar-AE" sz="25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favorable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500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den>
                      </m:f>
                    </m:oMath>
                  </m:oMathPara>
                </a14:m>
                <a:endParaRPr lang="ar-AE" sz="25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</a:pP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Visualization is often done using </a:t>
                </a:r>
                <a:r>
                  <a:rPr lang="en-IN" sz="2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Venn diagrams</a:t>
                </a:r>
                <a:r>
                  <a:rPr lang="en-IN" sz="2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show relations between events.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EE4350-AA28-09FD-2AD4-FA78D3D916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0" t="-1120" r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79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4A58F-8139-E540-9472-B825926A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Interpretations and Axioms of Probability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E779F0-4120-4AFC-FC7A-FD923E4F30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Classical: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equally likely outcomes.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frequency: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Based on experiments.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Axiomatic (Kolmogorov):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Modern approach.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consistency of probability.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all advanced probability models.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in both theory &amp; real applications.</a:t>
            </a:r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91B9088E-DB5C-BFEF-AFA4-5D177A8CB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845663"/>
            <a:ext cx="5150277" cy="99142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99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8CA9-AD81-01A1-D2CF-A633532C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Rules of Probability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F0496-6B31-416F-8BBB-0DF4053C6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68247" cy="4362524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“either-or” type problems.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mutually exclusive events: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P(A∪B)=P(A)+P(B) 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general events: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P(A∪B)=P(A)+P(B)−P(A∩B).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 counting.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Venn diagrams show overlaps clearly.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Drawing red card or king.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useful in card/dice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747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A346-5107-AA64-D20A-5F0008AD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D0DF0-F0A0-5161-4FD6-4B319B640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A given B occurred.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P(A∣B)=P(A∩B)/P(B)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P(B)&gt;0.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dependent events.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Probability of red card if it’s a heart = 1.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using Venn diagrams.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explained with probability trees.</a:t>
            </a:r>
          </a:p>
          <a:p>
            <a:pPr lvl="0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Bayes’ theorem.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8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B6FB-D1A3-E5E1-9E11-74D4C43C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&amp; Total Probability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342D-230D-2B0B-05D0-B21F24C47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rule: P(A∩B)=P(A)P(B∣A). </a:t>
            </a:r>
          </a:p>
          <a:p>
            <a:pPr lvl="0"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independent events: P(A)P(B).</a:t>
            </a:r>
          </a:p>
          <a:p>
            <a:pPr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Probability Law:</a:t>
            </a:r>
          </a:p>
          <a:p>
            <a:pPr algn="just">
              <a:lnSpc>
                <a:spcPct val="100000"/>
              </a:lnSpc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partition of sample space.</a:t>
            </a:r>
          </a:p>
          <a:p>
            <a:pPr lvl="0"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multi-step experiments.</a:t>
            </a:r>
          </a:p>
          <a:p>
            <a:pPr lvl="0" algn="just">
              <a:lnSpc>
                <a:spcPct val="10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medical/engineering problems.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419B1B-125C-43F5-EC05-3937252A4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862" y="3429000"/>
            <a:ext cx="4499426" cy="67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0151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A28034-9D66-4FA0-6225-2741D6D1C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</a:t>
            </a:r>
          </a:p>
        </p:txBody>
      </p:sp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084" name="Rectangle 308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5" name="Rectangle 308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06B14-AB97-4C92-3CD3-25209F8E3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Reverses conditional probabilities.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Example: Medical testing problems.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Widely used in AI &amp; ML.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Also applied in spam filtering.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Very useful in diagnostics.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B952DC6-5662-1976-DE75-0A6BB43EB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369" y="4259365"/>
            <a:ext cx="6000232" cy="103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18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AEDE-6537-4012-6F57-40FA76BF4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075CB81-73C7-45C1-F8FE-2D184B3B457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1041990" y="1278117"/>
                <a:ext cx="10079665" cy="50013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Bayes’ Theorem is a fundamental rule in probability that describes how to update the probability of a hypothesis when new evidence is observed.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named after the statistician </a:t>
                </a:r>
                <a:r>
                  <a:rPr kumimoji="0" lang="en-US" altLang="en-US" sz="22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Thomas Bayes</a:t>
                </a: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formula is: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∣</m:t>
                        </m:r>
                        <m: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posterior probability (probability of event A given event B).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ar-AE" sz="22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sz="22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prior probability of A, before considering B.</a:t>
                </a:r>
              </a:p>
              <a:p>
                <a:pPr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I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P(B∣A) is the likelihood, the probability of observing B if A is true.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8075CB81-73C7-45C1-F8FE-2D184B3B45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041990" y="1278117"/>
                <a:ext cx="10079665" cy="5001369"/>
              </a:xfrm>
              <a:prstGeom prst="rect">
                <a:avLst/>
              </a:prstGeom>
              <a:blipFill>
                <a:blip r:embed="rId2"/>
                <a:stretch>
                  <a:fillRect l="-726" r="-7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5A6DE77-018F-F039-68C7-2DB6EEC84C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057" y="3345523"/>
            <a:ext cx="3406695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6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7E436-E1F4-8BD1-3847-9A160B56A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79DE-31B2-1BAD-739E-2CAD6050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815031-BAD3-0C90-4B9F-67112B346F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0053"/>
            <a:ext cx="10719390" cy="3586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P(B) is the marginal probability of B, acting as a normalizing factor.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revising beliefs based on new evidence.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 include medical diagnosis, spam filtering, and machine learning.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given a positive medical test result, Bayes’ Theorem helps estimate the probability of actually having the disease.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bridges prior knowledge with new information for better decision-making.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it provides a powerful framework for reasoning under uncertainty.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84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629E-E792-0B2D-087A-E25E06C3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770775-2460-D357-0858-D9B66C6B2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8828" y="1927396"/>
            <a:ext cx="996270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Assigns numbers to outcomes.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Discrete: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Countable values (e.g., dice).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Uncountable (e.g., height).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probability distributions.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between probability &amp; statistics.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Number of heads in 3 tosses.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Basis of all probability models.</a:t>
            </a:r>
          </a:p>
        </p:txBody>
      </p:sp>
    </p:spTree>
    <p:extLst>
      <p:ext uri="{BB962C8B-B14F-4D97-AF65-F5344CB8AC3E}">
        <p14:creationId xmlns:p14="http://schemas.microsoft.com/office/powerpoint/2010/main" val="1992514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F073-9786-0187-B35D-F016E3EF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Bernoulli Distribution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3AE627-2AD0-8E27-5419-C885AF034E0D}"/>
              </a:ext>
            </a:extLst>
          </p:cNvPr>
          <p:cNvSpPr txBox="1"/>
          <p:nvPr/>
        </p:nvSpPr>
        <p:spPr>
          <a:xfrm>
            <a:off x="1584250" y="1913860"/>
            <a:ext cx="8782493" cy="3456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Single trial with two outcomes.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Success (1) or failure (0).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PMF: </a:t>
            </a:r>
          </a:p>
          <a:p>
            <a:pPr lvl="0">
              <a:lnSpc>
                <a:spcPct val="115000"/>
              </a:lnSpc>
            </a:pPr>
            <a:endParaRPr lang="en-IN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Mean = p.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Variance = p(1-p).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Example: Coin toss.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Foundation for Binomial distribution.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D68219D-BD61-C01E-B424-9DD1C726D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1028" y="3254828"/>
            <a:ext cx="4514855" cy="501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2378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E3CE-DE5F-B303-CD01-0F1EACF3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Binomial Distribution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CB5E6-4575-3873-986F-FCA52E98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 of Bernoulli trials.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independent trials, success prob = p.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PMF: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np.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= np(1-p).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Number of heads in 10 tosses.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quality control &amp; testing.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97144-ADBB-B045-0C97-2267C10C8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25" y="3058885"/>
            <a:ext cx="4012019" cy="51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37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DA92-F6EE-8CDE-FFB6-C75C53A29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Poisson Distribution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EADD6-48B2-B444-7726-C3F4BB34D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rare events.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when n large, p small.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PMF: </a:t>
            </a:r>
          </a:p>
          <a:p>
            <a:pPr lvl="0"/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λ.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= λ.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Calls per hour at call centre.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traffic, queues, accidents.</a:t>
            </a:r>
          </a:p>
          <a:p>
            <a:pPr lvl="0"/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of Binomial.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7A5994-2235-7F47-FB03-72566281A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629" y="2862943"/>
            <a:ext cx="3276600" cy="743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53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7040-F56B-EDC3-DD55-B527BA5DF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Distribution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9795A9-109A-E2F5-2ED4-CB507798E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Continuous, bell-shaped curve.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= Median = Mode.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Symmetrical about mean.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68-95-99.7% rule applies.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Heights, IQ scores.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used in statistics.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Basis of hypothesis testing.</a:t>
            </a:r>
          </a:p>
          <a:p>
            <a:endParaRPr lang="en-IN" dirty="0"/>
          </a:p>
        </p:txBody>
      </p:sp>
      <p:pic>
        <p:nvPicPr>
          <p:cNvPr id="9" name="Picture 8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60BE4A01-EA18-9F21-FFE3-5067BFDE8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632" y="2417713"/>
            <a:ext cx="3325600" cy="74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0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</TotalTime>
  <Words>915</Words>
  <Application>Microsoft Office PowerPoint</Application>
  <PresentationFormat>Widescreen</PresentationFormat>
  <Paragraphs>125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Cambria Math</vt:lpstr>
      <vt:lpstr>Symbol</vt:lpstr>
      <vt:lpstr>Times New Roman</vt:lpstr>
      <vt:lpstr>Office Theme</vt:lpstr>
      <vt:lpstr>SEMESTER I   AI6101:3  Probability Distribution</vt:lpstr>
      <vt:lpstr>Sample Spaces and Events</vt:lpstr>
      <vt:lpstr>Sample Spaces and Events</vt:lpstr>
      <vt:lpstr>Interpretations and Axioms of Probability</vt:lpstr>
      <vt:lpstr>Addition Rules of Probability</vt:lpstr>
      <vt:lpstr>Conditional Probability</vt:lpstr>
      <vt:lpstr>Multiplication &amp; Total Probability Rules</vt:lpstr>
      <vt:lpstr>Bayes’ Theorem</vt:lpstr>
      <vt:lpstr>Bayes’ Theorem</vt:lpstr>
      <vt:lpstr>Bayes’ Theorem</vt:lpstr>
      <vt:lpstr>Random Variables</vt:lpstr>
      <vt:lpstr>Bernoulli Distribution</vt:lpstr>
      <vt:lpstr>Binomial Distribution </vt:lpstr>
      <vt:lpstr>Poisson Distribution</vt:lpstr>
      <vt:lpstr>Normal Distribution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Rahul Sharma [MU - Jaipur]</dc:creator>
  <cp:lastModifiedBy>Dr. Rahul Sharma [MU - Jaipur]</cp:lastModifiedBy>
  <cp:revision>80</cp:revision>
  <dcterms:created xsi:type="dcterms:W3CDTF">2025-07-10T10:32:12Z</dcterms:created>
  <dcterms:modified xsi:type="dcterms:W3CDTF">2025-09-11T04:08:06Z</dcterms:modified>
</cp:coreProperties>
</file>