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62" r:id="rId2"/>
    <p:sldId id="267" r:id="rId3"/>
    <p:sldId id="268" r:id="rId4"/>
    <p:sldId id="269" r:id="rId5"/>
    <p:sldId id="271" r:id="rId6"/>
    <p:sldId id="272" r:id="rId7"/>
    <p:sldId id="274" r:id="rId8"/>
    <p:sldId id="276" r:id="rId9"/>
    <p:sldId id="277" r:id="rId10"/>
    <p:sldId id="318" r:id="rId11"/>
    <p:sldId id="278" r:id="rId12"/>
    <p:sldId id="279" r:id="rId13"/>
    <p:sldId id="280" r:id="rId14"/>
    <p:sldId id="281" r:id="rId15"/>
    <p:sldId id="283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300" r:id="rId28"/>
    <p:sldId id="301" r:id="rId29"/>
    <p:sldId id="302" r:id="rId30"/>
    <p:sldId id="303" r:id="rId31"/>
    <p:sldId id="307" r:id="rId32"/>
    <p:sldId id="308" r:id="rId33"/>
    <p:sldId id="309" r:id="rId34"/>
    <p:sldId id="310" r:id="rId35"/>
    <p:sldId id="316" r:id="rId36"/>
    <p:sldId id="273" r:id="rId37"/>
    <p:sldId id="31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228" autoAdjust="0"/>
  </p:normalViewPr>
  <p:slideViewPr>
    <p:cSldViewPr snapToGrid="0">
      <p:cViewPr varScale="1">
        <p:scale>
          <a:sx n="88" d="100"/>
          <a:sy n="88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1877A-0E25-4378-9075-7FE0CF7CADF7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873B5-6480-4372-8A64-9B538D55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33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Notes Placeholder">
            <a:extLst>
              <a:ext uri="{FF2B5EF4-FFF2-40B4-BE49-F238E27FC236}">
                <a16:creationId xmlns:a16="http://schemas.microsoft.com/office/drawing/2014/main" id="{5570A599-5853-6168-41B5-E6A60398C1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way to find or store data using a hash function and a hash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873B5-6480-4372-8A64-9B538D55CE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57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873B5-6480-4372-8A64-9B538D55CE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14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8DD14-7AC4-4953-38B0-751E19C1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95E8D5-A7CE-41A3-AF39-7DAB3AEF5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A9A92B-7018-F8C7-247D-A6BF09667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Load Factor (α)</a:t>
            </a:r>
            <a:r>
              <a:rPr lang="en-US" dirty="0"/>
              <a:t> tells us </a:t>
            </a:r>
            <a:r>
              <a:rPr lang="en-US" b="1" dirty="0"/>
              <a:t>how full the hash table is</a:t>
            </a:r>
            <a:r>
              <a:rPr lang="en-US" dirty="0"/>
              <a:t>. A </a:t>
            </a:r>
            <a:r>
              <a:rPr lang="en-US" b="1" dirty="0"/>
              <a:t>high load factor</a:t>
            </a:r>
            <a:r>
              <a:rPr lang="en-US" dirty="0"/>
              <a:t> means the table is crowded → more collisions.</a:t>
            </a:r>
            <a:br>
              <a:rPr lang="en-US" dirty="0"/>
            </a:br>
            <a:r>
              <a:rPr lang="en-US" dirty="0"/>
              <a:t>👉 A </a:t>
            </a:r>
            <a:r>
              <a:rPr lang="en-US" b="1" dirty="0"/>
              <a:t>low load factor</a:t>
            </a:r>
            <a:r>
              <a:rPr lang="en-US" dirty="0"/>
              <a:t> means the table has free space → fewer collisions.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90088-94B4-1A33-08B6-C1AFC2BCDE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873B5-6480-4372-8A64-9B538D55CE1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87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Load Factor (α)</a:t>
            </a:r>
            <a:r>
              <a:rPr lang="en-US" dirty="0"/>
              <a:t> tells us </a:t>
            </a:r>
            <a:r>
              <a:rPr lang="en-US" b="1" dirty="0"/>
              <a:t>how full the hash table is</a:t>
            </a:r>
            <a:r>
              <a:rPr lang="en-US" dirty="0"/>
              <a:t>. A </a:t>
            </a:r>
            <a:r>
              <a:rPr lang="en-US" b="1" dirty="0"/>
              <a:t>high load factor</a:t>
            </a:r>
            <a:r>
              <a:rPr lang="en-US" dirty="0"/>
              <a:t> means the table is crowded → more collisions.</a:t>
            </a:r>
            <a:br>
              <a:rPr lang="en-US" dirty="0"/>
            </a:br>
            <a:r>
              <a:rPr lang="en-US" dirty="0"/>
              <a:t>👉 A </a:t>
            </a:r>
            <a:r>
              <a:rPr lang="en-US" b="1" dirty="0"/>
              <a:t>low load factor</a:t>
            </a:r>
            <a:r>
              <a:rPr lang="en-US" dirty="0"/>
              <a:t> means the table has free space → fewer collisions.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873B5-6480-4372-8A64-9B538D55CE1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222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BF60-2664-A853-1918-93624EFC6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FB17A-CF88-91E9-D74C-2004B9234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957B7-36A5-1AFB-2255-0CD293F55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F4FDB-C75D-4162-880B-692F70506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22155-13FE-5538-4668-25F55043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Manish Rai</a:t>
            </a:r>
            <a:endParaRPr lang="en-US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047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2E6A-97C5-A929-EA13-16C1C1FD8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F7282-06D4-5210-8EC9-F4046F193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CF5F6-2F33-AA9D-2BA1-3E8590DD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DEEBC-03F2-6104-C78A-C3D252F5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AD136-E294-DEFA-53FC-0E66E52EA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114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7AB29-4AA7-02DF-4511-526B1A5C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4DDF7-DAEC-B00D-2B8A-161A81C49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795CC-6EF1-64F4-3B18-FE726E8AF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D8EB3-201A-FC4A-EB8B-12C3B1E72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E06B7-266D-0538-6B8E-9094A46A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4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25E24-E89A-8A91-0F85-195933AA9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BC899-D18C-F7B3-CEA1-BA3056DFA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A07F9-D8F4-CA2E-34A7-B093B25A2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284B5-007C-7EA7-91B6-F1CDED7FC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01176-0B49-1466-5BEF-9EEDF46A0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7F5E8-A407-C3E1-AF95-21F45781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78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582F-E1E4-F468-1CA1-D405EC677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4AEB8-8C1A-088A-912E-37FC2429A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F2C3CE-760C-64D8-91A8-3197F777A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28A80-EC3E-9C0A-BBA3-7B26E7D9F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7B6A4-C263-61E3-4766-0489FB424E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6045D-1A32-501E-6B90-9996242E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9F538A-9C03-40AF-A153-E2382AC9B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396C44-B0F5-E784-DBBC-A59B2CECF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1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486B6-9E96-B1A7-3876-C8342BAAA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84BCB5-EA0F-DDF4-0492-C63E7D4C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12218-D406-01F8-3E7B-55F69401E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B86B5-7FBD-4B13-56F1-8BB350FFD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45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2AD85B-B4E3-140C-A151-5421F09F1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FEF3F4-9D8D-492F-5E98-4E6EBC83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99E12-A7F8-5FB7-EDFD-15BC040B8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69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38310-D216-9346-C474-19865A8BF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572BF-8136-6469-43A1-82D1F62F8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41BEA-3528-3882-62AA-5112AB8B4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EB861-19C8-8A90-2010-EB268108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0F94C-B929-20E4-2DF6-97A48EB90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78368-BE00-3B9C-651C-B8CD34575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3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322E9-3A2E-86D1-301B-52CD08B80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64B1B6-60F7-6253-F0EB-4F10AECD93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5DF5EA-F574-CE01-15A7-A977D85D0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4FA1C8-85C0-57DF-D19A-20D73FE6D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770DE-4DE2-29AD-38D9-330E8EF9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B196F-5260-F3F7-F62C-2328FA2A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21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0742-E02C-4942-07D1-E4A853FD7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54D79-2258-8A75-5869-CA7B950D1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07221-2671-EF54-E0A4-7533EAE25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2E855-0843-95A5-7713-FCF1D041C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B33B5-0FB0-0EC0-FCDD-AD7B1A889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1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95EF92-E8E3-76D4-DA87-D9B8865731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772480-D977-CCF1-6608-698969177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4678A-AB1F-ED29-1092-34D09176A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A2EE0-6884-B7BC-AA84-3882F7A0D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3A183-828A-00BE-1970-EE3E25EC5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175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7500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15A22-B2C1-10DD-144B-0ECCE77FB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D9050-444B-1291-5850-8FF5E7A11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2962E-1318-496B-B518-26EEB0DDD307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1C2C8-C2B4-3B6A-B366-78EBDB0240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89B81-E559-C8F0-4E04-F3E8592E3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EDBED1A-7CB2-A6AB-8683-0CB9D3C4A43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80181" y="19050"/>
            <a:ext cx="12192000" cy="681038"/>
          </a:xfrm>
          <a:prstGeom prst="rect">
            <a:avLst/>
          </a:prstGeom>
        </p:spPr>
      </p:pic>
      <p:sp>
        <p:nvSpPr>
          <p:cNvPr id="21" name="object 4">
            <a:extLst>
              <a:ext uri="{FF2B5EF4-FFF2-40B4-BE49-F238E27FC236}">
                <a16:creationId xmlns:a16="http://schemas.microsoft.com/office/drawing/2014/main" id="{CB63A39C-B200-D43F-1B05-45410FE5A6EA}"/>
              </a:ext>
            </a:extLst>
          </p:cNvPr>
          <p:cNvSpPr txBox="1"/>
          <p:nvPr userDrawn="1"/>
        </p:nvSpPr>
        <p:spPr>
          <a:xfrm>
            <a:off x="180181" y="136526"/>
            <a:ext cx="29630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spc="-10" dirty="0">
                <a:solidFill>
                  <a:srgbClr val="FFFFFF"/>
                </a:solidFill>
                <a:cs typeface="Source Sans Pro Light"/>
              </a:rPr>
              <a:t>Duration: </a:t>
            </a:r>
            <a:r>
              <a:rPr lang="en-IN" sz="2800" spc="-10" dirty="0">
                <a:solidFill>
                  <a:srgbClr val="FFFFFF"/>
                </a:solidFill>
                <a:cs typeface="Source Sans Pro Light"/>
              </a:rPr>
              <a:t>60</a:t>
            </a:r>
            <a:r>
              <a:rPr lang="en-IN" sz="2800" spc="-50" dirty="0">
                <a:solidFill>
                  <a:srgbClr val="FFFFFF"/>
                </a:solidFill>
                <a:cs typeface="Source Sans Pro Light"/>
              </a:rPr>
              <a:t> </a:t>
            </a:r>
            <a:r>
              <a:rPr sz="2800" dirty="0">
                <a:solidFill>
                  <a:srgbClr val="FFFFFF"/>
                </a:solidFill>
                <a:cs typeface="Source Sans Pro Light"/>
              </a:rPr>
              <a:t>min</a:t>
            </a:r>
            <a:endParaRPr sz="2800" dirty="0">
              <a:cs typeface="Source Sans Pro Light"/>
            </a:endParaRPr>
          </a:p>
        </p:txBody>
      </p:sp>
      <p:sp>
        <p:nvSpPr>
          <p:cNvPr id="23" name="object 4">
            <a:extLst>
              <a:ext uri="{FF2B5EF4-FFF2-40B4-BE49-F238E27FC236}">
                <a16:creationId xmlns:a16="http://schemas.microsoft.com/office/drawing/2014/main" id="{00963D2D-FD15-D94C-85DE-7805D81DFC08}"/>
              </a:ext>
            </a:extLst>
          </p:cNvPr>
          <p:cNvSpPr txBox="1"/>
          <p:nvPr userDrawn="1"/>
        </p:nvSpPr>
        <p:spPr>
          <a:xfrm>
            <a:off x="3313112" y="124215"/>
            <a:ext cx="29630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spc="-10" dirty="0">
                <a:solidFill>
                  <a:srgbClr val="FFFFFF"/>
                </a:solidFill>
                <a:cs typeface="Source Sans Pro Light"/>
              </a:rPr>
              <a:t>        AIML</a:t>
            </a:r>
            <a:endParaRPr sz="2800" dirty="0">
              <a:cs typeface="Source Sans Pro Light"/>
            </a:endParaRPr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4881D0D0-F7BA-FBCE-2177-785333F649C2}"/>
              </a:ext>
            </a:extLst>
          </p:cNvPr>
          <p:cNvSpPr txBox="1"/>
          <p:nvPr userDrawn="1"/>
        </p:nvSpPr>
        <p:spPr>
          <a:xfrm>
            <a:off x="6361111" y="100603"/>
            <a:ext cx="29630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spc="-10" dirty="0">
                <a:solidFill>
                  <a:srgbClr val="FFFFFF"/>
                </a:solidFill>
                <a:cs typeface="Source Sans Pro Light"/>
              </a:rPr>
              <a:t>      Credit 4</a:t>
            </a:r>
            <a:endParaRPr sz="2800" dirty="0">
              <a:cs typeface="Source Sans Pro Light"/>
            </a:endParaRPr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A0A46FEF-95B5-6C6E-C9DD-E231F6775D13}"/>
              </a:ext>
            </a:extLst>
          </p:cNvPr>
          <p:cNvSpPr txBox="1"/>
          <p:nvPr userDrawn="1"/>
        </p:nvSpPr>
        <p:spPr>
          <a:xfrm>
            <a:off x="9409110" y="112409"/>
            <a:ext cx="29630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spc="-10" dirty="0">
                <a:solidFill>
                  <a:srgbClr val="FFFFFF"/>
                </a:solidFill>
                <a:cs typeface="Source Sans Pro Light"/>
              </a:rPr>
              <a:t>   DSA  |</a:t>
            </a:r>
            <a:r>
              <a:rPr sz="2800" spc="-10" dirty="0">
                <a:solidFill>
                  <a:srgbClr val="FFFFFF"/>
                </a:solidFill>
                <a:cs typeface="Source Sans Pro Light"/>
              </a:rPr>
              <a:t> </a:t>
            </a:r>
            <a:r>
              <a:rPr lang="en-US" sz="2800" spc="-10" dirty="0">
                <a:solidFill>
                  <a:srgbClr val="FFFFFF"/>
                </a:solidFill>
                <a:cs typeface="Source Sans Pro Light"/>
              </a:rPr>
              <a:t>AI2104</a:t>
            </a:r>
            <a:endParaRPr sz="2800" dirty="0"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96140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F21BC95-D268-2E78-6BAA-5452108CD099}"/>
              </a:ext>
            </a:extLst>
          </p:cNvPr>
          <p:cNvSpPr txBox="1"/>
          <p:nvPr/>
        </p:nvSpPr>
        <p:spPr>
          <a:xfrm>
            <a:off x="962828" y="1401380"/>
            <a:ext cx="9144000" cy="13162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6933">
              <a:lnSpc>
                <a:spcPts val="12706"/>
              </a:lnSpc>
              <a:defRPr/>
            </a:pPr>
            <a:r>
              <a:rPr lang="en-US" sz="3600" b="1" spc="-7" dirty="0">
                <a:latin typeface="Tahoma"/>
                <a:cs typeface="Tahoma"/>
              </a:rPr>
              <a:t>HASHING</a:t>
            </a:r>
            <a:endParaRPr sz="3600" b="1" dirty="0">
              <a:latin typeface="Tahoma"/>
              <a:cs typeface="Tahoma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A7E9E-9724-7ACD-0615-6ADACF0D13F8}"/>
              </a:ext>
            </a:extLst>
          </p:cNvPr>
          <p:cNvSpPr txBox="1">
            <a:spLocks/>
          </p:cNvSpPr>
          <p:nvPr/>
        </p:nvSpPr>
        <p:spPr>
          <a:xfrm>
            <a:off x="5794156" y="3924280"/>
            <a:ext cx="9144000" cy="21238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Presented By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n-US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Manish Rai</a:t>
            </a:r>
            <a:endParaRPr lang="en-US" kern="1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n-US" i="1">
                <a:solidFill>
                  <a:srgbClr val="2F5496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Assistant Professor, AIML-CSE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n-US" i="1">
                <a:solidFill>
                  <a:srgbClr val="2F5496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Manipal university jaipur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endParaRPr lang="en-US" kern="1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65138"/>
            <a:ext cx="10515600" cy="1034257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998219">
              <a:lnSpc>
                <a:spcPct val="100000"/>
              </a:lnSpc>
              <a:spcBef>
                <a:spcPts val="865"/>
              </a:spcBef>
            </a:pPr>
            <a:r>
              <a:rPr sz="6000" spc="25" dirty="0"/>
              <a:t>H</a:t>
            </a:r>
            <a:r>
              <a:rPr sz="6000" spc="-5" dirty="0"/>
              <a:t>A</a:t>
            </a:r>
            <a:r>
              <a:rPr sz="6000" spc="-25" dirty="0"/>
              <a:t>S</a:t>
            </a:r>
            <a:r>
              <a:rPr sz="6000" spc="-40" dirty="0"/>
              <a:t>HI</a:t>
            </a:r>
            <a:r>
              <a:rPr sz="6000" spc="-80" dirty="0"/>
              <a:t>N</a:t>
            </a:r>
            <a:r>
              <a:rPr sz="6000" dirty="0"/>
              <a:t>G</a:t>
            </a:r>
            <a:endParaRPr sz="6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1825544"/>
            <a:ext cx="10515600" cy="2602379"/>
          </a:xfrm>
          <a:prstGeom prst="rect">
            <a:avLst/>
          </a:prstGeom>
          <a:ln w="76199">
            <a:solidFill>
              <a:srgbClr val="FF0000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1210"/>
              </a:spcBef>
            </a:pPr>
            <a:r>
              <a:rPr sz="2400" b="1" dirty="0">
                <a:solidFill>
                  <a:srgbClr val="FF0065"/>
                </a:solidFill>
                <a:latin typeface="Calibri"/>
                <a:cs typeface="Calibri"/>
              </a:rPr>
              <a:t>Hashing</a:t>
            </a:r>
            <a:r>
              <a:rPr sz="2400" b="1" spc="-30" dirty="0">
                <a:solidFill>
                  <a:srgbClr val="FF0065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65"/>
                </a:solidFill>
                <a:latin typeface="Calibri"/>
                <a:cs typeface="Calibri"/>
              </a:rPr>
              <a:t>takes</a:t>
            </a:r>
            <a:r>
              <a:rPr sz="2400" b="1" spc="65" dirty="0">
                <a:solidFill>
                  <a:srgbClr val="FF0065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65"/>
                </a:solidFill>
                <a:latin typeface="Calibri"/>
                <a:cs typeface="Calibri"/>
              </a:rPr>
              <a:t>O(1)</a:t>
            </a:r>
            <a:r>
              <a:rPr sz="2400" b="1" spc="-35" dirty="0">
                <a:solidFill>
                  <a:srgbClr val="FF0065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time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 </a:t>
            </a:r>
            <a:r>
              <a:rPr sz="2400" spc="-35" dirty="0">
                <a:latin typeface="Calibri"/>
                <a:cs typeface="Calibri"/>
              </a:rPr>
              <a:t>average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insert 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search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and</a:t>
            </a:r>
            <a:r>
              <a:rPr sz="2400" dirty="0">
                <a:latin typeface="Calibri"/>
                <a:cs typeface="Calibri"/>
              </a:rPr>
              <a:t> delete.</a:t>
            </a:r>
            <a:endParaRPr lang="en-US" sz="2400" dirty="0">
              <a:latin typeface="Calibri"/>
              <a:cs typeface="Calibri"/>
            </a:endParaRPr>
          </a:p>
          <a:p>
            <a:pPr marL="10160" algn="ctr">
              <a:lnSpc>
                <a:spcPct val="100000"/>
              </a:lnSpc>
              <a:spcBef>
                <a:spcPts val="1210"/>
              </a:spcBef>
            </a:pPr>
            <a:r>
              <a:rPr lang="en-US" sz="2400" dirty="0"/>
              <a:t>  The process of mapping large amounts of data into a smaller table using hash function, hash value and hash table is called hashing</a:t>
            </a:r>
            <a:endParaRPr sz="2400" dirty="0">
              <a:latin typeface="Calibri"/>
              <a:cs typeface="Calibri"/>
            </a:endParaRPr>
          </a:p>
          <a:p>
            <a:pPr marL="168910" marR="147955" algn="ctr">
              <a:lnSpc>
                <a:spcPct val="148600"/>
              </a:lnSpc>
              <a:spcBef>
                <a:spcPts val="1050"/>
              </a:spcBef>
            </a:pPr>
            <a:r>
              <a:rPr sz="2400" b="1" spc="5" dirty="0">
                <a:latin typeface="Calibri"/>
                <a:cs typeface="Calibri"/>
              </a:rPr>
              <a:t>Hash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Function</a:t>
            </a:r>
            <a:r>
              <a:rPr sz="2400" b="1" spc="4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maps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 </a:t>
            </a:r>
            <a:r>
              <a:rPr sz="2400" b="1" spc="-5" dirty="0">
                <a:latin typeface="Calibri"/>
                <a:cs typeface="Calibri"/>
              </a:rPr>
              <a:t>big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number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or</a:t>
            </a:r>
            <a:r>
              <a:rPr sz="2400" b="1" spc="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string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5" dirty="0">
                <a:latin typeface="Calibri"/>
                <a:cs typeface="Calibri"/>
              </a:rPr>
              <a:t> small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integer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that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can</a:t>
            </a:r>
            <a:r>
              <a:rPr sz="2400" b="1" spc="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used</a:t>
            </a:r>
            <a:r>
              <a:rPr sz="2400" b="1" spc="4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as </a:t>
            </a:r>
            <a:r>
              <a:rPr sz="2400" b="1" spc="-53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an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index </a:t>
            </a:r>
            <a:r>
              <a:rPr sz="2400" b="1" spc="5" dirty="0">
                <a:latin typeface="Calibri"/>
                <a:cs typeface="Calibri"/>
              </a:rPr>
              <a:t>in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hash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table.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150620">
              <a:lnSpc>
                <a:spcPct val="100000"/>
              </a:lnSpc>
              <a:spcBef>
                <a:spcPts val="1340"/>
              </a:spcBef>
            </a:pPr>
            <a:r>
              <a:rPr sz="5400" spc="55" dirty="0"/>
              <a:t>E</a:t>
            </a:r>
            <a:r>
              <a:rPr sz="5400" spc="60" dirty="0"/>
              <a:t>X</a:t>
            </a:r>
            <a:r>
              <a:rPr sz="5400" spc="-50" dirty="0"/>
              <a:t>A</a:t>
            </a:r>
            <a:r>
              <a:rPr sz="5400" spc="-135" dirty="0"/>
              <a:t>M</a:t>
            </a:r>
            <a:r>
              <a:rPr sz="5400" spc="-45" dirty="0"/>
              <a:t>P</a:t>
            </a:r>
            <a:r>
              <a:rPr sz="5400" dirty="0"/>
              <a:t>LE</a:t>
            </a:r>
            <a:r>
              <a:rPr sz="5400" spc="-475" dirty="0">
                <a:latin typeface="Times New Roman"/>
                <a:cs typeface="Times New Roman"/>
              </a:rPr>
              <a:t> </a:t>
            </a:r>
            <a:r>
              <a:rPr sz="5400" spc="-5" dirty="0"/>
              <a:t>O</a:t>
            </a:r>
            <a:r>
              <a:rPr sz="5400" dirty="0"/>
              <a:t>F</a:t>
            </a:r>
            <a:r>
              <a:rPr sz="5400" spc="-250" dirty="0">
                <a:latin typeface="Times New Roman"/>
                <a:cs typeface="Times New Roman"/>
              </a:rPr>
              <a:t> </a:t>
            </a:r>
            <a:r>
              <a:rPr sz="5400" spc="25" dirty="0"/>
              <a:t>H</a:t>
            </a:r>
            <a:r>
              <a:rPr sz="5400" spc="20" dirty="0"/>
              <a:t>A</a:t>
            </a:r>
            <a:r>
              <a:rPr sz="5400" spc="-50" dirty="0"/>
              <a:t>S</a:t>
            </a:r>
            <a:r>
              <a:rPr sz="5400" dirty="0"/>
              <a:t>H</a:t>
            </a:r>
            <a:r>
              <a:rPr sz="5400" spc="-420" dirty="0">
                <a:latin typeface="Times New Roman"/>
                <a:cs typeface="Times New Roman"/>
              </a:rPr>
              <a:t> </a:t>
            </a:r>
            <a:r>
              <a:rPr sz="5400" spc="55" dirty="0"/>
              <a:t>F</a:t>
            </a:r>
            <a:r>
              <a:rPr sz="5400" dirty="0"/>
              <a:t>UN</a:t>
            </a:r>
            <a:r>
              <a:rPr sz="5400" spc="-35" dirty="0"/>
              <a:t>C</a:t>
            </a:r>
            <a:r>
              <a:rPr sz="5400" spc="-65" dirty="0"/>
              <a:t>T</a:t>
            </a:r>
            <a:r>
              <a:rPr sz="5400" spc="25" dirty="0"/>
              <a:t>I</a:t>
            </a:r>
            <a:r>
              <a:rPr sz="5400" spc="-90" dirty="0"/>
              <a:t>O</a:t>
            </a:r>
            <a:r>
              <a:rPr sz="5400" dirty="0"/>
              <a:t>N</a:t>
            </a:r>
            <a:endParaRPr sz="5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1825544"/>
            <a:ext cx="10515600" cy="3064237"/>
          </a:xfrm>
          <a:prstGeom prst="rect">
            <a:avLst/>
          </a:prstGeom>
          <a:ln w="76199">
            <a:solidFill>
              <a:srgbClr val="FF0000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210"/>
              </a:spcBef>
            </a:pPr>
            <a:r>
              <a:rPr sz="2400" spc="5" dirty="0">
                <a:latin typeface="Calibri"/>
                <a:cs typeface="Calibri"/>
              </a:rPr>
              <a:t>H(x)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mod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 </a:t>
            </a:r>
            <a:r>
              <a:rPr sz="2400" spc="-25" dirty="0">
                <a:latin typeface="Calibri"/>
                <a:cs typeface="Calibri"/>
              </a:rPr>
              <a:t>number.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9864567654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h(x)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9864567654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mod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9854354543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h(x)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9854354543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mod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</a:p>
          <a:p>
            <a:pPr marL="91440" marR="1494790">
              <a:lnSpc>
                <a:spcPct val="151200"/>
              </a:lnSpc>
              <a:spcBef>
                <a:spcPts val="980"/>
              </a:spcBef>
            </a:pPr>
            <a:r>
              <a:rPr sz="2400" dirty="0">
                <a:latin typeface="Calibri"/>
                <a:cs typeface="Calibri"/>
              </a:rPr>
              <a:t>Hash </a:t>
            </a:r>
            <a:r>
              <a:rPr sz="2400" spc="5" dirty="0">
                <a:latin typeface="Calibri"/>
                <a:cs typeface="Calibri"/>
              </a:rPr>
              <a:t>Function</a:t>
            </a:r>
            <a:r>
              <a:rPr sz="2400" spc="-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mapping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15" dirty="0">
                <a:latin typeface="Calibri"/>
                <a:cs typeface="Calibri"/>
              </a:rPr>
              <a:t>such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big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number(9864567654)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single </a:t>
            </a:r>
            <a:r>
              <a:rPr sz="2400" spc="-10" dirty="0">
                <a:latin typeface="Calibri"/>
                <a:cs typeface="Calibri"/>
              </a:rPr>
              <a:t>digit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number(4).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636270">
              <a:lnSpc>
                <a:spcPct val="100000"/>
              </a:lnSpc>
              <a:spcBef>
                <a:spcPts val="1340"/>
              </a:spcBef>
            </a:pPr>
            <a:r>
              <a:rPr sz="5400" spc="-40" dirty="0"/>
              <a:t>Properties</a:t>
            </a:r>
            <a:r>
              <a:rPr sz="5400" spc="-240" dirty="0"/>
              <a:t> </a:t>
            </a:r>
            <a:r>
              <a:rPr sz="5400" dirty="0"/>
              <a:t>Of</a:t>
            </a:r>
            <a:r>
              <a:rPr sz="5400" spc="-155" dirty="0"/>
              <a:t> </a:t>
            </a:r>
            <a:r>
              <a:rPr sz="5400" spc="10" dirty="0"/>
              <a:t>Good</a:t>
            </a:r>
            <a:r>
              <a:rPr sz="5400" spc="-285" dirty="0"/>
              <a:t> </a:t>
            </a:r>
            <a:r>
              <a:rPr sz="5400" spc="10" dirty="0"/>
              <a:t>Hash</a:t>
            </a:r>
            <a:r>
              <a:rPr sz="5400" spc="-275" dirty="0"/>
              <a:t> </a:t>
            </a:r>
            <a:r>
              <a:rPr sz="5400" spc="-15" dirty="0"/>
              <a:t>Function</a:t>
            </a: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838200" y="1825544"/>
            <a:ext cx="10515600" cy="3431709"/>
          </a:xfrm>
          <a:prstGeom prst="rect">
            <a:avLst/>
          </a:prstGeom>
          <a:ln w="7619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 dirty="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lang="en-US" sz="3200" dirty="0"/>
              <a:t>A good hash function should satisfy two criteria: </a:t>
            </a:r>
          </a:p>
          <a:p>
            <a:pPr marL="60579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200" dirty="0"/>
              <a:t>A hash function should generate the hash addresses such that all the keys are distributed as evenly as possible among the various cells of the hash table.</a:t>
            </a:r>
          </a:p>
          <a:p>
            <a:pPr marL="60579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200" dirty="0"/>
              <a:t> Computation of a key by hash function should be simple.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102995">
              <a:lnSpc>
                <a:spcPct val="100000"/>
              </a:lnSpc>
              <a:spcBef>
                <a:spcPts val="1340"/>
              </a:spcBef>
            </a:pPr>
            <a:r>
              <a:rPr sz="5400" spc="25" dirty="0"/>
              <a:t>Co</a:t>
            </a:r>
            <a:r>
              <a:rPr sz="5400" dirty="0"/>
              <a:t>ll</a:t>
            </a:r>
            <a:r>
              <a:rPr sz="5400" spc="15" dirty="0"/>
              <a:t>i</a:t>
            </a:r>
            <a:r>
              <a:rPr sz="5400" spc="-65" dirty="0"/>
              <a:t>s</a:t>
            </a:r>
            <a:r>
              <a:rPr sz="5400" dirty="0"/>
              <a:t>i</a:t>
            </a:r>
            <a:r>
              <a:rPr sz="5400" spc="-114" dirty="0"/>
              <a:t>o</a:t>
            </a:r>
            <a:r>
              <a:rPr sz="5400" dirty="0"/>
              <a:t>n</a:t>
            </a:r>
            <a:r>
              <a:rPr sz="5400" spc="-405" dirty="0">
                <a:latin typeface="Times New Roman"/>
                <a:cs typeface="Times New Roman"/>
              </a:rPr>
              <a:t> </a:t>
            </a:r>
            <a:r>
              <a:rPr sz="5400" spc="15" dirty="0"/>
              <a:t>D</a:t>
            </a:r>
            <a:r>
              <a:rPr sz="5400" spc="40" dirty="0"/>
              <a:t>u</a:t>
            </a:r>
            <a:r>
              <a:rPr sz="5400" dirty="0"/>
              <a:t>e</a:t>
            </a:r>
            <a:r>
              <a:rPr sz="5400" spc="-420" dirty="0">
                <a:latin typeface="Times New Roman"/>
                <a:cs typeface="Times New Roman"/>
              </a:rPr>
              <a:t> </a:t>
            </a:r>
            <a:r>
              <a:rPr sz="5400" spc="-515" dirty="0"/>
              <a:t>T</a:t>
            </a:r>
            <a:r>
              <a:rPr sz="5400" dirty="0"/>
              <a:t>o</a:t>
            </a:r>
            <a:r>
              <a:rPr sz="5400" spc="-195" dirty="0">
                <a:latin typeface="Times New Roman"/>
                <a:cs typeface="Times New Roman"/>
              </a:rPr>
              <a:t> </a:t>
            </a:r>
            <a:r>
              <a:rPr sz="5400" spc="25" dirty="0"/>
              <a:t>H</a:t>
            </a:r>
            <a:r>
              <a:rPr sz="5400" dirty="0"/>
              <a:t>ash</a:t>
            </a:r>
            <a:r>
              <a:rPr sz="5400" spc="-395" dirty="0">
                <a:latin typeface="Times New Roman"/>
                <a:cs typeface="Times New Roman"/>
              </a:rPr>
              <a:t> </a:t>
            </a:r>
            <a:r>
              <a:rPr sz="5400" spc="55" dirty="0"/>
              <a:t>F</a:t>
            </a:r>
            <a:r>
              <a:rPr sz="5400" spc="40" dirty="0"/>
              <a:t>u</a:t>
            </a:r>
            <a:r>
              <a:rPr sz="5400" spc="-30" dirty="0"/>
              <a:t>n</a:t>
            </a:r>
            <a:r>
              <a:rPr sz="5400" spc="-45" dirty="0"/>
              <a:t>c</a:t>
            </a:r>
            <a:r>
              <a:rPr sz="5400" spc="-55" dirty="0"/>
              <a:t>t</a:t>
            </a:r>
            <a:r>
              <a:rPr sz="5400" dirty="0"/>
              <a:t>i</a:t>
            </a:r>
            <a:r>
              <a:rPr sz="5400" spc="-114" dirty="0"/>
              <a:t>o</a:t>
            </a:r>
            <a:r>
              <a:rPr sz="5400" dirty="0"/>
              <a:t>n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8200" y="1825544"/>
            <a:ext cx="10515600" cy="4351655"/>
          </a:xfrm>
          <a:custGeom>
            <a:avLst/>
            <a:gdLst/>
            <a:ahLst/>
            <a:cxnLst/>
            <a:rect l="l" t="t" r="r" b="b"/>
            <a:pathLst>
              <a:path w="10515600" h="4351655">
                <a:moveTo>
                  <a:pt x="0" y="4351416"/>
                </a:moveTo>
                <a:lnTo>
                  <a:pt x="10515599" y="4351416"/>
                </a:lnTo>
                <a:lnTo>
                  <a:pt x="10515599" y="0"/>
                </a:lnTo>
                <a:lnTo>
                  <a:pt x="0" y="0"/>
                </a:lnTo>
                <a:lnTo>
                  <a:pt x="0" y="4351416"/>
                </a:lnTo>
                <a:close/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7571" y="2004056"/>
            <a:ext cx="241554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0" dirty="0">
                <a:latin typeface="Calibri"/>
                <a:cs typeface="Calibri"/>
              </a:rPr>
              <a:t>H(x)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=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x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mod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7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571" y="2862580"/>
            <a:ext cx="79978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0" dirty="0">
                <a:latin typeface="Calibri"/>
                <a:cs typeface="Calibri"/>
              </a:rPr>
              <a:t>If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x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=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54</a:t>
            </a:r>
            <a:r>
              <a:rPr sz="3200" spc="-26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,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h(x)=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lang="en-US" sz="3200" spc="20" dirty="0">
                <a:latin typeface="Calibri"/>
                <a:cs typeface="Calibri"/>
              </a:rPr>
              <a:t>54</a:t>
            </a:r>
            <a:r>
              <a:rPr sz="3200" spc="-18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mod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7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=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lang="en-US" sz="3200" spc="15" dirty="0">
                <a:latin typeface="Calibri"/>
                <a:cs typeface="Calibri"/>
              </a:rPr>
              <a:t>5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571" y="3721093"/>
            <a:ext cx="79978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0" dirty="0">
                <a:latin typeface="Calibri"/>
                <a:cs typeface="Calibri"/>
              </a:rPr>
              <a:t>If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x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=</a:t>
            </a:r>
            <a:r>
              <a:rPr lang="en-US" sz="3200" spc="10" dirty="0">
                <a:latin typeface="Calibri"/>
                <a:cs typeface="Calibri"/>
              </a:rPr>
              <a:t> </a:t>
            </a:r>
            <a:r>
              <a:rPr lang="en-US" sz="3200" spc="20" dirty="0">
                <a:latin typeface="Calibri"/>
                <a:cs typeface="Calibri"/>
              </a:rPr>
              <a:t>68</a:t>
            </a:r>
            <a:r>
              <a:rPr sz="3200" spc="-26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,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h(x)=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lang="en-US" sz="3200" spc="20" dirty="0">
                <a:latin typeface="Calibri"/>
                <a:cs typeface="Calibri"/>
              </a:rPr>
              <a:t>68</a:t>
            </a:r>
            <a:r>
              <a:rPr sz="3200" spc="-18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mod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7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=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lang="en-US" sz="3200" spc="15" dirty="0">
                <a:latin typeface="Calibri"/>
                <a:cs typeface="Calibri"/>
              </a:rPr>
              <a:t>5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950848" y="2614422"/>
            <a:ext cx="541020" cy="1867535"/>
          </a:xfrm>
          <a:custGeom>
            <a:avLst/>
            <a:gdLst/>
            <a:ahLst/>
            <a:cxnLst/>
            <a:rect l="l" t="t" r="r" b="b"/>
            <a:pathLst>
              <a:path w="541020" h="1867535">
                <a:moveTo>
                  <a:pt x="0" y="0"/>
                </a:moveTo>
                <a:lnTo>
                  <a:pt x="79923" y="488"/>
                </a:lnTo>
                <a:lnTo>
                  <a:pt x="156206" y="1908"/>
                </a:lnTo>
                <a:lnTo>
                  <a:pt x="228012" y="4188"/>
                </a:lnTo>
                <a:lnTo>
                  <a:pt x="294504" y="7261"/>
                </a:lnTo>
                <a:lnTo>
                  <a:pt x="354845" y="11055"/>
                </a:lnTo>
                <a:lnTo>
                  <a:pt x="408198" y="15502"/>
                </a:lnTo>
                <a:lnTo>
                  <a:pt x="453728" y="20531"/>
                </a:lnTo>
                <a:lnTo>
                  <a:pt x="517967" y="32058"/>
                </a:lnTo>
                <a:lnTo>
                  <a:pt x="540867" y="45079"/>
                </a:lnTo>
                <a:lnTo>
                  <a:pt x="540867" y="1822322"/>
                </a:lnTo>
                <a:lnTo>
                  <a:pt x="490596" y="1841328"/>
                </a:lnTo>
                <a:lnTo>
                  <a:pt x="408198" y="1851902"/>
                </a:lnTo>
                <a:lnTo>
                  <a:pt x="354845" y="1856350"/>
                </a:lnTo>
                <a:lnTo>
                  <a:pt x="294504" y="1860146"/>
                </a:lnTo>
                <a:lnTo>
                  <a:pt x="228012" y="1863220"/>
                </a:lnTo>
                <a:lnTo>
                  <a:pt x="156206" y="1865502"/>
                </a:lnTo>
                <a:lnTo>
                  <a:pt x="79923" y="1866923"/>
                </a:lnTo>
                <a:lnTo>
                  <a:pt x="0" y="1867412"/>
                </a:lnTo>
              </a:path>
            </a:pathLst>
          </a:custGeom>
          <a:ln w="76199">
            <a:solidFill>
              <a:srgbClr val="B003B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996805" y="3044758"/>
            <a:ext cx="833119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85725">
              <a:lnSpc>
                <a:spcPct val="100000"/>
              </a:lnSpc>
              <a:spcBef>
                <a:spcPts val="125"/>
              </a:spcBef>
            </a:pPr>
            <a:r>
              <a:rPr sz="2000" b="1" spc="15" dirty="0">
                <a:solidFill>
                  <a:srgbClr val="FF0000"/>
                </a:solidFill>
                <a:latin typeface="Calibri"/>
                <a:cs typeface="Calibri"/>
              </a:rPr>
              <a:t>SAME </a:t>
            </a:r>
            <a:r>
              <a:rPr sz="20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60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000" b="1" spc="-100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2000" b="1" spc="35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000" b="1" spc="1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188720">
              <a:lnSpc>
                <a:spcPct val="100000"/>
              </a:lnSpc>
              <a:spcBef>
                <a:spcPts val="865"/>
              </a:spcBef>
            </a:pPr>
            <a:r>
              <a:rPr sz="6000" spc="-280" dirty="0"/>
              <a:t>T</a:t>
            </a:r>
            <a:r>
              <a:rPr sz="6000" spc="45" dirty="0"/>
              <a:t>y</a:t>
            </a:r>
            <a:r>
              <a:rPr sz="6000" spc="-50" dirty="0"/>
              <a:t>p</a:t>
            </a:r>
            <a:r>
              <a:rPr sz="6000" spc="-45" dirty="0"/>
              <a:t>e</a:t>
            </a:r>
            <a:r>
              <a:rPr sz="6000" dirty="0"/>
              <a:t>s</a:t>
            </a:r>
            <a:r>
              <a:rPr sz="6000" spc="-445" dirty="0">
                <a:latin typeface="Times New Roman"/>
                <a:cs typeface="Times New Roman"/>
              </a:rPr>
              <a:t> </a:t>
            </a:r>
            <a:r>
              <a:rPr sz="6000" spc="40" dirty="0"/>
              <a:t>O</a:t>
            </a:r>
            <a:r>
              <a:rPr sz="6000" dirty="0"/>
              <a:t>f</a:t>
            </a:r>
            <a:r>
              <a:rPr sz="6000" spc="-295" dirty="0">
                <a:latin typeface="Times New Roman"/>
                <a:cs typeface="Times New Roman"/>
              </a:rPr>
              <a:t> </a:t>
            </a:r>
            <a:r>
              <a:rPr sz="6000" spc="-5" dirty="0"/>
              <a:t>C</a:t>
            </a:r>
            <a:r>
              <a:rPr sz="6000" spc="25" dirty="0"/>
              <a:t>o</a:t>
            </a:r>
            <a:r>
              <a:rPr sz="6000" spc="15" dirty="0"/>
              <a:t>ll</a:t>
            </a:r>
            <a:r>
              <a:rPr sz="6000" spc="-50" dirty="0"/>
              <a:t>i</a:t>
            </a:r>
            <a:r>
              <a:rPr sz="6000" spc="-75" dirty="0"/>
              <a:t>s</a:t>
            </a:r>
            <a:r>
              <a:rPr sz="6000" spc="15" dirty="0"/>
              <a:t>i</a:t>
            </a:r>
            <a:r>
              <a:rPr sz="6000" spc="-60" dirty="0"/>
              <a:t>o</a:t>
            </a:r>
            <a:r>
              <a:rPr sz="6000" dirty="0"/>
              <a:t>n</a:t>
            </a:r>
            <a:r>
              <a:rPr sz="6000" spc="-490" dirty="0">
                <a:latin typeface="Times New Roman"/>
                <a:cs typeface="Times New Roman"/>
              </a:rPr>
              <a:t> </a:t>
            </a:r>
            <a:r>
              <a:rPr sz="6000" spc="25" dirty="0"/>
              <a:t>H</a:t>
            </a:r>
            <a:r>
              <a:rPr sz="6000" spc="15" dirty="0"/>
              <a:t>a</a:t>
            </a:r>
            <a:r>
              <a:rPr sz="6000" spc="25" dirty="0"/>
              <a:t>n</a:t>
            </a:r>
            <a:r>
              <a:rPr sz="6000" spc="-50" dirty="0"/>
              <a:t>dlin</a:t>
            </a:r>
            <a:r>
              <a:rPr sz="6000" dirty="0"/>
              <a:t>g</a:t>
            </a:r>
            <a:endParaRPr sz="6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1825544"/>
            <a:ext cx="10515600" cy="5032403"/>
          </a:xfrm>
          <a:prstGeom prst="rect">
            <a:avLst/>
          </a:prstGeom>
          <a:ln w="7619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 marL="320675" marR="795655" indent="-229235">
              <a:lnSpc>
                <a:spcPct val="120000"/>
              </a:lnSpc>
              <a:spcBef>
                <a:spcPts val="1705"/>
              </a:spcBef>
              <a:buFont typeface="Arial MT"/>
              <a:buChar char="•"/>
              <a:tabLst>
                <a:tab pos="321310" algn="l"/>
              </a:tabLst>
            </a:pPr>
            <a:r>
              <a:rPr sz="2400" b="1" spc="-5" dirty="0">
                <a:latin typeface="Calibri"/>
                <a:cs typeface="Calibri"/>
              </a:rPr>
              <a:t>Chaining: </a:t>
            </a:r>
            <a:r>
              <a:rPr sz="2400" spc="1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idea </a:t>
            </a:r>
            <a:r>
              <a:rPr sz="2400" spc="-15" dirty="0">
                <a:latin typeface="Calibri"/>
                <a:cs typeface="Calibri"/>
              </a:rPr>
              <a:t>is </a:t>
            </a:r>
            <a:r>
              <a:rPr sz="2400" spc="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make </a:t>
            </a:r>
            <a:r>
              <a:rPr sz="2400" dirty="0">
                <a:latin typeface="Calibri"/>
                <a:cs typeface="Calibri"/>
              </a:rPr>
              <a:t>each cell of </a:t>
            </a:r>
            <a:r>
              <a:rPr sz="2400" spc="5" dirty="0">
                <a:latin typeface="Calibri"/>
                <a:cs typeface="Calibri"/>
              </a:rPr>
              <a:t>hash </a:t>
            </a:r>
            <a:r>
              <a:rPr sz="2400" spc="-5" dirty="0">
                <a:latin typeface="Calibri"/>
                <a:cs typeface="Calibri"/>
              </a:rPr>
              <a:t>table </a:t>
            </a:r>
            <a:r>
              <a:rPr sz="2400" dirty="0">
                <a:latin typeface="Calibri"/>
                <a:cs typeface="Calibri"/>
              </a:rPr>
              <a:t>point </a:t>
            </a:r>
            <a:r>
              <a:rPr sz="2400" spc="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linked </a:t>
            </a:r>
            <a:r>
              <a:rPr sz="2400" spc="-10" dirty="0">
                <a:latin typeface="Calibri"/>
                <a:cs typeface="Calibri"/>
              </a:rPr>
              <a:t>list </a:t>
            </a:r>
            <a:r>
              <a:rPr sz="2400" dirty="0">
                <a:latin typeface="Calibri"/>
                <a:cs typeface="Calibri"/>
              </a:rPr>
              <a:t>of </a:t>
            </a:r>
            <a:r>
              <a:rPr sz="2400" spc="5" dirty="0">
                <a:latin typeface="Calibri"/>
                <a:cs typeface="Calibri"/>
              </a:rPr>
              <a:t> records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have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same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hash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function</a:t>
            </a:r>
            <a:r>
              <a:rPr sz="2400" spc="-15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value.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Chaining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but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requires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additional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memory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outside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the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table.</a:t>
            </a:r>
            <a:endParaRPr sz="24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395"/>
              </a:spcBef>
            </a:pPr>
            <a:r>
              <a:rPr lang="en-US" sz="2400" b="1" spc="-10" dirty="0">
                <a:solidFill>
                  <a:srgbClr val="FF0000"/>
                </a:solidFill>
                <a:latin typeface="Calibri"/>
                <a:cs typeface="Calibri"/>
              </a:rPr>
              <a:t>Open</a:t>
            </a:r>
            <a:r>
              <a:rPr lang="en-US"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400" b="1" spc="5" dirty="0">
                <a:solidFill>
                  <a:srgbClr val="FF0000"/>
                </a:solidFill>
                <a:latin typeface="Calibri"/>
                <a:cs typeface="Calibri"/>
              </a:rPr>
              <a:t>Addressing:</a:t>
            </a:r>
            <a:r>
              <a:rPr lang="en-US" sz="2400" b="1" spc="-1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all</a:t>
            </a:r>
            <a:r>
              <a:rPr lang="en-US" sz="2400" b="1" spc="-25" dirty="0">
                <a:latin typeface="Calibri"/>
                <a:cs typeface="Calibri"/>
              </a:rPr>
              <a:t> </a:t>
            </a:r>
            <a:r>
              <a:rPr lang="en-US" sz="2400" b="1" spc="-5" dirty="0">
                <a:latin typeface="Calibri"/>
                <a:cs typeface="Calibri"/>
              </a:rPr>
              <a:t>elements</a:t>
            </a:r>
            <a:r>
              <a:rPr lang="en-US" sz="2400" b="1" spc="-75" dirty="0">
                <a:latin typeface="Calibri"/>
                <a:cs typeface="Calibri"/>
              </a:rPr>
              <a:t> </a:t>
            </a:r>
            <a:r>
              <a:rPr lang="en-US" sz="2400" b="1" spc="10" dirty="0">
                <a:latin typeface="Calibri"/>
                <a:cs typeface="Calibri"/>
              </a:rPr>
              <a:t>are</a:t>
            </a:r>
            <a:r>
              <a:rPr lang="en-US" sz="2400" b="1" spc="-40" dirty="0">
                <a:latin typeface="Calibri"/>
                <a:cs typeface="Calibri"/>
              </a:rPr>
              <a:t> </a:t>
            </a:r>
            <a:r>
              <a:rPr lang="en-US" sz="2400" b="1" spc="5" dirty="0">
                <a:latin typeface="Calibri"/>
                <a:cs typeface="Calibri"/>
              </a:rPr>
              <a:t>stored</a:t>
            </a:r>
            <a:r>
              <a:rPr lang="en-US" sz="2400" b="1" spc="-17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in</a:t>
            </a:r>
            <a:r>
              <a:rPr lang="en-US" sz="2400" b="1" spc="55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the</a:t>
            </a:r>
            <a:r>
              <a:rPr lang="en-US" sz="2400" b="1" spc="-40" dirty="0">
                <a:latin typeface="Calibri"/>
                <a:cs typeface="Calibri"/>
              </a:rPr>
              <a:t> </a:t>
            </a:r>
            <a:r>
              <a:rPr lang="en-US" sz="2400" b="1" spc="10" dirty="0">
                <a:latin typeface="Calibri"/>
                <a:cs typeface="Calibri"/>
              </a:rPr>
              <a:t>hash</a:t>
            </a:r>
            <a:r>
              <a:rPr lang="en-US" sz="2400" b="1" spc="-25" dirty="0">
                <a:latin typeface="Calibri"/>
                <a:cs typeface="Calibri"/>
              </a:rPr>
              <a:t> </a:t>
            </a:r>
            <a:r>
              <a:rPr lang="en-US" sz="2400" b="1" spc="-5" dirty="0">
                <a:latin typeface="Calibri"/>
                <a:cs typeface="Calibri"/>
              </a:rPr>
              <a:t>table</a:t>
            </a:r>
            <a:endParaRPr lang="en-US" sz="24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465"/>
              </a:spcBef>
            </a:pPr>
            <a:r>
              <a:rPr lang="en-US" sz="2400" b="1" spc="-10" dirty="0">
                <a:latin typeface="Calibri"/>
                <a:cs typeface="Calibri"/>
              </a:rPr>
              <a:t>itself.</a:t>
            </a:r>
            <a:endParaRPr lang="en-US" sz="2400" dirty="0">
              <a:latin typeface="Calibri"/>
              <a:cs typeface="Calibri"/>
            </a:endParaRPr>
          </a:p>
          <a:p>
            <a:pPr marL="549275" indent="-45847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49275" algn="l"/>
                <a:tab pos="549910" algn="l"/>
              </a:tabLst>
            </a:pPr>
            <a:r>
              <a:rPr lang="en-US" sz="2400" b="1" spc="-15" dirty="0">
                <a:latin typeface="Calibri"/>
                <a:cs typeface="Calibri"/>
              </a:rPr>
              <a:t>L</a:t>
            </a:r>
            <a:r>
              <a:rPr lang="en-US" sz="2400" b="1" spc="5" dirty="0">
                <a:latin typeface="Calibri"/>
                <a:cs typeface="Calibri"/>
              </a:rPr>
              <a:t>in</a:t>
            </a:r>
            <a:r>
              <a:rPr lang="en-US" sz="2400" b="1" spc="-10" dirty="0">
                <a:latin typeface="Calibri"/>
                <a:cs typeface="Calibri"/>
              </a:rPr>
              <a:t>e</a:t>
            </a:r>
            <a:r>
              <a:rPr lang="en-US" sz="2400" b="1" spc="5" dirty="0">
                <a:latin typeface="Calibri"/>
                <a:cs typeface="Calibri"/>
              </a:rPr>
              <a:t>a</a:t>
            </a:r>
            <a:r>
              <a:rPr lang="en-US" sz="2400" b="1" dirty="0">
                <a:latin typeface="Calibri"/>
                <a:cs typeface="Calibri"/>
              </a:rPr>
              <a:t>r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b="1" spc="10" dirty="0">
                <a:latin typeface="Calibri"/>
                <a:cs typeface="Calibri"/>
              </a:rPr>
              <a:t>P</a:t>
            </a:r>
            <a:r>
              <a:rPr lang="en-US" sz="2400" b="1" spc="30" dirty="0">
                <a:latin typeface="Calibri"/>
                <a:cs typeface="Calibri"/>
              </a:rPr>
              <a:t>r</a:t>
            </a:r>
            <a:r>
              <a:rPr lang="en-US" sz="2400" b="1" dirty="0">
                <a:latin typeface="Calibri"/>
                <a:cs typeface="Calibri"/>
              </a:rPr>
              <a:t>o</a:t>
            </a:r>
            <a:r>
              <a:rPr lang="en-US" sz="2400" b="1" spc="10" dirty="0">
                <a:latin typeface="Calibri"/>
                <a:cs typeface="Calibri"/>
              </a:rPr>
              <a:t>b</a:t>
            </a:r>
            <a:r>
              <a:rPr lang="en-US" sz="2400" b="1" spc="5" dirty="0">
                <a:latin typeface="Calibri"/>
                <a:cs typeface="Calibri"/>
              </a:rPr>
              <a:t>in</a:t>
            </a:r>
            <a:r>
              <a:rPr lang="en-US" sz="2400" b="1" dirty="0">
                <a:latin typeface="Calibri"/>
                <a:cs typeface="Calibri"/>
              </a:rPr>
              <a:t>g</a:t>
            </a:r>
            <a:r>
              <a:rPr lang="en-US" sz="2400" spc="-180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=</a:t>
            </a:r>
            <a:r>
              <a:rPr lang="en-US" sz="2400" spc="-75" dirty="0">
                <a:latin typeface="Times New Roman"/>
                <a:cs typeface="Times New Roman"/>
              </a:rPr>
              <a:t> </a:t>
            </a:r>
            <a:r>
              <a:rPr lang="en-US" sz="2400" b="1" spc="30" dirty="0">
                <a:latin typeface="Calibri"/>
                <a:cs typeface="Calibri"/>
              </a:rPr>
              <a:t>A</a:t>
            </a:r>
            <a:r>
              <a:rPr lang="en-US" sz="2400" b="1" spc="5" dirty="0">
                <a:latin typeface="Calibri"/>
                <a:cs typeface="Calibri"/>
              </a:rPr>
              <a:t>d</a:t>
            </a:r>
            <a:r>
              <a:rPr lang="en-US" sz="2400" b="1" dirty="0">
                <a:latin typeface="Calibri"/>
                <a:cs typeface="Calibri"/>
              </a:rPr>
              <a:t>d</a:t>
            </a:r>
            <a:r>
              <a:rPr lang="en-US" sz="2400" spc="-70" dirty="0">
                <a:latin typeface="Times New Roman"/>
                <a:cs typeface="Times New Roman"/>
              </a:rPr>
              <a:t> </a:t>
            </a:r>
            <a:r>
              <a:rPr lang="en-US" sz="2400" b="1" dirty="0" err="1">
                <a:latin typeface="Calibri"/>
                <a:cs typeface="Calibri"/>
              </a:rPr>
              <a:t>i</a:t>
            </a:r>
            <a:r>
              <a:rPr lang="en-US" sz="2400" spc="-70" dirty="0">
                <a:latin typeface="Times New Roman"/>
                <a:cs typeface="Times New Roman"/>
              </a:rPr>
              <a:t> </a:t>
            </a:r>
            <a:r>
              <a:rPr lang="en-US" sz="2400" b="1" spc="5" dirty="0">
                <a:latin typeface="Calibri"/>
                <a:cs typeface="Calibri"/>
              </a:rPr>
              <a:t>i</a:t>
            </a:r>
            <a:r>
              <a:rPr lang="en-US" sz="2400" b="1" dirty="0">
                <a:latin typeface="Calibri"/>
                <a:cs typeface="Calibri"/>
              </a:rPr>
              <a:t>n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b="1" spc="5" dirty="0">
                <a:latin typeface="Calibri"/>
                <a:cs typeface="Calibri"/>
              </a:rPr>
              <a:t>n</a:t>
            </a:r>
            <a:r>
              <a:rPr lang="en-US" sz="2400" b="1" spc="-10" dirty="0">
                <a:latin typeface="Calibri"/>
                <a:cs typeface="Calibri"/>
              </a:rPr>
              <a:t>e</a:t>
            </a:r>
            <a:r>
              <a:rPr lang="en-US" sz="2400" b="1" spc="-5" dirty="0">
                <a:latin typeface="Calibri"/>
                <a:cs typeface="Calibri"/>
              </a:rPr>
              <a:t>x</a:t>
            </a:r>
            <a:r>
              <a:rPr lang="en-US" sz="2400" b="1" dirty="0">
                <a:latin typeface="Calibri"/>
                <a:cs typeface="Calibri"/>
              </a:rPr>
              <a:t>t</a:t>
            </a:r>
            <a:r>
              <a:rPr lang="en-US" sz="2400" spc="-105" dirty="0">
                <a:latin typeface="Times New Roman"/>
                <a:cs typeface="Times New Roman"/>
              </a:rPr>
              <a:t> </a:t>
            </a:r>
            <a:r>
              <a:rPr lang="en-US" sz="2400" b="1" spc="5" dirty="0">
                <a:latin typeface="Calibri"/>
                <a:cs typeface="Calibri"/>
              </a:rPr>
              <a:t>p</a:t>
            </a:r>
            <a:r>
              <a:rPr lang="en-US" sz="2400" b="1" spc="30" dirty="0">
                <a:latin typeface="Calibri"/>
                <a:cs typeface="Calibri"/>
              </a:rPr>
              <a:t>r</a:t>
            </a:r>
            <a:r>
              <a:rPr lang="en-US" sz="2400" b="1" dirty="0">
                <a:latin typeface="Calibri"/>
                <a:cs typeface="Calibri"/>
              </a:rPr>
              <a:t>o</a:t>
            </a:r>
            <a:r>
              <a:rPr lang="en-US" sz="2400" b="1" spc="10" dirty="0">
                <a:latin typeface="Calibri"/>
                <a:cs typeface="Calibri"/>
              </a:rPr>
              <a:t>b</a:t>
            </a:r>
            <a:r>
              <a:rPr lang="en-US" sz="2400" b="1" dirty="0">
                <a:latin typeface="Calibri"/>
                <a:cs typeface="Calibri"/>
              </a:rPr>
              <a:t>e</a:t>
            </a:r>
            <a:endParaRPr lang="en-US" sz="2400" dirty="0">
              <a:latin typeface="Calibri"/>
              <a:cs typeface="Calibri"/>
            </a:endParaRPr>
          </a:p>
          <a:p>
            <a:pPr marL="549275" indent="-458470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549275" algn="l"/>
                <a:tab pos="549910" algn="l"/>
              </a:tabLst>
            </a:pPr>
            <a:r>
              <a:rPr lang="en-US" sz="2400" b="1" spc="-40" dirty="0">
                <a:latin typeface="Calibri"/>
                <a:cs typeface="Calibri"/>
              </a:rPr>
              <a:t>Q</a:t>
            </a:r>
            <a:r>
              <a:rPr lang="en-US" sz="2400" b="1" spc="5" dirty="0">
                <a:latin typeface="Calibri"/>
                <a:cs typeface="Calibri"/>
              </a:rPr>
              <a:t>uad</a:t>
            </a:r>
            <a:r>
              <a:rPr lang="en-US" sz="2400" b="1" spc="-45" dirty="0">
                <a:latin typeface="Calibri"/>
                <a:cs typeface="Calibri"/>
              </a:rPr>
              <a:t>r</a:t>
            </a:r>
            <a:r>
              <a:rPr lang="en-US" sz="2400" b="1" spc="5" dirty="0">
                <a:latin typeface="Calibri"/>
                <a:cs typeface="Calibri"/>
              </a:rPr>
              <a:t>a</a:t>
            </a:r>
            <a:r>
              <a:rPr lang="en-US" sz="2400" b="1" spc="-25" dirty="0">
                <a:latin typeface="Calibri"/>
                <a:cs typeface="Calibri"/>
              </a:rPr>
              <a:t>t</a:t>
            </a:r>
            <a:r>
              <a:rPr lang="en-US" sz="2400" b="1" spc="5" dirty="0">
                <a:latin typeface="Calibri"/>
                <a:cs typeface="Calibri"/>
              </a:rPr>
              <a:t>i</a:t>
            </a:r>
            <a:r>
              <a:rPr lang="en-US" sz="2400" b="1" dirty="0">
                <a:latin typeface="Calibri"/>
                <a:cs typeface="Calibri"/>
              </a:rPr>
              <a:t>c</a:t>
            </a:r>
            <a:r>
              <a:rPr lang="en-US" sz="2400" spc="-70" dirty="0">
                <a:latin typeface="Times New Roman"/>
                <a:cs typeface="Times New Roman"/>
              </a:rPr>
              <a:t> </a:t>
            </a:r>
            <a:r>
              <a:rPr lang="en-US" sz="2400" b="1" spc="10" dirty="0">
                <a:latin typeface="Calibri"/>
                <a:cs typeface="Calibri"/>
              </a:rPr>
              <a:t>P</a:t>
            </a:r>
            <a:r>
              <a:rPr lang="en-US" sz="2400" b="1" spc="30" dirty="0">
                <a:latin typeface="Calibri"/>
                <a:cs typeface="Calibri"/>
              </a:rPr>
              <a:t>r</a:t>
            </a:r>
            <a:r>
              <a:rPr lang="en-US" sz="2400" b="1" dirty="0">
                <a:latin typeface="Calibri"/>
                <a:cs typeface="Calibri"/>
              </a:rPr>
              <a:t>o</a:t>
            </a:r>
            <a:r>
              <a:rPr lang="en-US" sz="2400" b="1" spc="10" dirty="0">
                <a:latin typeface="Calibri"/>
                <a:cs typeface="Calibri"/>
              </a:rPr>
              <a:t>b</a:t>
            </a:r>
            <a:r>
              <a:rPr lang="en-US" sz="2400" b="1" spc="5" dirty="0">
                <a:latin typeface="Calibri"/>
                <a:cs typeface="Calibri"/>
              </a:rPr>
              <a:t>in</a:t>
            </a:r>
            <a:r>
              <a:rPr lang="en-US" sz="2400" b="1" dirty="0">
                <a:latin typeface="Calibri"/>
                <a:cs typeface="Calibri"/>
              </a:rPr>
              <a:t>g</a:t>
            </a:r>
            <a:r>
              <a:rPr lang="en-US" sz="2400" spc="-180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=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b="1" spc="30" dirty="0">
                <a:latin typeface="Calibri"/>
                <a:cs typeface="Calibri"/>
              </a:rPr>
              <a:t>A</a:t>
            </a:r>
            <a:r>
              <a:rPr lang="en-US" sz="2400" b="1" spc="5" dirty="0">
                <a:latin typeface="Calibri"/>
                <a:cs typeface="Calibri"/>
              </a:rPr>
              <a:t>d</a:t>
            </a:r>
            <a:r>
              <a:rPr lang="en-US" sz="2400" b="1" dirty="0">
                <a:latin typeface="Calibri"/>
                <a:cs typeface="Calibri"/>
              </a:rPr>
              <a:t>d</a:t>
            </a:r>
            <a:r>
              <a:rPr lang="en-US" sz="2400" spc="-70" dirty="0">
                <a:latin typeface="Times New Roman"/>
                <a:cs typeface="Times New Roman"/>
              </a:rPr>
              <a:t> </a:t>
            </a:r>
            <a:r>
              <a:rPr lang="en-US" sz="2400" b="1" spc="5" dirty="0">
                <a:latin typeface="Calibri"/>
                <a:cs typeface="Calibri"/>
              </a:rPr>
              <a:t>i</a:t>
            </a:r>
            <a:r>
              <a:rPr lang="en-US" sz="2400" b="1" spc="-5" dirty="0">
                <a:latin typeface="Calibri"/>
                <a:cs typeface="Calibri"/>
              </a:rPr>
              <a:t>^</a:t>
            </a:r>
            <a:r>
              <a:rPr lang="en-US" sz="2400" b="1" dirty="0">
                <a:latin typeface="Calibri"/>
                <a:cs typeface="Calibri"/>
              </a:rPr>
              <a:t>2</a:t>
            </a:r>
            <a:r>
              <a:rPr lang="en-US" sz="2400" spc="-90" dirty="0">
                <a:latin typeface="Times New Roman"/>
                <a:cs typeface="Times New Roman"/>
              </a:rPr>
              <a:t> </a:t>
            </a:r>
            <a:r>
              <a:rPr lang="en-US" sz="2400" b="1" spc="5" dirty="0">
                <a:latin typeface="Calibri"/>
                <a:cs typeface="Calibri"/>
              </a:rPr>
              <a:t>i</a:t>
            </a:r>
            <a:r>
              <a:rPr lang="en-US" sz="2400" b="1" dirty="0">
                <a:latin typeface="Calibri"/>
                <a:cs typeface="Calibri"/>
              </a:rPr>
              <a:t>n</a:t>
            </a:r>
            <a:r>
              <a:rPr lang="en-US" sz="2400" spc="-70" dirty="0">
                <a:latin typeface="Times New Roman"/>
                <a:cs typeface="Times New Roman"/>
              </a:rPr>
              <a:t> </a:t>
            </a:r>
            <a:r>
              <a:rPr lang="en-US" sz="2400" b="1" spc="5" dirty="0">
                <a:latin typeface="Calibri"/>
                <a:cs typeface="Calibri"/>
              </a:rPr>
              <a:t>n</a:t>
            </a:r>
            <a:r>
              <a:rPr lang="en-US" sz="2400" b="1" spc="-10" dirty="0">
                <a:latin typeface="Calibri"/>
                <a:cs typeface="Calibri"/>
              </a:rPr>
              <a:t>e</a:t>
            </a:r>
            <a:r>
              <a:rPr lang="en-US" sz="2400" b="1" spc="-5" dirty="0">
                <a:latin typeface="Calibri"/>
                <a:cs typeface="Calibri"/>
              </a:rPr>
              <a:t>x</a:t>
            </a:r>
            <a:r>
              <a:rPr lang="en-US" sz="2400" b="1" dirty="0">
                <a:latin typeface="Calibri"/>
                <a:cs typeface="Calibri"/>
              </a:rPr>
              <a:t>t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b="1" spc="5" dirty="0">
                <a:latin typeface="Calibri"/>
                <a:cs typeface="Calibri"/>
              </a:rPr>
              <a:t>p</a:t>
            </a:r>
            <a:r>
              <a:rPr lang="en-US" sz="2400" b="1" spc="30" dirty="0">
                <a:latin typeface="Calibri"/>
                <a:cs typeface="Calibri"/>
              </a:rPr>
              <a:t>r</a:t>
            </a:r>
            <a:r>
              <a:rPr lang="en-US" sz="2400" b="1" dirty="0">
                <a:latin typeface="Calibri"/>
                <a:cs typeface="Calibri"/>
              </a:rPr>
              <a:t>o</a:t>
            </a:r>
            <a:r>
              <a:rPr lang="en-US" sz="2400" b="1" spc="10" dirty="0">
                <a:latin typeface="Calibri"/>
                <a:cs typeface="Calibri"/>
              </a:rPr>
              <a:t>b</a:t>
            </a:r>
            <a:r>
              <a:rPr lang="en-US" sz="2400" b="1" dirty="0">
                <a:latin typeface="Calibri"/>
                <a:cs typeface="Calibri"/>
              </a:rPr>
              <a:t>e</a:t>
            </a:r>
            <a:endParaRPr lang="en-US" sz="2400" dirty="0">
              <a:latin typeface="Calibri"/>
              <a:cs typeface="Calibri"/>
            </a:endParaRPr>
          </a:p>
          <a:p>
            <a:pPr marL="91440" marR="1797050">
              <a:lnSpc>
                <a:spcPct val="111300"/>
              </a:lnSpc>
              <a:spcBef>
                <a:spcPts val="145"/>
              </a:spcBef>
              <a:buAutoNum type="arabicPeriod"/>
              <a:tabLst>
                <a:tab pos="549275" algn="l"/>
                <a:tab pos="549910" algn="l"/>
              </a:tabLst>
            </a:pPr>
            <a:r>
              <a:rPr lang="en-US" sz="2400" b="1" spc="-15" dirty="0">
                <a:latin typeface="Calibri"/>
                <a:cs typeface="Calibri"/>
              </a:rPr>
              <a:t>D</a:t>
            </a:r>
            <a:r>
              <a:rPr lang="en-US" sz="2400" b="1" dirty="0">
                <a:latin typeface="Calibri"/>
                <a:cs typeface="Calibri"/>
              </a:rPr>
              <a:t>o</a:t>
            </a:r>
            <a:r>
              <a:rPr lang="en-US" sz="2400" b="1" spc="10" dirty="0">
                <a:latin typeface="Calibri"/>
                <a:cs typeface="Calibri"/>
              </a:rPr>
              <a:t>u</a:t>
            </a:r>
            <a:r>
              <a:rPr lang="en-US" sz="2400" b="1" spc="5" dirty="0">
                <a:latin typeface="Calibri"/>
                <a:cs typeface="Calibri"/>
              </a:rPr>
              <a:t>bl</a:t>
            </a:r>
            <a:r>
              <a:rPr lang="en-US" sz="2400" b="1" dirty="0">
                <a:latin typeface="Calibri"/>
                <a:cs typeface="Calibri"/>
              </a:rPr>
              <a:t>e</a:t>
            </a:r>
            <a:r>
              <a:rPr lang="en-US" sz="2400" spc="-75" dirty="0">
                <a:latin typeface="Times New Roman"/>
                <a:cs typeface="Times New Roman"/>
              </a:rPr>
              <a:t> </a:t>
            </a:r>
            <a:r>
              <a:rPr lang="en-US" sz="2400" b="1" spc="-15" dirty="0">
                <a:latin typeface="Calibri"/>
                <a:cs typeface="Calibri"/>
              </a:rPr>
              <a:t>H</a:t>
            </a:r>
            <a:r>
              <a:rPr lang="en-US" sz="2400" b="1" spc="5" dirty="0">
                <a:latin typeface="Calibri"/>
                <a:cs typeface="Calibri"/>
              </a:rPr>
              <a:t>a</a:t>
            </a:r>
            <a:r>
              <a:rPr lang="en-US" sz="2400" b="1" spc="25" dirty="0">
                <a:latin typeface="Calibri"/>
                <a:cs typeface="Calibri"/>
              </a:rPr>
              <a:t>s</a:t>
            </a:r>
            <a:r>
              <a:rPr lang="en-US" sz="2400" b="1" spc="5" dirty="0">
                <a:latin typeface="Calibri"/>
                <a:cs typeface="Calibri"/>
              </a:rPr>
              <a:t>hin</a:t>
            </a:r>
            <a:r>
              <a:rPr lang="en-US" sz="2400" b="1" dirty="0">
                <a:latin typeface="Calibri"/>
                <a:cs typeface="Calibri"/>
              </a:rPr>
              <a:t>g</a:t>
            </a:r>
            <a:r>
              <a:rPr lang="en-US" sz="2400" spc="-105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=</a:t>
            </a:r>
            <a:r>
              <a:rPr lang="en-US" sz="2400" spc="-75" dirty="0">
                <a:latin typeface="Times New Roman"/>
                <a:cs typeface="Times New Roman"/>
              </a:rPr>
              <a:t> </a:t>
            </a:r>
            <a:r>
              <a:rPr lang="en-US" sz="2400" b="1" spc="20" dirty="0">
                <a:latin typeface="Calibri"/>
                <a:cs typeface="Calibri"/>
              </a:rPr>
              <a:t>U</a:t>
            </a:r>
            <a:r>
              <a:rPr lang="en-US" sz="2400" b="1" spc="25" dirty="0">
                <a:latin typeface="Calibri"/>
                <a:cs typeface="Calibri"/>
              </a:rPr>
              <a:t>s</a:t>
            </a:r>
            <a:r>
              <a:rPr lang="en-US" sz="2400" b="1" dirty="0">
                <a:latin typeface="Calibri"/>
                <a:cs typeface="Calibri"/>
              </a:rPr>
              <a:t>e</a:t>
            </a:r>
            <a:r>
              <a:rPr lang="en-US" sz="2400" spc="-85" dirty="0">
                <a:latin typeface="Times New Roman"/>
                <a:cs typeface="Times New Roman"/>
              </a:rPr>
              <a:t> </a:t>
            </a:r>
            <a:r>
              <a:rPr lang="en-US" sz="2400" b="1" spc="5" dirty="0">
                <a:latin typeface="Calibri"/>
                <a:cs typeface="Calibri"/>
              </a:rPr>
              <a:t>2</a:t>
            </a:r>
            <a:r>
              <a:rPr lang="en-US" sz="2400" b="1" spc="37" baseline="25462" dirty="0">
                <a:latin typeface="Calibri"/>
                <a:cs typeface="Calibri"/>
              </a:rPr>
              <a:t>n</a:t>
            </a:r>
            <a:r>
              <a:rPr lang="en-US" sz="2400" b="1" baseline="25462" dirty="0">
                <a:latin typeface="Calibri"/>
                <a:cs typeface="Calibri"/>
              </a:rPr>
              <a:t>d</a:t>
            </a:r>
            <a:r>
              <a:rPr lang="en-US" sz="2400" spc="157" baseline="25462" dirty="0">
                <a:latin typeface="Times New Roman"/>
                <a:cs typeface="Times New Roman"/>
              </a:rPr>
              <a:t> </a:t>
            </a:r>
            <a:r>
              <a:rPr lang="en-US" sz="2400" b="1" spc="5" dirty="0">
                <a:latin typeface="Calibri"/>
                <a:cs typeface="Calibri"/>
              </a:rPr>
              <a:t>ha</a:t>
            </a:r>
            <a:r>
              <a:rPr lang="en-US" sz="2400" b="1" spc="25" dirty="0">
                <a:latin typeface="Calibri"/>
                <a:cs typeface="Calibri"/>
              </a:rPr>
              <a:t>s</a:t>
            </a:r>
            <a:r>
              <a:rPr lang="en-US" sz="2400" b="1" dirty="0">
                <a:latin typeface="Calibri"/>
                <a:cs typeface="Calibri"/>
              </a:rPr>
              <a:t>h</a:t>
            </a:r>
            <a:r>
              <a:rPr lang="en-US" sz="2400" spc="-145" dirty="0">
                <a:latin typeface="Times New Roman"/>
                <a:cs typeface="Times New Roman"/>
              </a:rPr>
              <a:t> </a:t>
            </a:r>
            <a:r>
              <a:rPr lang="en-US" sz="2400" b="1" spc="25" dirty="0">
                <a:latin typeface="Calibri"/>
                <a:cs typeface="Calibri"/>
              </a:rPr>
              <a:t>f</a:t>
            </a:r>
            <a:r>
              <a:rPr lang="en-US" sz="2400" b="1" spc="5" dirty="0">
                <a:latin typeface="Calibri"/>
                <a:cs typeface="Calibri"/>
              </a:rPr>
              <a:t>un</a:t>
            </a:r>
            <a:r>
              <a:rPr lang="en-US" sz="2400" b="1" spc="-5" dirty="0">
                <a:latin typeface="Calibri"/>
                <a:cs typeface="Calibri"/>
              </a:rPr>
              <a:t>c</a:t>
            </a:r>
            <a:r>
              <a:rPr lang="en-US" sz="2400" b="1" spc="-30" dirty="0">
                <a:latin typeface="Calibri"/>
                <a:cs typeface="Calibri"/>
              </a:rPr>
              <a:t>t</a:t>
            </a:r>
            <a:r>
              <a:rPr lang="en-US" sz="2400" b="1" spc="5" dirty="0">
                <a:latin typeface="Calibri"/>
                <a:cs typeface="Calibri"/>
              </a:rPr>
              <a:t>i</a:t>
            </a:r>
            <a:r>
              <a:rPr lang="en-US" sz="2400" b="1" dirty="0">
                <a:latin typeface="Calibri"/>
                <a:cs typeface="Calibri"/>
              </a:rPr>
              <a:t>on 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Hash2(Key)</a:t>
            </a:r>
            <a:r>
              <a:rPr lang="en-US" sz="2400" b="1" dirty="0">
                <a:latin typeface="Calibri"/>
                <a:cs typeface="Calibri"/>
              </a:rPr>
              <a:t> =</a:t>
            </a:r>
            <a:r>
              <a:rPr lang="en-US" sz="2400" b="1" spc="-3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R</a:t>
            </a:r>
            <a:r>
              <a:rPr lang="en-US" sz="2400" b="1" spc="1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–</a:t>
            </a:r>
            <a:r>
              <a:rPr lang="en-US" sz="2400" b="1" spc="40" dirty="0">
                <a:latin typeface="Calibri"/>
                <a:cs typeface="Calibri"/>
              </a:rPr>
              <a:t> </a:t>
            </a:r>
            <a:r>
              <a:rPr lang="en-US" sz="2400" b="1" spc="-20" dirty="0">
                <a:latin typeface="Calibri"/>
                <a:cs typeface="Calibri"/>
              </a:rPr>
              <a:t>(Key</a:t>
            </a:r>
            <a:r>
              <a:rPr lang="en-US" sz="2400" b="1" spc="1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%</a:t>
            </a:r>
            <a:r>
              <a:rPr lang="en-US" sz="2400" b="1" spc="-5" dirty="0">
                <a:latin typeface="Calibri"/>
                <a:cs typeface="Calibri"/>
              </a:rPr>
              <a:t> </a:t>
            </a:r>
            <a:r>
              <a:rPr lang="en-US" sz="2400" b="1" spc="20" dirty="0">
                <a:latin typeface="Calibri"/>
                <a:cs typeface="Calibri"/>
              </a:rPr>
              <a:t>R)</a:t>
            </a:r>
            <a:endParaRPr lang="en-US" sz="2400" dirty="0">
              <a:latin typeface="Calibri"/>
              <a:cs typeface="Calibri"/>
            </a:endParaRPr>
          </a:p>
          <a:p>
            <a:pPr marL="91441">
              <a:lnSpc>
                <a:spcPct val="100000"/>
              </a:lnSpc>
              <a:spcBef>
                <a:spcPts val="1625"/>
              </a:spcBef>
              <a:tabLst>
                <a:tab pos="549275" algn="l"/>
                <a:tab pos="549910" algn="l"/>
              </a:tabLst>
            </a:pP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465"/>
              </a:spcBef>
            </a:pPr>
            <a:r>
              <a:rPr dirty="0"/>
              <a:t>S</a:t>
            </a:r>
            <a:r>
              <a:rPr spc="40" dirty="0"/>
              <a:t>e</a:t>
            </a:r>
            <a:r>
              <a:rPr spc="-55" dirty="0"/>
              <a:t>p</a:t>
            </a:r>
            <a:r>
              <a:rPr spc="-35" dirty="0"/>
              <a:t>a</a:t>
            </a:r>
            <a:r>
              <a:rPr spc="-180" dirty="0"/>
              <a:t>r</a:t>
            </a:r>
            <a:r>
              <a:rPr spc="-114" dirty="0"/>
              <a:t>a</a:t>
            </a:r>
            <a:r>
              <a:rPr spc="-75" dirty="0"/>
              <a:t>t</a:t>
            </a:r>
            <a:r>
              <a:rPr spc="5" dirty="0"/>
              <a:t>e</a:t>
            </a:r>
            <a:r>
              <a:rPr spc="-490" dirty="0">
                <a:latin typeface="Times New Roman"/>
                <a:cs typeface="Times New Roman"/>
              </a:rPr>
              <a:t> </a:t>
            </a:r>
            <a:r>
              <a:rPr spc="60" dirty="0"/>
              <a:t>C</a:t>
            </a:r>
            <a:r>
              <a:rPr spc="5" dirty="0"/>
              <a:t>h</a:t>
            </a:r>
            <a:r>
              <a:rPr spc="-20" dirty="0"/>
              <a:t>a</a:t>
            </a:r>
            <a:r>
              <a:rPr spc="-35" dirty="0"/>
              <a:t>i</a:t>
            </a:r>
            <a:r>
              <a:rPr spc="-125" dirty="0"/>
              <a:t>n</a:t>
            </a:r>
            <a:r>
              <a:rPr spc="-35" dirty="0"/>
              <a:t>i</a:t>
            </a:r>
            <a:r>
              <a:rPr spc="-55" dirty="0"/>
              <a:t>n</a:t>
            </a:r>
            <a:r>
              <a:rPr spc="-20" dirty="0"/>
              <a:t>g</a:t>
            </a:r>
            <a:r>
              <a:rPr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825544"/>
            <a:ext cx="10515600" cy="4351655"/>
          </a:xfrm>
          <a:prstGeom prst="rect">
            <a:avLst/>
          </a:prstGeom>
          <a:ln w="76199">
            <a:solidFill>
              <a:srgbClr val="FF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320675" marR="822960" indent="-229235">
              <a:lnSpc>
                <a:spcPts val="4050"/>
              </a:lnSpc>
              <a:spcBef>
                <a:spcPts val="145"/>
              </a:spcBef>
              <a:buFont typeface="Arial MT"/>
              <a:buChar char="•"/>
              <a:tabLst>
                <a:tab pos="321310" algn="l"/>
              </a:tabLst>
            </a:pPr>
            <a:r>
              <a:rPr sz="2750" dirty="0">
                <a:latin typeface="Calibri"/>
                <a:cs typeface="Calibri"/>
              </a:rPr>
              <a:t>The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idea</a:t>
            </a:r>
            <a:r>
              <a:rPr sz="2750" spc="14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make</a:t>
            </a:r>
            <a:r>
              <a:rPr sz="2750" spc="-5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each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cell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hash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table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point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a</a:t>
            </a:r>
            <a:r>
              <a:rPr sz="275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linked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list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60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records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that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have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same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hash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function</a:t>
            </a:r>
            <a:r>
              <a:rPr sz="2750" spc="24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value.</a:t>
            </a:r>
            <a:endParaRPr sz="2750" dirty="0">
              <a:latin typeface="Calibri"/>
              <a:cs typeface="Calibri"/>
            </a:endParaRPr>
          </a:p>
          <a:p>
            <a:pPr marL="320675" indent="-22987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321310" algn="l"/>
              </a:tabLst>
            </a:pPr>
            <a:r>
              <a:rPr sz="2750" spc="10" dirty="0">
                <a:latin typeface="Calibri"/>
                <a:cs typeface="Calibri"/>
              </a:rPr>
              <a:t>Let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us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consider</a:t>
            </a:r>
            <a:r>
              <a:rPr sz="2750" spc="13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a</a:t>
            </a:r>
            <a:r>
              <a:rPr sz="2750" spc="7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simple</a:t>
            </a:r>
            <a:r>
              <a:rPr sz="2750" spc="17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hash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function</a:t>
            </a:r>
            <a:r>
              <a:rPr sz="2750" spc="245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as </a:t>
            </a:r>
            <a:r>
              <a:rPr sz="2750" spc="-10" dirty="0">
                <a:latin typeface="Calibri"/>
                <a:cs typeface="Calibri"/>
              </a:rPr>
              <a:t>“</a:t>
            </a:r>
            <a:r>
              <a:rPr sz="2750" b="1" spc="-10" dirty="0">
                <a:latin typeface="Calibri"/>
                <a:cs typeface="Calibri"/>
              </a:rPr>
              <a:t>key</a:t>
            </a:r>
            <a:r>
              <a:rPr sz="2750" b="1" spc="10" dirty="0">
                <a:latin typeface="Calibri"/>
                <a:cs typeface="Calibri"/>
              </a:rPr>
              <a:t> </a:t>
            </a:r>
            <a:r>
              <a:rPr sz="2750" b="1" spc="15" dirty="0">
                <a:latin typeface="Calibri"/>
                <a:cs typeface="Calibri"/>
              </a:rPr>
              <a:t>mod</a:t>
            </a:r>
            <a:r>
              <a:rPr sz="2750" b="1" spc="55" dirty="0">
                <a:latin typeface="Calibri"/>
                <a:cs typeface="Calibri"/>
              </a:rPr>
              <a:t> </a:t>
            </a:r>
            <a:r>
              <a:rPr sz="2750" b="1" spc="20" dirty="0">
                <a:latin typeface="Calibri"/>
                <a:cs typeface="Calibri"/>
              </a:rPr>
              <a:t>7</a:t>
            </a:r>
            <a:r>
              <a:rPr sz="2750" spc="20" dirty="0">
                <a:latin typeface="Calibri"/>
                <a:cs typeface="Calibri"/>
              </a:rPr>
              <a:t>” </a:t>
            </a:r>
            <a:r>
              <a:rPr sz="2750" spc="5" dirty="0">
                <a:latin typeface="Calibri"/>
                <a:cs typeface="Calibri"/>
              </a:rPr>
              <a:t>and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sequence</a:t>
            </a:r>
            <a:endParaRPr sz="2750" dirty="0">
              <a:latin typeface="Calibri"/>
              <a:cs typeface="Calibri"/>
            </a:endParaRPr>
          </a:p>
          <a:p>
            <a:pPr marL="320675">
              <a:lnSpc>
                <a:spcPct val="100000"/>
              </a:lnSpc>
              <a:spcBef>
                <a:spcPts val="755"/>
              </a:spcBef>
            </a:pP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-4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keys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as</a:t>
            </a:r>
            <a:r>
              <a:rPr sz="2750" spc="15" dirty="0">
                <a:latin typeface="Calibri"/>
                <a:cs typeface="Calibri"/>
              </a:rPr>
              <a:t> 50,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700,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76,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85,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92,</a:t>
            </a:r>
            <a:r>
              <a:rPr sz="2750" spc="-4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73,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101.</a:t>
            </a:r>
            <a:endParaRPr sz="27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65138"/>
            <a:ext cx="10515600" cy="132588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120015" rIns="0" bIns="0" rtlCol="0">
            <a:spAutoFit/>
          </a:bodyPr>
          <a:lstStyle/>
          <a:p>
            <a:pPr marL="368935">
              <a:lnSpc>
                <a:spcPct val="100000"/>
              </a:lnSpc>
              <a:spcBef>
                <a:spcPts val="945"/>
              </a:spcBef>
            </a:pPr>
            <a:r>
              <a:rPr sz="5900" spc="40" dirty="0"/>
              <a:t>A</a:t>
            </a:r>
            <a:r>
              <a:rPr sz="5900" spc="75" dirty="0"/>
              <a:t>d</a:t>
            </a:r>
            <a:r>
              <a:rPr sz="5900" spc="-125" dirty="0"/>
              <a:t>v</a:t>
            </a:r>
            <a:r>
              <a:rPr sz="5900" spc="-75" dirty="0"/>
              <a:t>a</a:t>
            </a:r>
            <a:r>
              <a:rPr sz="5900" spc="-145" dirty="0"/>
              <a:t>n</a:t>
            </a:r>
            <a:r>
              <a:rPr sz="5900" spc="-140" dirty="0"/>
              <a:t>t</a:t>
            </a:r>
            <a:r>
              <a:rPr sz="5900" spc="15" dirty="0"/>
              <a:t>a</a:t>
            </a:r>
            <a:r>
              <a:rPr sz="5900" spc="-160" dirty="0"/>
              <a:t>g</a:t>
            </a:r>
            <a:r>
              <a:rPr sz="5900" spc="10" dirty="0"/>
              <a:t>es</a:t>
            </a:r>
            <a:r>
              <a:rPr sz="5900" spc="-465" dirty="0">
                <a:latin typeface="Times New Roman"/>
                <a:cs typeface="Times New Roman"/>
              </a:rPr>
              <a:t> </a:t>
            </a:r>
            <a:r>
              <a:rPr sz="5900" spc="35" dirty="0"/>
              <a:t>O</a:t>
            </a:r>
            <a:r>
              <a:rPr sz="5900" spc="5" dirty="0"/>
              <a:t>f</a:t>
            </a:r>
            <a:r>
              <a:rPr sz="5900" spc="-325" dirty="0">
                <a:latin typeface="Times New Roman"/>
                <a:cs typeface="Times New Roman"/>
              </a:rPr>
              <a:t> </a:t>
            </a:r>
            <a:r>
              <a:rPr sz="5900" spc="15" dirty="0"/>
              <a:t>Sepa</a:t>
            </a:r>
            <a:r>
              <a:rPr sz="5900" spc="-175" dirty="0"/>
              <a:t>r</a:t>
            </a:r>
            <a:r>
              <a:rPr sz="5900" spc="-150" dirty="0"/>
              <a:t>a</a:t>
            </a:r>
            <a:r>
              <a:rPr sz="5900" spc="-65" dirty="0"/>
              <a:t>t</a:t>
            </a:r>
            <a:r>
              <a:rPr sz="5900" spc="15" dirty="0"/>
              <a:t>e</a:t>
            </a:r>
            <a:r>
              <a:rPr sz="5900" spc="-430" dirty="0">
                <a:latin typeface="Times New Roman"/>
                <a:cs typeface="Times New Roman"/>
              </a:rPr>
              <a:t> </a:t>
            </a:r>
            <a:r>
              <a:rPr sz="5900" spc="60" dirty="0"/>
              <a:t>C</a:t>
            </a:r>
            <a:r>
              <a:rPr sz="5900" spc="15" dirty="0"/>
              <a:t>h</a:t>
            </a:r>
            <a:r>
              <a:rPr sz="5900" spc="-85" dirty="0"/>
              <a:t>a</a:t>
            </a:r>
            <a:r>
              <a:rPr sz="5900" spc="-30" dirty="0"/>
              <a:t>i</a:t>
            </a:r>
            <a:r>
              <a:rPr sz="5900" spc="15" dirty="0"/>
              <a:t>n</a:t>
            </a:r>
            <a:r>
              <a:rPr sz="5900" spc="-35" dirty="0"/>
              <a:t>i</a:t>
            </a:r>
            <a:r>
              <a:rPr sz="5900" spc="-70" dirty="0"/>
              <a:t>n</a:t>
            </a:r>
            <a:r>
              <a:rPr sz="5900" spc="15" dirty="0"/>
              <a:t>g</a:t>
            </a:r>
            <a:endParaRPr sz="5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1825544"/>
            <a:ext cx="10515600" cy="4351655"/>
          </a:xfrm>
          <a:prstGeom prst="rect">
            <a:avLst/>
          </a:prstGeom>
          <a:ln w="76199">
            <a:solidFill>
              <a:srgbClr val="FF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4050">
              <a:latin typeface="Times New Roman"/>
              <a:cs typeface="Times New Roman"/>
            </a:endParaRPr>
          </a:p>
          <a:p>
            <a:pPr marL="462915" indent="-372110">
              <a:lnSpc>
                <a:spcPct val="100000"/>
              </a:lnSpc>
              <a:buAutoNum type="arabicParenR"/>
              <a:tabLst>
                <a:tab pos="463550" algn="l"/>
              </a:tabLst>
            </a:pPr>
            <a:r>
              <a:rPr sz="2750" spc="-5" dirty="0">
                <a:latin typeface="Calibri"/>
                <a:cs typeface="Calibri"/>
              </a:rPr>
              <a:t>Simple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implement.</a:t>
            </a:r>
            <a:endParaRPr sz="2750">
              <a:latin typeface="Calibri"/>
              <a:cs typeface="Calibri"/>
            </a:endParaRPr>
          </a:p>
          <a:p>
            <a:pPr marL="462915" indent="-372110">
              <a:lnSpc>
                <a:spcPct val="100000"/>
              </a:lnSpc>
              <a:spcBef>
                <a:spcPts val="755"/>
              </a:spcBef>
              <a:buAutoNum type="arabicParenR"/>
              <a:tabLst>
                <a:tab pos="463550" algn="l"/>
              </a:tabLst>
            </a:pPr>
            <a:r>
              <a:rPr sz="2750" spc="5" dirty="0">
                <a:latin typeface="Calibri"/>
                <a:cs typeface="Calibri"/>
              </a:rPr>
              <a:t>Hash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table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never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fills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up,</a:t>
            </a:r>
            <a:r>
              <a:rPr sz="2750" spc="11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we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can</a:t>
            </a:r>
            <a:r>
              <a:rPr sz="2750" spc="-5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always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add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30" dirty="0">
                <a:latin typeface="Calibri"/>
                <a:cs typeface="Calibri"/>
              </a:rPr>
              <a:t>more</a:t>
            </a:r>
            <a:r>
              <a:rPr sz="2750" spc="-4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elements</a:t>
            </a:r>
            <a:r>
              <a:rPr sz="2750" spc="24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chain.</a:t>
            </a:r>
            <a:endParaRPr sz="2750">
              <a:latin typeface="Calibri"/>
              <a:cs typeface="Calibri"/>
            </a:endParaRPr>
          </a:p>
          <a:p>
            <a:pPr marL="462915" indent="-372110">
              <a:lnSpc>
                <a:spcPct val="100000"/>
              </a:lnSpc>
              <a:spcBef>
                <a:spcPts val="755"/>
              </a:spcBef>
              <a:buAutoNum type="arabicParenR"/>
              <a:tabLst>
                <a:tab pos="463550" algn="l"/>
              </a:tabLst>
            </a:pPr>
            <a:r>
              <a:rPr sz="2750" dirty="0">
                <a:latin typeface="Calibri"/>
                <a:cs typeface="Calibri"/>
              </a:rPr>
              <a:t>Less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sensitive</a:t>
            </a:r>
            <a:r>
              <a:rPr sz="2750" spc="25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hash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function</a:t>
            </a:r>
            <a:r>
              <a:rPr sz="2750" spc="175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or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load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factors.</a:t>
            </a:r>
            <a:endParaRPr sz="2750">
              <a:latin typeface="Calibri"/>
              <a:cs typeface="Calibri"/>
            </a:endParaRPr>
          </a:p>
          <a:p>
            <a:pPr marL="91440" marR="342265">
              <a:lnSpc>
                <a:spcPts val="4050"/>
              </a:lnSpc>
              <a:spcBef>
                <a:spcPts val="195"/>
              </a:spcBef>
              <a:buAutoNum type="arabicParenR"/>
              <a:tabLst>
                <a:tab pos="463550" algn="l"/>
              </a:tabLst>
            </a:pPr>
            <a:r>
              <a:rPr sz="2750" spc="-5" dirty="0">
                <a:latin typeface="Calibri"/>
                <a:cs typeface="Calibri"/>
              </a:rPr>
              <a:t>It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mostly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used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when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it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unknown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how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many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and</a:t>
            </a:r>
            <a:r>
              <a:rPr sz="2750" spc="15" dirty="0">
                <a:latin typeface="Calibri"/>
                <a:cs typeface="Calibri"/>
              </a:rPr>
              <a:t> how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frequently </a:t>
            </a:r>
            <a:r>
              <a:rPr sz="2750" spc="-60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keys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may</a:t>
            </a:r>
            <a:r>
              <a:rPr sz="2750" spc="-5" dirty="0">
                <a:latin typeface="Calibri"/>
                <a:cs typeface="Calibri"/>
              </a:rPr>
              <a:t> be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inserted</a:t>
            </a:r>
            <a:r>
              <a:rPr sz="2750" spc="240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or</a:t>
            </a:r>
            <a:r>
              <a:rPr sz="2750" spc="-1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deleted.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65138"/>
            <a:ext cx="10515600" cy="132588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170180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340"/>
              </a:spcBef>
            </a:pPr>
            <a:r>
              <a:rPr sz="5400" spc="15" dirty="0"/>
              <a:t>D</a:t>
            </a:r>
            <a:r>
              <a:rPr sz="5400" spc="75" dirty="0"/>
              <a:t>i</a:t>
            </a:r>
            <a:r>
              <a:rPr sz="5400" dirty="0"/>
              <a:t>s</a:t>
            </a:r>
            <a:r>
              <a:rPr sz="5400" spc="-60" dirty="0"/>
              <a:t>a</a:t>
            </a:r>
            <a:r>
              <a:rPr sz="5400" spc="-30" dirty="0"/>
              <a:t>d</a:t>
            </a:r>
            <a:r>
              <a:rPr sz="5400" spc="-125" dirty="0"/>
              <a:t>v</a:t>
            </a:r>
            <a:r>
              <a:rPr sz="5400" spc="-70" dirty="0"/>
              <a:t>a</a:t>
            </a:r>
            <a:r>
              <a:rPr sz="5400" spc="-110" dirty="0"/>
              <a:t>n</a:t>
            </a:r>
            <a:r>
              <a:rPr sz="5400" spc="-125" dirty="0"/>
              <a:t>t</a:t>
            </a:r>
            <a:r>
              <a:rPr sz="5400" dirty="0"/>
              <a:t>a</a:t>
            </a:r>
            <a:r>
              <a:rPr sz="5400" spc="-130" dirty="0"/>
              <a:t>g</a:t>
            </a:r>
            <a:r>
              <a:rPr sz="5400" spc="-45" dirty="0"/>
              <a:t>e</a:t>
            </a:r>
            <a:r>
              <a:rPr sz="5400" dirty="0"/>
              <a:t>s</a:t>
            </a:r>
            <a:r>
              <a:rPr sz="5400" spc="-434" dirty="0">
                <a:latin typeface="Times New Roman"/>
                <a:cs typeface="Times New Roman"/>
              </a:rPr>
              <a:t> </a:t>
            </a:r>
            <a:r>
              <a:rPr sz="5400" spc="-5" dirty="0"/>
              <a:t>O</a:t>
            </a:r>
            <a:r>
              <a:rPr sz="5400" dirty="0"/>
              <a:t>f</a:t>
            </a:r>
            <a:r>
              <a:rPr sz="5400" spc="-200" dirty="0">
                <a:latin typeface="Times New Roman"/>
                <a:cs typeface="Times New Roman"/>
              </a:rPr>
              <a:t> </a:t>
            </a:r>
            <a:r>
              <a:rPr sz="5400" spc="20" dirty="0"/>
              <a:t>S</a:t>
            </a:r>
            <a:r>
              <a:rPr sz="5400" spc="25" dirty="0"/>
              <a:t>e</a:t>
            </a:r>
            <a:r>
              <a:rPr sz="5400" spc="-30" dirty="0"/>
              <a:t>p</a:t>
            </a:r>
            <a:r>
              <a:rPr sz="5400" spc="-70" dirty="0"/>
              <a:t>a</a:t>
            </a:r>
            <a:r>
              <a:rPr sz="5400" spc="-140" dirty="0"/>
              <a:t>r</a:t>
            </a:r>
            <a:r>
              <a:rPr sz="5400" spc="-70" dirty="0"/>
              <a:t>a</a:t>
            </a:r>
            <a:r>
              <a:rPr sz="5400" spc="-125" dirty="0"/>
              <a:t>t</a:t>
            </a:r>
            <a:r>
              <a:rPr sz="5400" dirty="0"/>
              <a:t>e</a:t>
            </a:r>
            <a:r>
              <a:rPr sz="5400" spc="-420" dirty="0">
                <a:latin typeface="Times New Roman"/>
                <a:cs typeface="Times New Roman"/>
              </a:rPr>
              <a:t> </a:t>
            </a:r>
            <a:r>
              <a:rPr sz="5400" spc="25" dirty="0"/>
              <a:t>C</a:t>
            </a:r>
            <a:r>
              <a:rPr sz="5400" spc="40" dirty="0"/>
              <a:t>h</a:t>
            </a:r>
            <a:r>
              <a:rPr sz="5400" dirty="0"/>
              <a:t>ai</a:t>
            </a:r>
            <a:r>
              <a:rPr sz="5400" spc="-20" dirty="0"/>
              <a:t>n</a:t>
            </a:r>
            <a:r>
              <a:rPr sz="5400" spc="-65" dirty="0"/>
              <a:t>i</a:t>
            </a:r>
            <a:r>
              <a:rPr sz="5400" spc="-30" dirty="0"/>
              <a:t>n</a:t>
            </a:r>
            <a:r>
              <a:rPr sz="5400" dirty="0"/>
              <a:t>g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8200" y="1825544"/>
            <a:ext cx="10515600" cy="4351655"/>
          </a:xfrm>
          <a:custGeom>
            <a:avLst/>
            <a:gdLst/>
            <a:ahLst/>
            <a:cxnLst/>
            <a:rect l="l" t="t" r="r" b="b"/>
            <a:pathLst>
              <a:path w="10515600" h="4351655">
                <a:moveTo>
                  <a:pt x="0" y="4351416"/>
                </a:moveTo>
                <a:lnTo>
                  <a:pt x="10515599" y="4351416"/>
                </a:lnTo>
                <a:lnTo>
                  <a:pt x="10515599" y="0"/>
                </a:lnTo>
                <a:lnTo>
                  <a:pt x="0" y="0"/>
                </a:lnTo>
                <a:lnTo>
                  <a:pt x="0" y="4351416"/>
                </a:lnTo>
                <a:close/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7571" y="2313416"/>
            <a:ext cx="10039985" cy="36214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2900"/>
              </a:lnSpc>
              <a:spcBef>
                <a:spcPts val="90"/>
              </a:spcBef>
              <a:buAutoNum type="arabicParenR"/>
              <a:tabLst>
                <a:tab pos="384175" algn="l"/>
              </a:tabLst>
            </a:pPr>
            <a:r>
              <a:rPr sz="2750" spc="15" dirty="0">
                <a:latin typeface="Calibri"/>
                <a:cs typeface="Calibri"/>
              </a:rPr>
              <a:t>Cache </a:t>
            </a:r>
            <a:r>
              <a:rPr sz="2750" spc="5" dirty="0">
                <a:latin typeface="Calibri"/>
                <a:cs typeface="Calibri"/>
              </a:rPr>
              <a:t>performance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10" dirty="0">
                <a:latin typeface="Calibri"/>
                <a:cs typeface="Calibri"/>
              </a:rPr>
              <a:t>chaining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is </a:t>
            </a:r>
            <a:r>
              <a:rPr sz="2750" spc="10" dirty="0">
                <a:latin typeface="Calibri"/>
                <a:cs typeface="Calibri"/>
              </a:rPr>
              <a:t>not </a:t>
            </a:r>
            <a:r>
              <a:rPr sz="2750" spc="20" dirty="0">
                <a:latin typeface="Calibri"/>
                <a:cs typeface="Calibri"/>
              </a:rPr>
              <a:t>good as </a:t>
            </a:r>
            <a:r>
              <a:rPr sz="2750" spc="-10" dirty="0">
                <a:latin typeface="Calibri"/>
                <a:cs typeface="Calibri"/>
              </a:rPr>
              <a:t>keys </a:t>
            </a:r>
            <a:r>
              <a:rPr sz="2750" spc="15" dirty="0">
                <a:latin typeface="Calibri"/>
                <a:cs typeface="Calibri"/>
              </a:rPr>
              <a:t>are </a:t>
            </a:r>
            <a:r>
              <a:rPr sz="2750" dirty="0">
                <a:latin typeface="Calibri"/>
                <a:cs typeface="Calibri"/>
              </a:rPr>
              <a:t>stored </a:t>
            </a:r>
            <a:r>
              <a:rPr sz="2750" spc="-20" dirty="0">
                <a:latin typeface="Calibri"/>
                <a:cs typeface="Calibri"/>
              </a:rPr>
              <a:t>using </a:t>
            </a:r>
            <a:r>
              <a:rPr sz="2750" spc="-61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linked</a:t>
            </a:r>
            <a:r>
              <a:rPr sz="2750" spc="-2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list.</a:t>
            </a:r>
            <a:r>
              <a:rPr sz="2750" spc="-2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Open </a:t>
            </a:r>
            <a:r>
              <a:rPr sz="2750" spc="-10" dirty="0">
                <a:latin typeface="Calibri"/>
                <a:cs typeface="Calibri"/>
              </a:rPr>
              <a:t>addressing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provides </a:t>
            </a:r>
            <a:r>
              <a:rPr sz="2750" spc="-30" dirty="0">
                <a:latin typeface="Calibri"/>
                <a:cs typeface="Calibri"/>
              </a:rPr>
              <a:t>better</a:t>
            </a:r>
            <a:r>
              <a:rPr sz="2750" spc="-25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cache </a:t>
            </a:r>
            <a:r>
              <a:rPr sz="2750" spc="5" dirty="0">
                <a:latin typeface="Calibri"/>
                <a:cs typeface="Calibri"/>
              </a:rPr>
              <a:t>performance </a:t>
            </a:r>
            <a:r>
              <a:rPr sz="2750" spc="20" dirty="0">
                <a:latin typeface="Calibri"/>
                <a:cs typeface="Calibri"/>
              </a:rPr>
              <a:t>as 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everything</a:t>
            </a:r>
            <a:r>
              <a:rPr sz="2750" spc="24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stored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in</a:t>
            </a:r>
            <a:r>
              <a:rPr sz="2750" spc="15" dirty="0">
                <a:latin typeface="Calibri"/>
                <a:cs typeface="Calibri"/>
              </a:rPr>
              <a:t> same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table.</a:t>
            </a:r>
            <a:endParaRPr sz="2750" dirty="0">
              <a:latin typeface="Calibri"/>
              <a:cs typeface="Calibri"/>
            </a:endParaRPr>
          </a:p>
          <a:p>
            <a:pPr marL="383540" indent="-371475">
              <a:lnSpc>
                <a:spcPct val="100000"/>
              </a:lnSpc>
              <a:spcBef>
                <a:spcPts val="685"/>
              </a:spcBef>
              <a:buAutoNum type="arabicParenR"/>
              <a:tabLst>
                <a:tab pos="384175" algn="l"/>
              </a:tabLst>
            </a:pPr>
            <a:r>
              <a:rPr sz="2750" spc="-10" dirty="0">
                <a:latin typeface="Calibri"/>
                <a:cs typeface="Calibri"/>
              </a:rPr>
              <a:t>Wastage</a:t>
            </a:r>
            <a:r>
              <a:rPr sz="2750" spc="25" dirty="0">
                <a:latin typeface="Calibri"/>
                <a:cs typeface="Calibri"/>
              </a:rPr>
              <a:t> of</a:t>
            </a:r>
            <a:r>
              <a:rPr sz="2750" spc="-4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Space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(Some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Parts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-4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hash</a:t>
            </a:r>
            <a:r>
              <a:rPr sz="2750" spc="18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table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are</a:t>
            </a:r>
            <a:r>
              <a:rPr sz="2750" spc="-4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never</a:t>
            </a:r>
            <a:r>
              <a:rPr sz="2750" spc="13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used)</a:t>
            </a:r>
            <a:endParaRPr sz="2750" dirty="0">
              <a:latin typeface="Calibri"/>
              <a:cs typeface="Calibri"/>
            </a:endParaRPr>
          </a:p>
          <a:p>
            <a:pPr marL="12700" marR="443230">
              <a:lnSpc>
                <a:spcPts val="4050"/>
              </a:lnSpc>
              <a:spcBef>
                <a:spcPts val="265"/>
              </a:spcBef>
              <a:buAutoNum type="arabicParenR"/>
              <a:tabLst>
                <a:tab pos="384175" algn="l"/>
              </a:tabLst>
            </a:pPr>
            <a:r>
              <a:rPr sz="2750" spc="-5" dirty="0">
                <a:latin typeface="Calibri"/>
                <a:cs typeface="Calibri"/>
              </a:rPr>
              <a:t>If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chain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becomes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long,</a:t>
            </a:r>
            <a:r>
              <a:rPr sz="2750" spc="18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then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search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time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can</a:t>
            </a:r>
            <a:r>
              <a:rPr sz="2750" spc="-5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become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O(n)</a:t>
            </a:r>
            <a:r>
              <a:rPr sz="2750" spc="114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in </a:t>
            </a:r>
            <a:r>
              <a:rPr sz="2750" spc="-61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worst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case.</a:t>
            </a:r>
            <a:endParaRPr sz="2750" dirty="0">
              <a:latin typeface="Calibri"/>
              <a:cs typeface="Calibri"/>
            </a:endParaRPr>
          </a:p>
          <a:p>
            <a:pPr marL="383540" indent="-371475">
              <a:lnSpc>
                <a:spcPct val="100000"/>
              </a:lnSpc>
              <a:spcBef>
                <a:spcPts val="500"/>
              </a:spcBef>
              <a:buAutoNum type="arabicParenR"/>
              <a:tabLst>
                <a:tab pos="384175" algn="l"/>
              </a:tabLst>
            </a:pPr>
            <a:r>
              <a:rPr sz="2750" dirty="0">
                <a:latin typeface="Calibri"/>
                <a:cs typeface="Calibri"/>
              </a:rPr>
              <a:t>Uses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-35" dirty="0">
                <a:latin typeface="Calibri"/>
                <a:cs typeface="Calibri"/>
              </a:rPr>
              <a:t>extra</a:t>
            </a:r>
            <a:r>
              <a:rPr sz="2750" spc="13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space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for</a:t>
            </a:r>
            <a:r>
              <a:rPr sz="2750" spc="5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links.</a:t>
            </a:r>
            <a:endParaRPr sz="27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DB50D-6DDB-632B-B9FC-6163A71AE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9836B9-B1EE-28AC-802C-12B233E787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064895">
              <a:lnSpc>
                <a:spcPct val="100000"/>
              </a:lnSpc>
              <a:spcBef>
                <a:spcPts val="465"/>
              </a:spcBef>
            </a:pPr>
            <a:r>
              <a:rPr spc="-65" dirty="0"/>
              <a:t>Performance</a:t>
            </a:r>
            <a:r>
              <a:rPr spc="-270" dirty="0"/>
              <a:t> </a:t>
            </a:r>
            <a:r>
              <a:rPr dirty="0"/>
              <a:t>of</a:t>
            </a:r>
            <a:r>
              <a:rPr spc="-180" dirty="0"/>
              <a:t> </a:t>
            </a:r>
            <a:r>
              <a:rPr spc="-25" dirty="0"/>
              <a:t>Chaining: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114168E-3997-17CD-9B9F-1E30AB67DEBD}"/>
              </a:ext>
            </a:extLst>
          </p:cNvPr>
          <p:cNvSpPr/>
          <p:nvPr/>
        </p:nvSpPr>
        <p:spPr>
          <a:xfrm>
            <a:off x="838200" y="1825544"/>
            <a:ext cx="10515600" cy="4351655"/>
          </a:xfrm>
          <a:custGeom>
            <a:avLst/>
            <a:gdLst/>
            <a:ahLst/>
            <a:cxnLst/>
            <a:rect l="l" t="t" r="r" b="b"/>
            <a:pathLst>
              <a:path w="10515600" h="4351655">
                <a:moveTo>
                  <a:pt x="0" y="4351416"/>
                </a:moveTo>
                <a:lnTo>
                  <a:pt x="10515599" y="4351416"/>
                </a:lnTo>
                <a:lnTo>
                  <a:pt x="10515599" y="0"/>
                </a:lnTo>
                <a:lnTo>
                  <a:pt x="0" y="0"/>
                </a:lnTo>
                <a:lnTo>
                  <a:pt x="0" y="4351416"/>
                </a:lnTo>
                <a:close/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764A654-AEFD-35CB-78C3-D71561DC6973}"/>
              </a:ext>
            </a:extLst>
          </p:cNvPr>
          <p:cNvSpPr txBox="1"/>
          <p:nvPr/>
        </p:nvSpPr>
        <p:spPr>
          <a:xfrm>
            <a:off x="903234" y="921227"/>
            <a:ext cx="8502650" cy="169597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20675" indent="-22987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321310" algn="l"/>
              </a:tabLst>
            </a:pPr>
            <a:r>
              <a:rPr lang="en-US" sz="2000" spc="10" dirty="0">
                <a:latin typeface="Calibri"/>
                <a:cs typeface="Calibri"/>
              </a:rPr>
              <a:t>Let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us</a:t>
            </a:r>
            <a:r>
              <a:rPr lang="en-US" sz="2000" spc="95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consider</a:t>
            </a:r>
            <a:r>
              <a:rPr lang="en-US" sz="2000" spc="130" dirty="0">
                <a:latin typeface="Calibri"/>
                <a:cs typeface="Calibri"/>
              </a:rPr>
              <a:t> </a:t>
            </a:r>
            <a:r>
              <a:rPr lang="en-US" sz="2000" spc="10" dirty="0">
                <a:latin typeface="Calibri"/>
                <a:cs typeface="Calibri"/>
              </a:rPr>
              <a:t>a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simple</a:t>
            </a:r>
            <a:r>
              <a:rPr lang="en-US" sz="2000" spc="1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hash</a:t>
            </a:r>
            <a:r>
              <a:rPr lang="en-US" sz="2000" spc="9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function</a:t>
            </a:r>
            <a:r>
              <a:rPr lang="en-US" sz="2000" spc="245" dirty="0">
                <a:latin typeface="Calibri"/>
                <a:cs typeface="Calibri"/>
              </a:rPr>
              <a:t> </a:t>
            </a:r>
            <a:r>
              <a:rPr lang="en-US" sz="2000" spc="20" dirty="0">
                <a:latin typeface="Calibri"/>
                <a:cs typeface="Calibri"/>
              </a:rPr>
              <a:t>as </a:t>
            </a:r>
            <a:r>
              <a:rPr lang="en-US" sz="2000" spc="-10" dirty="0">
                <a:latin typeface="Calibri"/>
                <a:cs typeface="Calibri"/>
              </a:rPr>
              <a:t>“</a:t>
            </a:r>
            <a:r>
              <a:rPr lang="en-US" sz="2000" b="1" spc="-10" dirty="0">
                <a:latin typeface="Calibri"/>
                <a:cs typeface="Calibri"/>
              </a:rPr>
              <a:t>key</a:t>
            </a:r>
            <a:r>
              <a:rPr lang="en-US" sz="2000" b="1" spc="10" dirty="0">
                <a:latin typeface="Calibri"/>
                <a:cs typeface="Calibri"/>
              </a:rPr>
              <a:t> </a:t>
            </a:r>
            <a:r>
              <a:rPr lang="en-US" sz="2000" b="1" spc="15" dirty="0">
                <a:latin typeface="Calibri"/>
                <a:cs typeface="Calibri"/>
              </a:rPr>
              <a:t>mod</a:t>
            </a:r>
            <a:r>
              <a:rPr lang="en-US" sz="2000" b="1" spc="55" dirty="0">
                <a:latin typeface="Calibri"/>
                <a:cs typeface="Calibri"/>
              </a:rPr>
              <a:t> </a:t>
            </a:r>
            <a:r>
              <a:rPr lang="en-US" sz="2000" b="1" spc="20" dirty="0">
                <a:latin typeface="Calibri"/>
                <a:cs typeface="Calibri"/>
              </a:rPr>
              <a:t>7</a:t>
            </a:r>
            <a:r>
              <a:rPr lang="en-US" sz="2000" spc="20" dirty="0">
                <a:latin typeface="Calibri"/>
                <a:cs typeface="Calibri"/>
              </a:rPr>
              <a:t>” </a:t>
            </a:r>
            <a:r>
              <a:rPr lang="en-US" sz="2000" spc="5" dirty="0">
                <a:latin typeface="Calibri"/>
                <a:cs typeface="Calibri"/>
              </a:rPr>
              <a:t>and</a:t>
            </a:r>
            <a:r>
              <a:rPr lang="en-US" sz="2000" spc="9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sequence</a:t>
            </a:r>
            <a:endParaRPr lang="en-US" sz="2000" dirty="0">
              <a:latin typeface="Calibri"/>
              <a:cs typeface="Calibri"/>
            </a:endParaRPr>
          </a:p>
          <a:p>
            <a:pPr marL="320675">
              <a:lnSpc>
                <a:spcPct val="100000"/>
              </a:lnSpc>
              <a:spcBef>
                <a:spcPts val="755"/>
              </a:spcBef>
            </a:pPr>
            <a:r>
              <a:rPr lang="en-US" sz="2000" spc="25" dirty="0">
                <a:latin typeface="Calibri"/>
                <a:cs typeface="Calibri"/>
              </a:rPr>
              <a:t>of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keys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spc="20" dirty="0">
                <a:latin typeface="Calibri"/>
                <a:cs typeface="Calibri"/>
              </a:rPr>
              <a:t>as</a:t>
            </a:r>
            <a:r>
              <a:rPr lang="en-US" sz="2000" spc="15" dirty="0">
                <a:latin typeface="Calibri"/>
                <a:cs typeface="Calibri"/>
              </a:rPr>
              <a:t> 50,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spc="20" dirty="0">
                <a:latin typeface="Calibri"/>
                <a:cs typeface="Calibri"/>
              </a:rPr>
              <a:t>700,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spc="15" dirty="0">
                <a:latin typeface="Calibri"/>
                <a:cs typeface="Calibri"/>
              </a:rPr>
              <a:t>76,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spc="15" dirty="0">
                <a:latin typeface="Calibri"/>
                <a:cs typeface="Calibri"/>
              </a:rPr>
              <a:t>85,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spc="15" dirty="0">
                <a:latin typeface="Calibri"/>
                <a:cs typeface="Calibri"/>
              </a:rPr>
              <a:t>92,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15" dirty="0">
                <a:latin typeface="Calibri"/>
                <a:cs typeface="Calibri"/>
              </a:rPr>
              <a:t>73,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spc="20" dirty="0">
                <a:latin typeface="Calibri"/>
                <a:cs typeface="Calibri"/>
              </a:rPr>
              <a:t>101.</a:t>
            </a:r>
            <a:endParaRPr lang="en-US" sz="20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endParaRPr lang="en-US" sz="2000" spc="-15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endParaRPr lang="en-US" sz="2000" spc="-15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spc="-15" dirty="0">
                <a:latin typeface="Calibri"/>
                <a:cs typeface="Calibri"/>
              </a:rPr>
              <a:t>Pay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1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20" dirty="0">
                <a:latin typeface="Calibri"/>
                <a:cs typeface="Calibri"/>
              </a:rPr>
              <a:t>Hash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function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and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access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slot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pay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alpha </a:t>
            </a:r>
            <a:r>
              <a:rPr sz="2000" spc="1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20" dirty="0">
                <a:latin typeface="Calibri"/>
                <a:cs typeface="Calibri"/>
              </a:rPr>
              <a:t>go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list.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44723C4-E8B8-92A7-6BB3-A23724B44ED7}"/>
              </a:ext>
            </a:extLst>
          </p:cNvPr>
          <p:cNvSpPr txBox="1"/>
          <p:nvPr/>
        </p:nvSpPr>
        <p:spPr>
          <a:xfrm>
            <a:off x="2577213" y="3087938"/>
            <a:ext cx="31654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Number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of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slots </a:t>
            </a:r>
            <a:r>
              <a:rPr sz="1800" spc="15" dirty="0">
                <a:latin typeface="Calibri"/>
                <a:cs typeface="Calibri"/>
              </a:rPr>
              <a:t>in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hash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755CA0F-A61A-B81D-6697-84579A3378B4}"/>
              </a:ext>
            </a:extLst>
          </p:cNvPr>
          <p:cNvSpPr txBox="1"/>
          <p:nvPr/>
        </p:nvSpPr>
        <p:spPr>
          <a:xfrm>
            <a:off x="1948181" y="3372676"/>
            <a:ext cx="4431030" cy="166560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sz="1800" dirty="0">
                <a:latin typeface="Calibri"/>
                <a:cs typeface="Calibri"/>
              </a:rPr>
              <a:t>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libri"/>
                <a:cs typeface="Calibri"/>
              </a:rPr>
              <a:t>N</a:t>
            </a:r>
            <a:r>
              <a:rPr sz="1800" spc="25" dirty="0">
                <a:latin typeface="Calibri"/>
                <a:cs typeface="Calibri"/>
              </a:rPr>
              <a:t>u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spc="25" dirty="0">
                <a:latin typeface="Calibri"/>
                <a:cs typeface="Calibri"/>
              </a:rPr>
              <a:t>b</a:t>
            </a:r>
            <a:r>
              <a:rPr sz="1800" dirty="0">
                <a:latin typeface="Calibri"/>
                <a:cs typeface="Calibri"/>
              </a:rPr>
              <a:t>er</a:t>
            </a:r>
            <a:r>
              <a:rPr sz="1800" spc="-18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Calibri"/>
                <a:cs typeface="Calibri"/>
              </a:rPr>
              <a:t>k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5" dirty="0">
                <a:latin typeface="Calibri"/>
                <a:cs typeface="Calibri"/>
              </a:rPr>
              <a:t>y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libri"/>
                <a:cs typeface="Calibri"/>
              </a:rPr>
              <a:t>b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libri"/>
                <a:cs typeface="Calibri"/>
              </a:rPr>
              <a:t>i</a:t>
            </a:r>
            <a:r>
              <a:rPr sz="1800" spc="25" dirty="0">
                <a:latin typeface="Calibri"/>
                <a:cs typeface="Calibri"/>
              </a:rPr>
              <a:t>n</a:t>
            </a:r>
            <a:r>
              <a:rPr sz="1800" spc="-3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ted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libri"/>
                <a:cs typeface="Calibri"/>
              </a:rPr>
              <a:t>h</a:t>
            </a:r>
            <a:r>
              <a:rPr sz="1800" spc="3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30" dirty="0">
                <a:latin typeface="Calibri"/>
                <a:cs typeface="Calibri"/>
              </a:rPr>
              <a:t>a</a:t>
            </a:r>
            <a:r>
              <a:rPr sz="1800" spc="25" dirty="0">
                <a:latin typeface="Calibri"/>
                <a:cs typeface="Calibri"/>
              </a:rPr>
              <a:t>b</a:t>
            </a:r>
            <a:r>
              <a:rPr sz="1800" spc="3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  <a:p>
            <a:pPr marR="23495" algn="ctr">
              <a:lnSpc>
                <a:spcPct val="100000"/>
              </a:lnSpc>
              <a:spcBef>
                <a:spcPts val="1065"/>
              </a:spcBef>
            </a:pPr>
            <a:r>
              <a:rPr sz="1800" spc="10" dirty="0">
                <a:latin typeface="Calibri"/>
                <a:cs typeface="Calibri"/>
              </a:rPr>
              <a:t>Load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factor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α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n/m</a:t>
            </a:r>
            <a:endParaRPr sz="1800">
              <a:latin typeface="Calibri"/>
              <a:cs typeface="Calibri"/>
            </a:endParaRPr>
          </a:p>
          <a:p>
            <a:pPr marL="298450" marR="312420" indent="304800">
              <a:lnSpc>
                <a:spcPct val="1495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Expected time to </a:t>
            </a:r>
            <a:r>
              <a:rPr sz="1800" spc="-10" dirty="0">
                <a:latin typeface="Calibri"/>
                <a:cs typeface="Calibri"/>
              </a:rPr>
              <a:t>search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10" dirty="0">
                <a:latin typeface="Calibri"/>
                <a:cs typeface="Calibri"/>
              </a:rPr>
              <a:t>O(1 </a:t>
            </a:r>
            <a:r>
              <a:rPr sz="1800" dirty="0">
                <a:latin typeface="Calibri"/>
                <a:cs typeface="Calibri"/>
              </a:rPr>
              <a:t>+ </a:t>
            </a:r>
            <a:r>
              <a:rPr sz="1800" spc="10" dirty="0">
                <a:latin typeface="Calibri"/>
                <a:cs typeface="Calibri"/>
              </a:rPr>
              <a:t>α) </a:t>
            </a:r>
            <a:r>
              <a:rPr sz="1800" spc="15" dirty="0">
                <a:latin typeface="Calibri"/>
                <a:cs typeface="Calibri"/>
              </a:rPr>
              <a:t> E</a:t>
            </a:r>
            <a:r>
              <a:rPr sz="1800" spc="-35" dirty="0">
                <a:latin typeface="Calibri"/>
                <a:cs typeface="Calibri"/>
              </a:rPr>
              <a:t>x</a:t>
            </a:r>
            <a:r>
              <a:rPr sz="1800" spc="25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ted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30" dirty="0">
                <a:latin typeface="Calibri"/>
                <a:cs typeface="Calibri"/>
              </a:rPr>
              <a:t>i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35" dirty="0">
                <a:latin typeface="Calibri"/>
                <a:cs typeface="Calibri"/>
              </a:rPr>
              <a:t>i</a:t>
            </a:r>
            <a:r>
              <a:rPr sz="1800" spc="25" dirty="0">
                <a:latin typeface="Calibri"/>
                <a:cs typeface="Calibri"/>
              </a:rPr>
              <a:t>n</a:t>
            </a:r>
            <a:r>
              <a:rPr sz="1800" spc="-3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-30" dirty="0">
                <a:latin typeface="Calibri"/>
                <a:cs typeface="Calibri"/>
              </a:rPr>
              <a:t>/</a:t>
            </a:r>
            <a:r>
              <a:rPr sz="1800" spc="25" dirty="0">
                <a:latin typeface="Calibri"/>
                <a:cs typeface="Calibri"/>
              </a:rPr>
              <a:t>d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3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ete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O</a:t>
            </a:r>
            <a:r>
              <a:rPr sz="1800" spc="-25" dirty="0">
                <a:latin typeface="Calibri"/>
                <a:cs typeface="Calibri"/>
              </a:rPr>
              <a:t>(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25" dirty="0">
                <a:latin typeface="Calibri"/>
                <a:cs typeface="Calibri"/>
              </a:rPr>
              <a:t>α</a:t>
            </a:r>
            <a:r>
              <a:rPr sz="180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DCEAE11-E6C4-A959-3B5D-CBCE97C7E9EF}"/>
              </a:ext>
            </a:extLst>
          </p:cNvPr>
          <p:cNvSpPr txBox="1"/>
          <p:nvPr/>
        </p:nvSpPr>
        <p:spPr>
          <a:xfrm>
            <a:off x="1261740" y="5319707"/>
            <a:ext cx="5738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latin typeface="Calibri"/>
                <a:cs typeface="Calibri"/>
              </a:rPr>
              <a:t>T</a:t>
            </a:r>
            <a:r>
              <a:rPr sz="1800" spc="35" dirty="0">
                <a:latin typeface="Calibri"/>
                <a:cs typeface="Calibri"/>
              </a:rPr>
              <a:t>i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20" dirty="0">
                <a:latin typeface="Calibri"/>
                <a:cs typeface="Calibri"/>
              </a:rPr>
              <a:t>o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spc="25" dirty="0">
                <a:latin typeface="Calibri"/>
                <a:cs typeface="Calibri"/>
              </a:rPr>
              <a:t>p</a:t>
            </a:r>
            <a:r>
              <a:rPr sz="1800" spc="3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x</a:t>
            </a:r>
            <a:r>
              <a:rPr sz="1800" spc="3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ty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2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35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35" dirty="0">
                <a:latin typeface="Calibri"/>
                <a:cs typeface="Calibri"/>
              </a:rPr>
              <a:t>i</a:t>
            </a:r>
            <a:r>
              <a:rPr sz="1800" spc="25" dirty="0">
                <a:latin typeface="Calibri"/>
                <a:cs typeface="Calibri"/>
              </a:rPr>
              <a:t>n</a:t>
            </a:r>
            <a:r>
              <a:rPr sz="1800" spc="-3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30" dirty="0">
                <a:latin typeface="Calibri"/>
                <a:cs typeface="Calibri"/>
              </a:rPr>
              <a:t>a</a:t>
            </a:r>
            <a:r>
              <a:rPr sz="1800" spc="25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25" dirty="0">
                <a:latin typeface="Calibri"/>
                <a:cs typeface="Calibri"/>
              </a:rPr>
              <a:t>d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3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ete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3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O</a:t>
            </a:r>
            <a:r>
              <a:rPr sz="1800" spc="-25" dirty="0">
                <a:latin typeface="Calibri"/>
                <a:cs typeface="Calibri"/>
              </a:rPr>
              <a:t>(</a:t>
            </a:r>
            <a:r>
              <a:rPr sz="1800" spc="-1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)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3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α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3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O</a:t>
            </a:r>
            <a:r>
              <a:rPr sz="1800" spc="-30" dirty="0">
                <a:latin typeface="Calibri"/>
                <a:cs typeface="Calibri"/>
              </a:rPr>
              <a:t>(</a:t>
            </a:r>
            <a:r>
              <a:rPr sz="1800" spc="-1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3C875FC8-C373-CC84-C70C-04FDF6812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170706"/>
              </p:ext>
            </p:extLst>
          </p:nvPr>
        </p:nvGraphicFramePr>
        <p:xfrm>
          <a:off x="6878838" y="2690246"/>
          <a:ext cx="1243330" cy="25958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28575">
                      <a:solidFill>
                        <a:srgbClr val="ED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28575">
                      <a:solidFill>
                        <a:srgbClr val="ED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28575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28575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31750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1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>
            <a:extLst>
              <a:ext uri="{FF2B5EF4-FFF2-40B4-BE49-F238E27FC236}">
                <a16:creationId xmlns:a16="http://schemas.microsoft.com/office/drawing/2014/main" id="{B23E2272-76D2-A42F-C569-2CDB4A2DF606}"/>
              </a:ext>
            </a:extLst>
          </p:cNvPr>
          <p:cNvSpPr txBox="1"/>
          <p:nvPr/>
        </p:nvSpPr>
        <p:spPr>
          <a:xfrm>
            <a:off x="8491484" y="3058735"/>
            <a:ext cx="914400" cy="338554"/>
          </a:xfrm>
          <a:prstGeom prst="rect">
            <a:avLst/>
          </a:prstGeom>
          <a:ln w="12700">
            <a:solidFill>
              <a:srgbClr val="40709B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480"/>
              </a:spcBef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A219F6E-7747-7FFD-A42D-A2434656CFB2}"/>
              </a:ext>
            </a:extLst>
          </p:cNvPr>
          <p:cNvSpPr/>
          <p:nvPr/>
        </p:nvSpPr>
        <p:spPr>
          <a:xfrm>
            <a:off x="8002006" y="3216005"/>
            <a:ext cx="489584" cy="111125"/>
          </a:xfrm>
          <a:custGeom>
            <a:avLst/>
            <a:gdLst/>
            <a:ahLst/>
            <a:cxnLst/>
            <a:rect l="l" t="t" r="r" b="b"/>
            <a:pathLst>
              <a:path w="489584" h="111125">
                <a:moveTo>
                  <a:pt x="451697" y="55257"/>
                </a:moveTo>
                <a:lnTo>
                  <a:pt x="385084" y="94122"/>
                </a:lnTo>
                <a:lnTo>
                  <a:pt x="383560" y="99974"/>
                </a:lnTo>
                <a:lnTo>
                  <a:pt x="386212" y="104546"/>
                </a:lnTo>
                <a:lnTo>
                  <a:pt x="388894" y="109118"/>
                </a:lnTo>
                <a:lnTo>
                  <a:pt x="394594" y="110642"/>
                </a:lnTo>
                <a:lnTo>
                  <a:pt x="473185" y="64770"/>
                </a:lnTo>
                <a:lnTo>
                  <a:pt x="470535" y="64770"/>
                </a:lnTo>
                <a:lnTo>
                  <a:pt x="470535" y="63520"/>
                </a:lnTo>
                <a:lnTo>
                  <a:pt x="465856" y="63520"/>
                </a:lnTo>
                <a:lnTo>
                  <a:pt x="451697" y="55257"/>
                </a:lnTo>
                <a:close/>
              </a:path>
              <a:path w="489584" h="111125">
                <a:moveTo>
                  <a:pt x="435355" y="45720"/>
                </a:moveTo>
                <a:lnTo>
                  <a:pt x="0" y="45720"/>
                </a:lnTo>
                <a:lnTo>
                  <a:pt x="0" y="64770"/>
                </a:lnTo>
                <a:lnTo>
                  <a:pt x="435386" y="64770"/>
                </a:lnTo>
                <a:lnTo>
                  <a:pt x="451697" y="55257"/>
                </a:lnTo>
                <a:lnTo>
                  <a:pt x="435355" y="45720"/>
                </a:lnTo>
                <a:close/>
              </a:path>
              <a:path w="489584" h="111125">
                <a:moveTo>
                  <a:pt x="473129" y="45720"/>
                </a:moveTo>
                <a:lnTo>
                  <a:pt x="470535" y="45720"/>
                </a:lnTo>
                <a:lnTo>
                  <a:pt x="470535" y="64770"/>
                </a:lnTo>
                <a:lnTo>
                  <a:pt x="473185" y="64770"/>
                </a:lnTo>
                <a:lnTo>
                  <a:pt x="489478" y="55260"/>
                </a:lnTo>
                <a:lnTo>
                  <a:pt x="473129" y="45720"/>
                </a:lnTo>
                <a:close/>
              </a:path>
              <a:path w="489584" h="111125">
                <a:moveTo>
                  <a:pt x="465856" y="47000"/>
                </a:moveTo>
                <a:lnTo>
                  <a:pt x="451697" y="55257"/>
                </a:lnTo>
                <a:lnTo>
                  <a:pt x="465856" y="63520"/>
                </a:lnTo>
                <a:lnTo>
                  <a:pt x="465856" y="47000"/>
                </a:lnTo>
                <a:close/>
              </a:path>
              <a:path w="489584" h="111125">
                <a:moveTo>
                  <a:pt x="470535" y="47000"/>
                </a:moveTo>
                <a:lnTo>
                  <a:pt x="465856" y="47000"/>
                </a:lnTo>
                <a:lnTo>
                  <a:pt x="465856" y="63520"/>
                </a:lnTo>
                <a:lnTo>
                  <a:pt x="470535" y="63520"/>
                </a:lnTo>
                <a:lnTo>
                  <a:pt x="470535" y="47000"/>
                </a:lnTo>
                <a:close/>
              </a:path>
              <a:path w="489584" h="111125">
                <a:moveTo>
                  <a:pt x="394594" y="0"/>
                </a:moveTo>
                <a:lnTo>
                  <a:pt x="388894" y="1524"/>
                </a:lnTo>
                <a:lnTo>
                  <a:pt x="386212" y="5974"/>
                </a:lnTo>
                <a:lnTo>
                  <a:pt x="383560" y="10546"/>
                </a:lnTo>
                <a:lnTo>
                  <a:pt x="385084" y="16398"/>
                </a:lnTo>
                <a:lnTo>
                  <a:pt x="451697" y="55257"/>
                </a:lnTo>
                <a:lnTo>
                  <a:pt x="465856" y="47000"/>
                </a:lnTo>
                <a:lnTo>
                  <a:pt x="470535" y="47000"/>
                </a:lnTo>
                <a:lnTo>
                  <a:pt x="470535" y="45720"/>
                </a:lnTo>
                <a:lnTo>
                  <a:pt x="473129" y="45720"/>
                </a:lnTo>
                <a:lnTo>
                  <a:pt x="399166" y="2560"/>
                </a:lnTo>
                <a:lnTo>
                  <a:pt x="394594" y="0"/>
                </a:lnTo>
                <a:close/>
              </a:path>
            </a:pathLst>
          </a:custGeom>
          <a:solidFill>
            <a:srgbClr val="5B9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2F145FC-EB9C-9E6C-D587-060A5E9FD966}"/>
              </a:ext>
            </a:extLst>
          </p:cNvPr>
          <p:cNvSpPr txBox="1"/>
          <p:nvPr/>
        </p:nvSpPr>
        <p:spPr>
          <a:xfrm>
            <a:off x="9944617" y="3075986"/>
            <a:ext cx="914400" cy="338554"/>
          </a:xfrm>
          <a:prstGeom prst="rect">
            <a:avLst/>
          </a:prstGeom>
          <a:ln w="12700">
            <a:solidFill>
              <a:srgbClr val="40709B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480"/>
              </a:spcBef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74F8BBC5-06D2-1CEF-A295-513246BFD7D4}"/>
              </a:ext>
            </a:extLst>
          </p:cNvPr>
          <p:cNvSpPr/>
          <p:nvPr/>
        </p:nvSpPr>
        <p:spPr>
          <a:xfrm>
            <a:off x="9455292" y="3233165"/>
            <a:ext cx="489584" cy="111125"/>
          </a:xfrm>
          <a:custGeom>
            <a:avLst/>
            <a:gdLst/>
            <a:ahLst/>
            <a:cxnLst/>
            <a:rect l="l" t="t" r="r" b="b"/>
            <a:pathLst>
              <a:path w="489584" h="111125">
                <a:moveTo>
                  <a:pt x="451671" y="55305"/>
                </a:moveTo>
                <a:lnTo>
                  <a:pt x="389503" y="91561"/>
                </a:lnTo>
                <a:lnTo>
                  <a:pt x="384931" y="94091"/>
                </a:lnTo>
                <a:lnTo>
                  <a:pt x="383407" y="99943"/>
                </a:lnTo>
                <a:lnTo>
                  <a:pt x="386059" y="104515"/>
                </a:lnTo>
                <a:lnTo>
                  <a:pt x="388741" y="109087"/>
                </a:lnTo>
                <a:lnTo>
                  <a:pt x="394563" y="110611"/>
                </a:lnTo>
                <a:lnTo>
                  <a:pt x="399013" y="107960"/>
                </a:lnTo>
                <a:lnTo>
                  <a:pt x="473086" y="64770"/>
                </a:lnTo>
                <a:lnTo>
                  <a:pt x="470535" y="64770"/>
                </a:lnTo>
                <a:lnTo>
                  <a:pt x="470535" y="63489"/>
                </a:lnTo>
                <a:lnTo>
                  <a:pt x="465703" y="63489"/>
                </a:lnTo>
                <a:lnTo>
                  <a:pt x="451671" y="55305"/>
                </a:lnTo>
                <a:close/>
              </a:path>
              <a:path w="489584" h="111125">
                <a:moveTo>
                  <a:pt x="435234" y="45720"/>
                </a:moveTo>
                <a:lnTo>
                  <a:pt x="0" y="45720"/>
                </a:lnTo>
                <a:lnTo>
                  <a:pt x="0" y="64770"/>
                </a:lnTo>
                <a:lnTo>
                  <a:pt x="435443" y="64770"/>
                </a:lnTo>
                <a:lnTo>
                  <a:pt x="451671" y="55305"/>
                </a:lnTo>
                <a:lnTo>
                  <a:pt x="435234" y="45720"/>
                </a:lnTo>
                <a:close/>
              </a:path>
              <a:path w="489584" h="111125">
                <a:moveTo>
                  <a:pt x="473091" y="45720"/>
                </a:moveTo>
                <a:lnTo>
                  <a:pt x="470535" y="45720"/>
                </a:lnTo>
                <a:lnTo>
                  <a:pt x="470535" y="64770"/>
                </a:lnTo>
                <a:lnTo>
                  <a:pt x="473086" y="64770"/>
                </a:lnTo>
                <a:lnTo>
                  <a:pt x="489447" y="55229"/>
                </a:lnTo>
                <a:lnTo>
                  <a:pt x="473091" y="45720"/>
                </a:lnTo>
                <a:close/>
              </a:path>
              <a:path w="489584" h="111125">
                <a:moveTo>
                  <a:pt x="465703" y="47122"/>
                </a:moveTo>
                <a:lnTo>
                  <a:pt x="451671" y="55305"/>
                </a:lnTo>
                <a:lnTo>
                  <a:pt x="465703" y="63489"/>
                </a:lnTo>
                <a:lnTo>
                  <a:pt x="465703" y="47122"/>
                </a:lnTo>
                <a:close/>
              </a:path>
              <a:path w="489584" h="111125">
                <a:moveTo>
                  <a:pt x="470535" y="47122"/>
                </a:moveTo>
                <a:lnTo>
                  <a:pt x="465703" y="47122"/>
                </a:lnTo>
                <a:lnTo>
                  <a:pt x="465703" y="63489"/>
                </a:lnTo>
                <a:lnTo>
                  <a:pt x="470535" y="63489"/>
                </a:lnTo>
                <a:lnTo>
                  <a:pt x="470535" y="47122"/>
                </a:lnTo>
                <a:close/>
              </a:path>
              <a:path w="489584" h="111125">
                <a:moveTo>
                  <a:pt x="394563" y="0"/>
                </a:moveTo>
                <a:lnTo>
                  <a:pt x="388741" y="1524"/>
                </a:lnTo>
                <a:lnTo>
                  <a:pt x="386059" y="6096"/>
                </a:lnTo>
                <a:lnTo>
                  <a:pt x="383407" y="10546"/>
                </a:lnTo>
                <a:lnTo>
                  <a:pt x="384931" y="16367"/>
                </a:lnTo>
                <a:lnTo>
                  <a:pt x="451671" y="55305"/>
                </a:lnTo>
                <a:lnTo>
                  <a:pt x="465703" y="47122"/>
                </a:lnTo>
                <a:lnTo>
                  <a:pt x="470535" y="47122"/>
                </a:lnTo>
                <a:lnTo>
                  <a:pt x="470535" y="45720"/>
                </a:lnTo>
                <a:lnTo>
                  <a:pt x="473091" y="45720"/>
                </a:lnTo>
                <a:lnTo>
                  <a:pt x="399013" y="2651"/>
                </a:lnTo>
                <a:lnTo>
                  <a:pt x="394563" y="0"/>
                </a:lnTo>
                <a:close/>
              </a:path>
            </a:pathLst>
          </a:custGeom>
          <a:solidFill>
            <a:srgbClr val="5B9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81ED30B-F59D-35FD-3CBB-A3CBEB37B859}"/>
              </a:ext>
            </a:extLst>
          </p:cNvPr>
          <p:cNvSpPr txBox="1"/>
          <p:nvPr/>
        </p:nvSpPr>
        <p:spPr>
          <a:xfrm>
            <a:off x="8626723" y="3867970"/>
            <a:ext cx="914400" cy="339194"/>
          </a:xfrm>
          <a:prstGeom prst="rect">
            <a:avLst/>
          </a:prstGeom>
          <a:ln w="12700">
            <a:solidFill>
              <a:srgbClr val="40709B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288925">
              <a:lnSpc>
                <a:spcPct val="100000"/>
              </a:lnSpc>
              <a:spcBef>
                <a:spcPts val="484"/>
              </a:spcBef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A691B7F-5DAB-9468-3CAF-4DA6F9DF839B}"/>
              </a:ext>
            </a:extLst>
          </p:cNvPr>
          <p:cNvSpPr/>
          <p:nvPr/>
        </p:nvSpPr>
        <p:spPr>
          <a:xfrm>
            <a:off x="8137276" y="4025133"/>
            <a:ext cx="489584" cy="111125"/>
          </a:xfrm>
          <a:custGeom>
            <a:avLst/>
            <a:gdLst/>
            <a:ahLst/>
            <a:cxnLst/>
            <a:rect l="l" t="t" r="r" b="b"/>
            <a:pathLst>
              <a:path w="489584" h="111125">
                <a:moveTo>
                  <a:pt x="451558" y="55376"/>
                </a:moveTo>
                <a:lnTo>
                  <a:pt x="389503" y="91571"/>
                </a:lnTo>
                <a:lnTo>
                  <a:pt x="385053" y="94238"/>
                </a:lnTo>
                <a:lnTo>
                  <a:pt x="383529" y="100084"/>
                </a:lnTo>
                <a:lnTo>
                  <a:pt x="386090" y="104656"/>
                </a:lnTo>
                <a:lnTo>
                  <a:pt x="388741" y="109228"/>
                </a:lnTo>
                <a:lnTo>
                  <a:pt x="394594" y="110752"/>
                </a:lnTo>
                <a:lnTo>
                  <a:pt x="473132" y="64901"/>
                </a:lnTo>
                <a:lnTo>
                  <a:pt x="470535" y="64901"/>
                </a:lnTo>
                <a:lnTo>
                  <a:pt x="470535" y="63627"/>
                </a:lnTo>
                <a:lnTo>
                  <a:pt x="465703" y="63627"/>
                </a:lnTo>
                <a:lnTo>
                  <a:pt x="451558" y="55376"/>
                </a:lnTo>
                <a:close/>
              </a:path>
              <a:path w="489584" h="111125">
                <a:moveTo>
                  <a:pt x="435228" y="45851"/>
                </a:moveTo>
                <a:lnTo>
                  <a:pt x="0" y="45851"/>
                </a:lnTo>
                <a:lnTo>
                  <a:pt x="0" y="64901"/>
                </a:lnTo>
                <a:lnTo>
                  <a:pt x="435228" y="64901"/>
                </a:lnTo>
                <a:lnTo>
                  <a:pt x="451558" y="55376"/>
                </a:lnTo>
                <a:lnTo>
                  <a:pt x="435228" y="45851"/>
                </a:lnTo>
                <a:close/>
              </a:path>
              <a:path w="489584" h="111125">
                <a:moveTo>
                  <a:pt x="473133" y="45851"/>
                </a:moveTo>
                <a:lnTo>
                  <a:pt x="470535" y="45851"/>
                </a:lnTo>
                <a:lnTo>
                  <a:pt x="470535" y="64901"/>
                </a:lnTo>
                <a:lnTo>
                  <a:pt x="473132" y="64901"/>
                </a:lnTo>
                <a:lnTo>
                  <a:pt x="489447" y="55376"/>
                </a:lnTo>
                <a:lnTo>
                  <a:pt x="473133" y="45851"/>
                </a:lnTo>
                <a:close/>
              </a:path>
              <a:path w="489584" h="111125">
                <a:moveTo>
                  <a:pt x="465703" y="47125"/>
                </a:moveTo>
                <a:lnTo>
                  <a:pt x="451558" y="55376"/>
                </a:lnTo>
                <a:lnTo>
                  <a:pt x="465703" y="63627"/>
                </a:lnTo>
                <a:lnTo>
                  <a:pt x="465703" y="47125"/>
                </a:lnTo>
                <a:close/>
              </a:path>
              <a:path w="489584" h="111125">
                <a:moveTo>
                  <a:pt x="470535" y="47125"/>
                </a:moveTo>
                <a:lnTo>
                  <a:pt x="465703" y="47125"/>
                </a:lnTo>
                <a:lnTo>
                  <a:pt x="465703" y="63627"/>
                </a:lnTo>
                <a:lnTo>
                  <a:pt x="470535" y="63627"/>
                </a:lnTo>
                <a:lnTo>
                  <a:pt x="470535" y="47125"/>
                </a:lnTo>
                <a:close/>
              </a:path>
              <a:path w="489584" h="111125">
                <a:moveTo>
                  <a:pt x="394594" y="0"/>
                </a:moveTo>
                <a:lnTo>
                  <a:pt x="388741" y="1524"/>
                </a:lnTo>
                <a:lnTo>
                  <a:pt x="386090" y="6096"/>
                </a:lnTo>
                <a:lnTo>
                  <a:pt x="383529" y="10668"/>
                </a:lnTo>
                <a:lnTo>
                  <a:pt x="385053" y="16514"/>
                </a:lnTo>
                <a:lnTo>
                  <a:pt x="389503" y="19181"/>
                </a:lnTo>
                <a:lnTo>
                  <a:pt x="451558" y="55376"/>
                </a:lnTo>
                <a:lnTo>
                  <a:pt x="465703" y="47125"/>
                </a:lnTo>
                <a:lnTo>
                  <a:pt x="470535" y="47125"/>
                </a:lnTo>
                <a:lnTo>
                  <a:pt x="470535" y="45851"/>
                </a:lnTo>
                <a:lnTo>
                  <a:pt x="473133" y="45851"/>
                </a:lnTo>
                <a:lnTo>
                  <a:pt x="394594" y="0"/>
                </a:lnTo>
                <a:close/>
              </a:path>
            </a:pathLst>
          </a:custGeom>
          <a:solidFill>
            <a:srgbClr val="5B9AD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450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064895">
              <a:lnSpc>
                <a:spcPct val="100000"/>
              </a:lnSpc>
              <a:spcBef>
                <a:spcPts val="465"/>
              </a:spcBef>
            </a:pPr>
            <a:r>
              <a:rPr spc="-65" dirty="0"/>
              <a:t>Performance</a:t>
            </a:r>
            <a:r>
              <a:rPr spc="-270" dirty="0"/>
              <a:t> </a:t>
            </a:r>
            <a:r>
              <a:rPr dirty="0"/>
              <a:t>of</a:t>
            </a:r>
            <a:r>
              <a:rPr spc="-180" dirty="0"/>
              <a:t> </a:t>
            </a:r>
            <a:r>
              <a:rPr spc="-25" dirty="0"/>
              <a:t>Chaining: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825544"/>
            <a:ext cx="10515600" cy="4351655"/>
          </a:xfrm>
          <a:custGeom>
            <a:avLst/>
            <a:gdLst/>
            <a:ahLst/>
            <a:cxnLst/>
            <a:rect l="l" t="t" r="r" b="b"/>
            <a:pathLst>
              <a:path w="10515600" h="4351655">
                <a:moveTo>
                  <a:pt x="0" y="4351416"/>
                </a:moveTo>
                <a:lnTo>
                  <a:pt x="10515599" y="4351416"/>
                </a:lnTo>
                <a:lnTo>
                  <a:pt x="10515599" y="0"/>
                </a:lnTo>
                <a:lnTo>
                  <a:pt x="0" y="0"/>
                </a:lnTo>
                <a:lnTo>
                  <a:pt x="0" y="4351416"/>
                </a:lnTo>
                <a:close/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3234" y="921227"/>
            <a:ext cx="8502650" cy="169597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20675" indent="-22987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321310" algn="l"/>
              </a:tabLst>
            </a:pPr>
            <a:r>
              <a:rPr lang="en-US" sz="2000" spc="10" dirty="0">
                <a:latin typeface="Calibri"/>
                <a:cs typeface="Calibri"/>
              </a:rPr>
              <a:t>Let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us</a:t>
            </a:r>
            <a:r>
              <a:rPr lang="en-US" sz="2000" spc="95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consider</a:t>
            </a:r>
            <a:r>
              <a:rPr lang="en-US" sz="2000" spc="130" dirty="0">
                <a:latin typeface="Calibri"/>
                <a:cs typeface="Calibri"/>
              </a:rPr>
              <a:t> </a:t>
            </a:r>
            <a:r>
              <a:rPr lang="en-US" sz="2000" spc="10" dirty="0">
                <a:latin typeface="Calibri"/>
                <a:cs typeface="Calibri"/>
              </a:rPr>
              <a:t>a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simple</a:t>
            </a:r>
            <a:r>
              <a:rPr lang="en-US" sz="2000" spc="1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hash</a:t>
            </a:r>
            <a:r>
              <a:rPr lang="en-US" sz="2000" spc="9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function</a:t>
            </a:r>
            <a:r>
              <a:rPr lang="en-US" sz="2000" spc="245" dirty="0">
                <a:latin typeface="Calibri"/>
                <a:cs typeface="Calibri"/>
              </a:rPr>
              <a:t> </a:t>
            </a:r>
            <a:r>
              <a:rPr lang="en-US" sz="2000" spc="20" dirty="0">
                <a:latin typeface="Calibri"/>
                <a:cs typeface="Calibri"/>
              </a:rPr>
              <a:t>as </a:t>
            </a:r>
            <a:r>
              <a:rPr lang="en-US" sz="2000" spc="-10" dirty="0">
                <a:latin typeface="Calibri"/>
                <a:cs typeface="Calibri"/>
              </a:rPr>
              <a:t>“</a:t>
            </a:r>
            <a:r>
              <a:rPr lang="en-US" sz="2000" b="1" spc="-10" dirty="0">
                <a:latin typeface="Calibri"/>
                <a:cs typeface="Calibri"/>
              </a:rPr>
              <a:t>key</a:t>
            </a:r>
            <a:r>
              <a:rPr lang="en-US" sz="2000" b="1" spc="10" dirty="0">
                <a:latin typeface="Calibri"/>
                <a:cs typeface="Calibri"/>
              </a:rPr>
              <a:t> </a:t>
            </a:r>
            <a:r>
              <a:rPr lang="en-US" sz="2000" b="1" spc="15" dirty="0">
                <a:latin typeface="Calibri"/>
                <a:cs typeface="Calibri"/>
              </a:rPr>
              <a:t>mod</a:t>
            </a:r>
            <a:r>
              <a:rPr lang="en-US" sz="2000" b="1" spc="55" dirty="0">
                <a:latin typeface="Calibri"/>
                <a:cs typeface="Calibri"/>
              </a:rPr>
              <a:t> </a:t>
            </a:r>
            <a:r>
              <a:rPr lang="en-US" sz="2000" b="1" spc="20" dirty="0">
                <a:latin typeface="Calibri"/>
                <a:cs typeface="Calibri"/>
              </a:rPr>
              <a:t>7</a:t>
            </a:r>
            <a:r>
              <a:rPr lang="en-US" sz="2000" spc="20" dirty="0">
                <a:latin typeface="Calibri"/>
                <a:cs typeface="Calibri"/>
              </a:rPr>
              <a:t>” </a:t>
            </a:r>
            <a:r>
              <a:rPr lang="en-US" sz="2000" spc="5" dirty="0">
                <a:latin typeface="Calibri"/>
                <a:cs typeface="Calibri"/>
              </a:rPr>
              <a:t>and</a:t>
            </a:r>
            <a:r>
              <a:rPr lang="en-US" sz="2000" spc="9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sequence</a:t>
            </a:r>
            <a:endParaRPr lang="en-US" sz="2000" dirty="0">
              <a:latin typeface="Calibri"/>
              <a:cs typeface="Calibri"/>
            </a:endParaRPr>
          </a:p>
          <a:p>
            <a:pPr marL="320675">
              <a:lnSpc>
                <a:spcPct val="100000"/>
              </a:lnSpc>
              <a:spcBef>
                <a:spcPts val="755"/>
              </a:spcBef>
            </a:pPr>
            <a:r>
              <a:rPr lang="en-US" sz="2000" spc="25" dirty="0">
                <a:latin typeface="Calibri"/>
                <a:cs typeface="Calibri"/>
              </a:rPr>
              <a:t>of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keys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spc="20" dirty="0">
                <a:latin typeface="Calibri"/>
                <a:cs typeface="Calibri"/>
              </a:rPr>
              <a:t>as</a:t>
            </a:r>
            <a:r>
              <a:rPr lang="en-US" sz="2000" spc="15" dirty="0">
                <a:latin typeface="Calibri"/>
                <a:cs typeface="Calibri"/>
              </a:rPr>
              <a:t> 50,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spc="20" dirty="0">
                <a:latin typeface="Calibri"/>
                <a:cs typeface="Calibri"/>
              </a:rPr>
              <a:t>700,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spc="15" dirty="0">
                <a:latin typeface="Calibri"/>
                <a:cs typeface="Calibri"/>
              </a:rPr>
              <a:t>76,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spc="15" dirty="0">
                <a:latin typeface="Calibri"/>
                <a:cs typeface="Calibri"/>
              </a:rPr>
              <a:t>85,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spc="15" dirty="0">
                <a:latin typeface="Calibri"/>
                <a:cs typeface="Calibri"/>
              </a:rPr>
              <a:t>92,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15" dirty="0">
                <a:latin typeface="Calibri"/>
                <a:cs typeface="Calibri"/>
              </a:rPr>
              <a:t>73,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spc="20" dirty="0">
                <a:latin typeface="Calibri"/>
                <a:cs typeface="Calibri"/>
              </a:rPr>
              <a:t>101.</a:t>
            </a:r>
            <a:endParaRPr lang="en-US" sz="20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endParaRPr lang="en-US" sz="2000" spc="-15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endParaRPr lang="en-US" sz="2000" spc="-15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spc="-15" dirty="0">
                <a:latin typeface="Calibri"/>
                <a:cs typeface="Calibri"/>
              </a:rPr>
              <a:t>Pay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1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20" dirty="0">
                <a:latin typeface="Calibri"/>
                <a:cs typeface="Calibri"/>
              </a:rPr>
              <a:t>Hash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function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and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access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slot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pay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alpha </a:t>
            </a:r>
            <a:r>
              <a:rPr sz="2000" spc="1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20" dirty="0">
                <a:latin typeface="Calibri"/>
                <a:cs typeface="Calibri"/>
              </a:rPr>
              <a:t>go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list.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7213" y="3087938"/>
            <a:ext cx="31654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Number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of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slots </a:t>
            </a:r>
            <a:r>
              <a:rPr sz="1800" spc="15" dirty="0">
                <a:latin typeface="Calibri"/>
                <a:cs typeface="Calibri"/>
              </a:rPr>
              <a:t>in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hash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8181" y="3372676"/>
            <a:ext cx="4431030" cy="166560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sz="1800" dirty="0">
                <a:latin typeface="Calibri"/>
                <a:cs typeface="Calibri"/>
              </a:rPr>
              <a:t>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libri"/>
                <a:cs typeface="Calibri"/>
              </a:rPr>
              <a:t>N</a:t>
            </a:r>
            <a:r>
              <a:rPr sz="1800" spc="25" dirty="0">
                <a:latin typeface="Calibri"/>
                <a:cs typeface="Calibri"/>
              </a:rPr>
              <a:t>u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spc="25" dirty="0">
                <a:latin typeface="Calibri"/>
                <a:cs typeface="Calibri"/>
              </a:rPr>
              <a:t>b</a:t>
            </a:r>
            <a:r>
              <a:rPr sz="1800" dirty="0">
                <a:latin typeface="Calibri"/>
                <a:cs typeface="Calibri"/>
              </a:rPr>
              <a:t>er</a:t>
            </a:r>
            <a:r>
              <a:rPr sz="1800" spc="-18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Calibri"/>
                <a:cs typeface="Calibri"/>
              </a:rPr>
              <a:t>k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5" dirty="0">
                <a:latin typeface="Calibri"/>
                <a:cs typeface="Calibri"/>
              </a:rPr>
              <a:t>y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libri"/>
                <a:cs typeface="Calibri"/>
              </a:rPr>
              <a:t>b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libri"/>
                <a:cs typeface="Calibri"/>
              </a:rPr>
              <a:t>i</a:t>
            </a:r>
            <a:r>
              <a:rPr sz="1800" spc="25" dirty="0">
                <a:latin typeface="Calibri"/>
                <a:cs typeface="Calibri"/>
              </a:rPr>
              <a:t>n</a:t>
            </a:r>
            <a:r>
              <a:rPr sz="1800" spc="-3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ted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libri"/>
                <a:cs typeface="Calibri"/>
              </a:rPr>
              <a:t>h</a:t>
            </a:r>
            <a:r>
              <a:rPr sz="1800" spc="3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30" dirty="0">
                <a:latin typeface="Calibri"/>
                <a:cs typeface="Calibri"/>
              </a:rPr>
              <a:t>a</a:t>
            </a:r>
            <a:r>
              <a:rPr sz="1800" spc="25" dirty="0">
                <a:latin typeface="Calibri"/>
                <a:cs typeface="Calibri"/>
              </a:rPr>
              <a:t>b</a:t>
            </a:r>
            <a:r>
              <a:rPr sz="1800" spc="3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  <a:p>
            <a:pPr marR="23495" algn="ctr">
              <a:lnSpc>
                <a:spcPct val="100000"/>
              </a:lnSpc>
              <a:spcBef>
                <a:spcPts val="1065"/>
              </a:spcBef>
            </a:pPr>
            <a:r>
              <a:rPr sz="1800" spc="10" dirty="0">
                <a:latin typeface="Calibri"/>
                <a:cs typeface="Calibri"/>
              </a:rPr>
              <a:t>Load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factor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α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n/m</a:t>
            </a:r>
            <a:endParaRPr sz="1800">
              <a:latin typeface="Calibri"/>
              <a:cs typeface="Calibri"/>
            </a:endParaRPr>
          </a:p>
          <a:p>
            <a:pPr marL="298450" marR="312420" indent="304800">
              <a:lnSpc>
                <a:spcPct val="1495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Expected time to </a:t>
            </a:r>
            <a:r>
              <a:rPr sz="1800" spc="-10" dirty="0">
                <a:latin typeface="Calibri"/>
                <a:cs typeface="Calibri"/>
              </a:rPr>
              <a:t>search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10" dirty="0">
                <a:latin typeface="Calibri"/>
                <a:cs typeface="Calibri"/>
              </a:rPr>
              <a:t>O(1 </a:t>
            </a:r>
            <a:r>
              <a:rPr sz="1800" dirty="0">
                <a:latin typeface="Calibri"/>
                <a:cs typeface="Calibri"/>
              </a:rPr>
              <a:t>+ </a:t>
            </a:r>
            <a:r>
              <a:rPr sz="1800" spc="10" dirty="0">
                <a:latin typeface="Calibri"/>
                <a:cs typeface="Calibri"/>
              </a:rPr>
              <a:t>α) </a:t>
            </a:r>
            <a:r>
              <a:rPr sz="1800" spc="15" dirty="0">
                <a:latin typeface="Calibri"/>
                <a:cs typeface="Calibri"/>
              </a:rPr>
              <a:t> E</a:t>
            </a:r>
            <a:r>
              <a:rPr sz="1800" spc="-35" dirty="0">
                <a:latin typeface="Calibri"/>
                <a:cs typeface="Calibri"/>
              </a:rPr>
              <a:t>x</a:t>
            </a:r>
            <a:r>
              <a:rPr sz="1800" spc="25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ted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30" dirty="0">
                <a:latin typeface="Calibri"/>
                <a:cs typeface="Calibri"/>
              </a:rPr>
              <a:t>i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35" dirty="0">
                <a:latin typeface="Calibri"/>
                <a:cs typeface="Calibri"/>
              </a:rPr>
              <a:t>i</a:t>
            </a:r>
            <a:r>
              <a:rPr sz="1800" spc="25" dirty="0">
                <a:latin typeface="Calibri"/>
                <a:cs typeface="Calibri"/>
              </a:rPr>
              <a:t>n</a:t>
            </a:r>
            <a:r>
              <a:rPr sz="1800" spc="-3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-30" dirty="0">
                <a:latin typeface="Calibri"/>
                <a:cs typeface="Calibri"/>
              </a:rPr>
              <a:t>/</a:t>
            </a:r>
            <a:r>
              <a:rPr sz="1800" spc="25" dirty="0">
                <a:latin typeface="Calibri"/>
                <a:cs typeface="Calibri"/>
              </a:rPr>
              <a:t>d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3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ete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O</a:t>
            </a:r>
            <a:r>
              <a:rPr sz="1800" spc="-25" dirty="0">
                <a:latin typeface="Calibri"/>
                <a:cs typeface="Calibri"/>
              </a:rPr>
              <a:t>(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25" dirty="0">
                <a:latin typeface="Calibri"/>
                <a:cs typeface="Calibri"/>
              </a:rPr>
              <a:t>α</a:t>
            </a:r>
            <a:r>
              <a:rPr sz="180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1740" y="5319707"/>
            <a:ext cx="5738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latin typeface="Calibri"/>
                <a:cs typeface="Calibri"/>
              </a:rPr>
              <a:t>T</a:t>
            </a:r>
            <a:r>
              <a:rPr sz="1800" spc="35" dirty="0">
                <a:latin typeface="Calibri"/>
                <a:cs typeface="Calibri"/>
              </a:rPr>
              <a:t>i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20" dirty="0">
                <a:latin typeface="Calibri"/>
                <a:cs typeface="Calibri"/>
              </a:rPr>
              <a:t>o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spc="25" dirty="0">
                <a:latin typeface="Calibri"/>
                <a:cs typeface="Calibri"/>
              </a:rPr>
              <a:t>p</a:t>
            </a:r>
            <a:r>
              <a:rPr sz="1800" spc="3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x</a:t>
            </a:r>
            <a:r>
              <a:rPr sz="1800" spc="3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ty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2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35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35" dirty="0">
                <a:latin typeface="Calibri"/>
                <a:cs typeface="Calibri"/>
              </a:rPr>
              <a:t>i</a:t>
            </a:r>
            <a:r>
              <a:rPr sz="1800" spc="25" dirty="0">
                <a:latin typeface="Calibri"/>
                <a:cs typeface="Calibri"/>
              </a:rPr>
              <a:t>n</a:t>
            </a:r>
            <a:r>
              <a:rPr sz="1800" spc="-3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30" dirty="0">
                <a:latin typeface="Calibri"/>
                <a:cs typeface="Calibri"/>
              </a:rPr>
              <a:t>a</a:t>
            </a:r>
            <a:r>
              <a:rPr sz="1800" spc="25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25" dirty="0">
                <a:latin typeface="Calibri"/>
                <a:cs typeface="Calibri"/>
              </a:rPr>
              <a:t>d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3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ete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3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O</a:t>
            </a:r>
            <a:r>
              <a:rPr sz="1800" spc="-25" dirty="0">
                <a:latin typeface="Calibri"/>
                <a:cs typeface="Calibri"/>
              </a:rPr>
              <a:t>(</a:t>
            </a:r>
            <a:r>
              <a:rPr sz="1800" spc="-1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)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3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α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3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O</a:t>
            </a:r>
            <a:r>
              <a:rPr sz="1800" spc="-30" dirty="0">
                <a:latin typeface="Calibri"/>
                <a:cs typeface="Calibri"/>
              </a:rPr>
              <a:t>(</a:t>
            </a:r>
            <a:r>
              <a:rPr sz="1800" spc="-1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878838" y="2690246"/>
          <a:ext cx="1243330" cy="25958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28575">
                      <a:solidFill>
                        <a:srgbClr val="ED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5" dirty="0">
                          <a:latin typeface="Calibri"/>
                          <a:cs typeface="Calibri"/>
                        </a:rPr>
                        <a:t>700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28575">
                      <a:solidFill>
                        <a:srgbClr val="ED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28575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28575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31750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73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1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76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ED7C30"/>
                      </a:solidFill>
                      <a:prstDash val="solid"/>
                    </a:lnL>
                    <a:lnR w="19050">
                      <a:solidFill>
                        <a:srgbClr val="ED7C30"/>
                      </a:solidFill>
                      <a:prstDash val="solid"/>
                    </a:lnR>
                    <a:lnT w="19050">
                      <a:solidFill>
                        <a:srgbClr val="ED7C30"/>
                      </a:solidFill>
                      <a:prstDash val="solid"/>
                    </a:lnT>
                    <a:lnB w="19050">
                      <a:solidFill>
                        <a:srgbClr val="ED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8491484" y="3058735"/>
            <a:ext cx="914400" cy="425450"/>
          </a:xfrm>
          <a:prstGeom prst="rect">
            <a:avLst/>
          </a:prstGeom>
          <a:ln w="12700">
            <a:solidFill>
              <a:srgbClr val="40709B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480"/>
              </a:spcBef>
            </a:pPr>
            <a:r>
              <a:rPr sz="1800" spc="-15" dirty="0">
                <a:latin typeface="Calibri"/>
                <a:cs typeface="Calibri"/>
              </a:rPr>
              <a:t>85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02006" y="3216005"/>
            <a:ext cx="489584" cy="111125"/>
          </a:xfrm>
          <a:custGeom>
            <a:avLst/>
            <a:gdLst/>
            <a:ahLst/>
            <a:cxnLst/>
            <a:rect l="l" t="t" r="r" b="b"/>
            <a:pathLst>
              <a:path w="489584" h="111125">
                <a:moveTo>
                  <a:pt x="451697" y="55257"/>
                </a:moveTo>
                <a:lnTo>
                  <a:pt x="385084" y="94122"/>
                </a:lnTo>
                <a:lnTo>
                  <a:pt x="383560" y="99974"/>
                </a:lnTo>
                <a:lnTo>
                  <a:pt x="386212" y="104546"/>
                </a:lnTo>
                <a:lnTo>
                  <a:pt x="388894" y="109118"/>
                </a:lnTo>
                <a:lnTo>
                  <a:pt x="394594" y="110642"/>
                </a:lnTo>
                <a:lnTo>
                  <a:pt x="473185" y="64770"/>
                </a:lnTo>
                <a:lnTo>
                  <a:pt x="470535" y="64770"/>
                </a:lnTo>
                <a:lnTo>
                  <a:pt x="470535" y="63520"/>
                </a:lnTo>
                <a:lnTo>
                  <a:pt x="465856" y="63520"/>
                </a:lnTo>
                <a:lnTo>
                  <a:pt x="451697" y="55257"/>
                </a:lnTo>
                <a:close/>
              </a:path>
              <a:path w="489584" h="111125">
                <a:moveTo>
                  <a:pt x="435355" y="45720"/>
                </a:moveTo>
                <a:lnTo>
                  <a:pt x="0" y="45720"/>
                </a:lnTo>
                <a:lnTo>
                  <a:pt x="0" y="64770"/>
                </a:lnTo>
                <a:lnTo>
                  <a:pt x="435386" y="64770"/>
                </a:lnTo>
                <a:lnTo>
                  <a:pt x="451697" y="55257"/>
                </a:lnTo>
                <a:lnTo>
                  <a:pt x="435355" y="45720"/>
                </a:lnTo>
                <a:close/>
              </a:path>
              <a:path w="489584" h="111125">
                <a:moveTo>
                  <a:pt x="473129" y="45720"/>
                </a:moveTo>
                <a:lnTo>
                  <a:pt x="470535" y="45720"/>
                </a:lnTo>
                <a:lnTo>
                  <a:pt x="470535" y="64770"/>
                </a:lnTo>
                <a:lnTo>
                  <a:pt x="473185" y="64770"/>
                </a:lnTo>
                <a:lnTo>
                  <a:pt x="489478" y="55260"/>
                </a:lnTo>
                <a:lnTo>
                  <a:pt x="473129" y="45720"/>
                </a:lnTo>
                <a:close/>
              </a:path>
              <a:path w="489584" h="111125">
                <a:moveTo>
                  <a:pt x="465856" y="47000"/>
                </a:moveTo>
                <a:lnTo>
                  <a:pt x="451697" y="55257"/>
                </a:lnTo>
                <a:lnTo>
                  <a:pt x="465856" y="63520"/>
                </a:lnTo>
                <a:lnTo>
                  <a:pt x="465856" y="47000"/>
                </a:lnTo>
                <a:close/>
              </a:path>
              <a:path w="489584" h="111125">
                <a:moveTo>
                  <a:pt x="470535" y="47000"/>
                </a:moveTo>
                <a:lnTo>
                  <a:pt x="465856" y="47000"/>
                </a:lnTo>
                <a:lnTo>
                  <a:pt x="465856" y="63520"/>
                </a:lnTo>
                <a:lnTo>
                  <a:pt x="470535" y="63520"/>
                </a:lnTo>
                <a:lnTo>
                  <a:pt x="470535" y="47000"/>
                </a:lnTo>
                <a:close/>
              </a:path>
              <a:path w="489584" h="111125">
                <a:moveTo>
                  <a:pt x="394594" y="0"/>
                </a:moveTo>
                <a:lnTo>
                  <a:pt x="388894" y="1524"/>
                </a:lnTo>
                <a:lnTo>
                  <a:pt x="386212" y="5974"/>
                </a:lnTo>
                <a:lnTo>
                  <a:pt x="383560" y="10546"/>
                </a:lnTo>
                <a:lnTo>
                  <a:pt x="385084" y="16398"/>
                </a:lnTo>
                <a:lnTo>
                  <a:pt x="451697" y="55257"/>
                </a:lnTo>
                <a:lnTo>
                  <a:pt x="465856" y="47000"/>
                </a:lnTo>
                <a:lnTo>
                  <a:pt x="470535" y="47000"/>
                </a:lnTo>
                <a:lnTo>
                  <a:pt x="470535" y="45720"/>
                </a:lnTo>
                <a:lnTo>
                  <a:pt x="473129" y="45720"/>
                </a:lnTo>
                <a:lnTo>
                  <a:pt x="399166" y="2560"/>
                </a:lnTo>
                <a:lnTo>
                  <a:pt x="394594" y="0"/>
                </a:lnTo>
                <a:close/>
              </a:path>
            </a:pathLst>
          </a:custGeom>
          <a:solidFill>
            <a:srgbClr val="5B9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44617" y="3075986"/>
            <a:ext cx="914400" cy="425450"/>
          </a:xfrm>
          <a:prstGeom prst="rect">
            <a:avLst/>
          </a:prstGeom>
          <a:ln w="12700">
            <a:solidFill>
              <a:srgbClr val="40709B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480"/>
              </a:spcBef>
            </a:pPr>
            <a:r>
              <a:rPr sz="1800" spc="-15" dirty="0">
                <a:latin typeface="Calibri"/>
                <a:cs typeface="Calibri"/>
              </a:rPr>
              <a:t>92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455292" y="3233165"/>
            <a:ext cx="489584" cy="111125"/>
          </a:xfrm>
          <a:custGeom>
            <a:avLst/>
            <a:gdLst/>
            <a:ahLst/>
            <a:cxnLst/>
            <a:rect l="l" t="t" r="r" b="b"/>
            <a:pathLst>
              <a:path w="489584" h="111125">
                <a:moveTo>
                  <a:pt x="451671" y="55305"/>
                </a:moveTo>
                <a:lnTo>
                  <a:pt x="389503" y="91561"/>
                </a:lnTo>
                <a:lnTo>
                  <a:pt x="384931" y="94091"/>
                </a:lnTo>
                <a:lnTo>
                  <a:pt x="383407" y="99943"/>
                </a:lnTo>
                <a:lnTo>
                  <a:pt x="386059" y="104515"/>
                </a:lnTo>
                <a:lnTo>
                  <a:pt x="388741" y="109087"/>
                </a:lnTo>
                <a:lnTo>
                  <a:pt x="394563" y="110611"/>
                </a:lnTo>
                <a:lnTo>
                  <a:pt x="399013" y="107960"/>
                </a:lnTo>
                <a:lnTo>
                  <a:pt x="473086" y="64770"/>
                </a:lnTo>
                <a:lnTo>
                  <a:pt x="470535" y="64770"/>
                </a:lnTo>
                <a:lnTo>
                  <a:pt x="470535" y="63489"/>
                </a:lnTo>
                <a:lnTo>
                  <a:pt x="465703" y="63489"/>
                </a:lnTo>
                <a:lnTo>
                  <a:pt x="451671" y="55305"/>
                </a:lnTo>
                <a:close/>
              </a:path>
              <a:path w="489584" h="111125">
                <a:moveTo>
                  <a:pt x="435234" y="45720"/>
                </a:moveTo>
                <a:lnTo>
                  <a:pt x="0" y="45720"/>
                </a:lnTo>
                <a:lnTo>
                  <a:pt x="0" y="64770"/>
                </a:lnTo>
                <a:lnTo>
                  <a:pt x="435443" y="64770"/>
                </a:lnTo>
                <a:lnTo>
                  <a:pt x="451671" y="55305"/>
                </a:lnTo>
                <a:lnTo>
                  <a:pt x="435234" y="45720"/>
                </a:lnTo>
                <a:close/>
              </a:path>
              <a:path w="489584" h="111125">
                <a:moveTo>
                  <a:pt x="473091" y="45720"/>
                </a:moveTo>
                <a:lnTo>
                  <a:pt x="470535" y="45720"/>
                </a:lnTo>
                <a:lnTo>
                  <a:pt x="470535" y="64770"/>
                </a:lnTo>
                <a:lnTo>
                  <a:pt x="473086" y="64770"/>
                </a:lnTo>
                <a:lnTo>
                  <a:pt x="489447" y="55229"/>
                </a:lnTo>
                <a:lnTo>
                  <a:pt x="473091" y="45720"/>
                </a:lnTo>
                <a:close/>
              </a:path>
              <a:path w="489584" h="111125">
                <a:moveTo>
                  <a:pt x="465703" y="47122"/>
                </a:moveTo>
                <a:lnTo>
                  <a:pt x="451671" y="55305"/>
                </a:lnTo>
                <a:lnTo>
                  <a:pt x="465703" y="63489"/>
                </a:lnTo>
                <a:lnTo>
                  <a:pt x="465703" y="47122"/>
                </a:lnTo>
                <a:close/>
              </a:path>
              <a:path w="489584" h="111125">
                <a:moveTo>
                  <a:pt x="470535" y="47122"/>
                </a:moveTo>
                <a:lnTo>
                  <a:pt x="465703" y="47122"/>
                </a:lnTo>
                <a:lnTo>
                  <a:pt x="465703" y="63489"/>
                </a:lnTo>
                <a:lnTo>
                  <a:pt x="470535" y="63489"/>
                </a:lnTo>
                <a:lnTo>
                  <a:pt x="470535" y="47122"/>
                </a:lnTo>
                <a:close/>
              </a:path>
              <a:path w="489584" h="111125">
                <a:moveTo>
                  <a:pt x="394563" y="0"/>
                </a:moveTo>
                <a:lnTo>
                  <a:pt x="388741" y="1524"/>
                </a:lnTo>
                <a:lnTo>
                  <a:pt x="386059" y="6096"/>
                </a:lnTo>
                <a:lnTo>
                  <a:pt x="383407" y="10546"/>
                </a:lnTo>
                <a:lnTo>
                  <a:pt x="384931" y="16367"/>
                </a:lnTo>
                <a:lnTo>
                  <a:pt x="451671" y="55305"/>
                </a:lnTo>
                <a:lnTo>
                  <a:pt x="465703" y="47122"/>
                </a:lnTo>
                <a:lnTo>
                  <a:pt x="470535" y="47122"/>
                </a:lnTo>
                <a:lnTo>
                  <a:pt x="470535" y="45720"/>
                </a:lnTo>
                <a:lnTo>
                  <a:pt x="473091" y="45720"/>
                </a:lnTo>
                <a:lnTo>
                  <a:pt x="399013" y="2651"/>
                </a:lnTo>
                <a:lnTo>
                  <a:pt x="394563" y="0"/>
                </a:lnTo>
                <a:close/>
              </a:path>
            </a:pathLst>
          </a:custGeom>
          <a:solidFill>
            <a:srgbClr val="5B9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626723" y="3867970"/>
            <a:ext cx="914400" cy="425450"/>
          </a:xfrm>
          <a:prstGeom prst="rect">
            <a:avLst/>
          </a:prstGeom>
          <a:ln w="12700">
            <a:solidFill>
              <a:srgbClr val="40709B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288925">
              <a:lnSpc>
                <a:spcPct val="100000"/>
              </a:lnSpc>
              <a:spcBef>
                <a:spcPts val="484"/>
              </a:spcBef>
            </a:pPr>
            <a:r>
              <a:rPr sz="1800" spc="-15" dirty="0">
                <a:latin typeface="Calibri"/>
                <a:cs typeface="Calibri"/>
              </a:rPr>
              <a:t>101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137276" y="4025133"/>
            <a:ext cx="489584" cy="111125"/>
          </a:xfrm>
          <a:custGeom>
            <a:avLst/>
            <a:gdLst/>
            <a:ahLst/>
            <a:cxnLst/>
            <a:rect l="l" t="t" r="r" b="b"/>
            <a:pathLst>
              <a:path w="489584" h="111125">
                <a:moveTo>
                  <a:pt x="451558" y="55376"/>
                </a:moveTo>
                <a:lnTo>
                  <a:pt x="389503" y="91571"/>
                </a:lnTo>
                <a:lnTo>
                  <a:pt x="385053" y="94238"/>
                </a:lnTo>
                <a:lnTo>
                  <a:pt x="383529" y="100084"/>
                </a:lnTo>
                <a:lnTo>
                  <a:pt x="386090" y="104656"/>
                </a:lnTo>
                <a:lnTo>
                  <a:pt x="388741" y="109228"/>
                </a:lnTo>
                <a:lnTo>
                  <a:pt x="394594" y="110752"/>
                </a:lnTo>
                <a:lnTo>
                  <a:pt x="473132" y="64901"/>
                </a:lnTo>
                <a:lnTo>
                  <a:pt x="470535" y="64901"/>
                </a:lnTo>
                <a:lnTo>
                  <a:pt x="470535" y="63627"/>
                </a:lnTo>
                <a:lnTo>
                  <a:pt x="465703" y="63627"/>
                </a:lnTo>
                <a:lnTo>
                  <a:pt x="451558" y="55376"/>
                </a:lnTo>
                <a:close/>
              </a:path>
              <a:path w="489584" h="111125">
                <a:moveTo>
                  <a:pt x="435228" y="45851"/>
                </a:moveTo>
                <a:lnTo>
                  <a:pt x="0" y="45851"/>
                </a:lnTo>
                <a:lnTo>
                  <a:pt x="0" y="64901"/>
                </a:lnTo>
                <a:lnTo>
                  <a:pt x="435228" y="64901"/>
                </a:lnTo>
                <a:lnTo>
                  <a:pt x="451558" y="55376"/>
                </a:lnTo>
                <a:lnTo>
                  <a:pt x="435228" y="45851"/>
                </a:lnTo>
                <a:close/>
              </a:path>
              <a:path w="489584" h="111125">
                <a:moveTo>
                  <a:pt x="473133" y="45851"/>
                </a:moveTo>
                <a:lnTo>
                  <a:pt x="470535" y="45851"/>
                </a:lnTo>
                <a:lnTo>
                  <a:pt x="470535" y="64901"/>
                </a:lnTo>
                <a:lnTo>
                  <a:pt x="473132" y="64901"/>
                </a:lnTo>
                <a:lnTo>
                  <a:pt x="489447" y="55376"/>
                </a:lnTo>
                <a:lnTo>
                  <a:pt x="473133" y="45851"/>
                </a:lnTo>
                <a:close/>
              </a:path>
              <a:path w="489584" h="111125">
                <a:moveTo>
                  <a:pt x="465703" y="47125"/>
                </a:moveTo>
                <a:lnTo>
                  <a:pt x="451558" y="55376"/>
                </a:lnTo>
                <a:lnTo>
                  <a:pt x="465703" y="63627"/>
                </a:lnTo>
                <a:lnTo>
                  <a:pt x="465703" y="47125"/>
                </a:lnTo>
                <a:close/>
              </a:path>
              <a:path w="489584" h="111125">
                <a:moveTo>
                  <a:pt x="470535" y="47125"/>
                </a:moveTo>
                <a:lnTo>
                  <a:pt x="465703" y="47125"/>
                </a:lnTo>
                <a:lnTo>
                  <a:pt x="465703" y="63627"/>
                </a:lnTo>
                <a:lnTo>
                  <a:pt x="470535" y="63627"/>
                </a:lnTo>
                <a:lnTo>
                  <a:pt x="470535" y="47125"/>
                </a:lnTo>
                <a:close/>
              </a:path>
              <a:path w="489584" h="111125">
                <a:moveTo>
                  <a:pt x="394594" y="0"/>
                </a:moveTo>
                <a:lnTo>
                  <a:pt x="388741" y="1524"/>
                </a:lnTo>
                <a:lnTo>
                  <a:pt x="386090" y="6096"/>
                </a:lnTo>
                <a:lnTo>
                  <a:pt x="383529" y="10668"/>
                </a:lnTo>
                <a:lnTo>
                  <a:pt x="385053" y="16514"/>
                </a:lnTo>
                <a:lnTo>
                  <a:pt x="389503" y="19181"/>
                </a:lnTo>
                <a:lnTo>
                  <a:pt x="451558" y="55376"/>
                </a:lnTo>
                <a:lnTo>
                  <a:pt x="465703" y="47125"/>
                </a:lnTo>
                <a:lnTo>
                  <a:pt x="470535" y="47125"/>
                </a:lnTo>
                <a:lnTo>
                  <a:pt x="470535" y="45851"/>
                </a:lnTo>
                <a:lnTo>
                  <a:pt x="473133" y="45851"/>
                </a:lnTo>
                <a:lnTo>
                  <a:pt x="394594" y="0"/>
                </a:lnTo>
                <a:close/>
              </a:path>
            </a:pathLst>
          </a:custGeom>
          <a:solidFill>
            <a:srgbClr val="5B9AD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465"/>
              </a:spcBef>
            </a:pPr>
            <a:r>
              <a:rPr dirty="0"/>
              <a:t>Open</a:t>
            </a:r>
            <a:r>
              <a:rPr spc="-365" dirty="0"/>
              <a:t> </a:t>
            </a:r>
            <a:r>
              <a:rPr spc="-35" dirty="0"/>
              <a:t>Addressing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825544"/>
            <a:ext cx="10515600" cy="4351655"/>
          </a:xfrm>
          <a:custGeom>
            <a:avLst/>
            <a:gdLst/>
            <a:ahLst/>
            <a:cxnLst/>
            <a:rect l="l" t="t" r="r" b="b"/>
            <a:pathLst>
              <a:path w="10515600" h="4351655">
                <a:moveTo>
                  <a:pt x="0" y="4351416"/>
                </a:moveTo>
                <a:lnTo>
                  <a:pt x="10515599" y="4351416"/>
                </a:lnTo>
                <a:lnTo>
                  <a:pt x="10515599" y="0"/>
                </a:lnTo>
                <a:lnTo>
                  <a:pt x="0" y="0"/>
                </a:lnTo>
                <a:lnTo>
                  <a:pt x="0" y="4351416"/>
                </a:lnTo>
                <a:close/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30271" y="2185595"/>
            <a:ext cx="9629140" cy="246189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R="330835">
              <a:lnSpc>
                <a:spcPts val="3010"/>
              </a:lnSpc>
              <a:spcBef>
                <a:spcPts val="470"/>
              </a:spcBef>
            </a:pPr>
            <a:r>
              <a:rPr sz="2750" spc="-10" dirty="0">
                <a:latin typeface="Calibri"/>
                <a:cs typeface="Calibri"/>
              </a:rPr>
              <a:t>Like separate chaining,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open </a:t>
            </a:r>
            <a:r>
              <a:rPr sz="2750" spc="-15" dirty="0">
                <a:latin typeface="Calibri"/>
                <a:cs typeface="Calibri"/>
              </a:rPr>
              <a:t>addressing</a:t>
            </a:r>
            <a:r>
              <a:rPr sz="2750" spc="-1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is </a:t>
            </a:r>
            <a:r>
              <a:rPr sz="2750" spc="10" dirty="0">
                <a:latin typeface="Calibri"/>
                <a:cs typeface="Calibri"/>
              </a:rPr>
              <a:t>a </a:t>
            </a:r>
            <a:r>
              <a:rPr sz="2750" spc="5" dirty="0">
                <a:latin typeface="Calibri"/>
                <a:cs typeface="Calibri"/>
              </a:rPr>
              <a:t>method </a:t>
            </a:r>
            <a:r>
              <a:rPr sz="2750" spc="-15" dirty="0">
                <a:latin typeface="Calibri"/>
                <a:cs typeface="Calibri"/>
              </a:rPr>
              <a:t>for handling </a:t>
            </a:r>
            <a:r>
              <a:rPr sz="2750" spc="-61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collisions.</a:t>
            </a:r>
            <a:endParaRPr sz="2750" dirty="0">
              <a:latin typeface="Calibri"/>
              <a:cs typeface="Calibri"/>
            </a:endParaRPr>
          </a:p>
          <a:p>
            <a:pPr marR="5080">
              <a:lnSpc>
                <a:spcPct val="120600"/>
              </a:lnSpc>
              <a:spcBef>
                <a:spcPts val="15"/>
              </a:spcBef>
              <a:tabLst>
                <a:tab pos="2993390" algn="l"/>
              </a:tabLst>
            </a:pPr>
            <a:r>
              <a:rPr sz="2750" spc="-5" dirty="0">
                <a:latin typeface="Calibri"/>
                <a:cs typeface="Calibri"/>
              </a:rPr>
              <a:t>In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Open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Addressing,</a:t>
            </a:r>
            <a:r>
              <a:rPr sz="2750" spc="-10" dirty="0">
                <a:latin typeface="Times New Roman"/>
                <a:cs typeface="Times New Roman"/>
              </a:rPr>
              <a:t>	</a:t>
            </a:r>
            <a:r>
              <a:rPr sz="2750" dirty="0">
                <a:latin typeface="Calibri"/>
                <a:cs typeface="Calibri"/>
              </a:rPr>
              <a:t>all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elements</a:t>
            </a:r>
            <a:r>
              <a:rPr sz="2750" spc="24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are</a:t>
            </a:r>
            <a:r>
              <a:rPr sz="2750" spc="-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stored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in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hash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table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45" dirty="0">
                <a:latin typeface="Calibri"/>
                <a:cs typeface="Calibri"/>
              </a:rPr>
              <a:t>itself. </a:t>
            </a:r>
            <a:r>
              <a:rPr sz="2750" spc="-60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So </a:t>
            </a:r>
            <a:r>
              <a:rPr sz="2750" spc="15" dirty="0">
                <a:latin typeface="Calibri"/>
                <a:cs typeface="Calibri"/>
              </a:rPr>
              <a:t>at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any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point,</a:t>
            </a:r>
            <a:r>
              <a:rPr sz="2750" spc="10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size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table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&gt;=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total</a:t>
            </a:r>
            <a:r>
              <a:rPr sz="275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number</a:t>
            </a:r>
            <a:r>
              <a:rPr sz="2750" spc="135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10" dirty="0">
                <a:latin typeface="Calibri"/>
                <a:cs typeface="Calibri"/>
              </a:rPr>
              <a:t>keys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.</a:t>
            </a:r>
            <a:endParaRPr sz="27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10"/>
              </a:spcBef>
              <a:tabLst>
                <a:tab pos="457200" algn="l"/>
              </a:tabLst>
            </a:pPr>
            <a:r>
              <a:rPr sz="2750" spc="15" dirty="0">
                <a:latin typeface="Calibri"/>
                <a:cs typeface="Calibri"/>
              </a:rPr>
              <a:t>1.</a:t>
            </a:r>
            <a:r>
              <a:rPr sz="2750" spc="15" dirty="0">
                <a:latin typeface="Times New Roman"/>
                <a:cs typeface="Times New Roman"/>
              </a:rPr>
              <a:t>	</a:t>
            </a:r>
            <a:r>
              <a:rPr sz="2750" dirty="0">
                <a:latin typeface="Calibri"/>
                <a:cs typeface="Calibri"/>
              </a:rPr>
              <a:t>Linear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Probing</a:t>
            </a:r>
            <a:r>
              <a:rPr lang="en-US" sz="2750" spc="-10" dirty="0">
                <a:latin typeface="Calibri"/>
                <a:cs typeface="Calibri"/>
              </a:rPr>
              <a:t>  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0271" y="4620822"/>
            <a:ext cx="3058795" cy="1304290"/>
          </a:xfrm>
          <a:prstGeom prst="rect">
            <a:avLst/>
          </a:prstGeom>
        </p:spPr>
        <p:txBody>
          <a:bodyPr vert="horz" wrap="square" lIns="0" tIns="232410" rIns="0" bIns="0" rtlCol="0">
            <a:spAutoFit/>
          </a:bodyPr>
          <a:lstStyle/>
          <a:p>
            <a:pPr marL="457200" indent="-457834">
              <a:lnSpc>
                <a:spcPct val="100000"/>
              </a:lnSpc>
              <a:spcBef>
                <a:spcPts val="1830"/>
              </a:spcBef>
              <a:buAutoNum type="arabicPeriod" startAt="2"/>
              <a:tabLst>
                <a:tab pos="457200" algn="l"/>
                <a:tab pos="457834" algn="l"/>
              </a:tabLst>
            </a:pPr>
            <a:r>
              <a:rPr sz="2750" spc="-10" dirty="0">
                <a:latin typeface="Calibri"/>
                <a:cs typeface="Calibri"/>
              </a:rPr>
              <a:t>Quadratic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Probing</a:t>
            </a:r>
            <a:endParaRPr sz="2750">
              <a:latin typeface="Calibri"/>
              <a:cs typeface="Calibri"/>
            </a:endParaRPr>
          </a:p>
          <a:p>
            <a:pPr marL="457200" indent="-457834">
              <a:lnSpc>
                <a:spcPct val="100000"/>
              </a:lnSpc>
              <a:spcBef>
                <a:spcPts val="1730"/>
              </a:spcBef>
              <a:buAutoNum type="arabicPeriod" startAt="2"/>
              <a:tabLst>
                <a:tab pos="457200" algn="l"/>
                <a:tab pos="457834" algn="l"/>
              </a:tabLst>
            </a:pPr>
            <a:r>
              <a:rPr sz="2750" dirty="0">
                <a:latin typeface="Calibri"/>
                <a:cs typeface="Calibri"/>
              </a:rPr>
              <a:t>Double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Hashing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85093" y="4435528"/>
            <a:ext cx="3675379" cy="1200785"/>
          </a:xfrm>
          <a:custGeom>
            <a:avLst/>
            <a:gdLst/>
            <a:ahLst/>
            <a:cxnLst/>
            <a:rect l="l" t="t" r="r" b="b"/>
            <a:pathLst>
              <a:path w="3675379" h="1200785">
                <a:moveTo>
                  <a:pt x="3674760" y="0"/>
                </a:moveTo>
                <a:lnTo>
                  <a:pt x="0" y="0"/>
                </a:lnTo>
                <a:lnTo>
                  <a:pt x="0" y="1200329"/>
                </a:lnTo>
                <a:lnTo>
                  <a:pt x="3674760" y="1200329"/>
                </a:lnTo>
                <a:lnTo>
                  <a:pt x="367476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81095" y="4455412"/>
            <a:ext cx="3411220" cy="1126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4350" indent="-514984">
              <a:lnSpc>
                <a:spcPts val="2865"/>
              </a:lnSpc>
              <a:spcBef>
                <a:spcPts val="105"/>
              </a:spcBef>
              <a:buAutoNum type="arabicPeriod"/>
              <a:tabLst>
                <a:tab pos="514350" algn="l"/>
                <a:tab pos="514984" algn="l"/>
              </a:tabLst>
            </a:pPr>
            <a:r>
              <a:rPr sz="2400" spc="5" dirty="0">
                <a:latin typeface="Calibri"/>
                <a:cs typeface="Calibri"/>
              </a:rPr>
              <a:t>Insert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Student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Record.</a:t>
            </a:r>
            <a:endParaRPr sz="2400" dirty="0">
              <a:latin typeface="Calibri"/>
              <a:cs typeface="Calibri"/>
            </a:endParaRPr>
          </a:p>
          <a:p>
            <a:pPr marL="514350" indent="-514984">
              <a:lnSpc>
                <a:spcPts val="2865"/>
              </a:lnSpc>
              <a:buAutoNum type="arabicPeriod"/>
              <a:tabLst>
                <a:tab pos="514350" algn="l"/>
                <a:tab pos="514984" algn="l"/>
              </a:tabLst>
            </a:pP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Student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Record.</a:t>
            </a:r>
            <a:endParaRPr sz="2400" dirty="0">
              <a:latin typeface="Calibri"/>
              <a:cs typeface="Calibri"/>
            </a:endParaRPr>
          </a:p>
          <a:p>
            <a:pPr marL="514350" indent="-514984">
              <a:lnSpc>
                <a:spcPct val="100000"/>
              </a:lnSpc>
              <a:spcBef>
                <a:spcPts val="50"/>
              </a:spcBef>
              <a:buAutoNum type="arabicPeriod"/>
              <a:tabLst>
                <a:tab pos="514350" algn="l"/>
                <a:tab pos="514984" algn="l"/>
              </a:tabLst>
            </a:pPr>
            <a:r>
              <a:rPr sz="2400" dirty="0">
                <a:latin typeface="Calibri"/>
                <a:cs typeface="Calibri"/>
              </a:rPr>
              <a:t>Delete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Student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Record.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420991" y="4758816"/>
            <a:ext cx="1610360" cy="618490"/>
            <a:chOff x="9420991" y="4758816"/>
            <a:chExt cx="1610360" cy="618490"/>
          </a:xfrm>
        </p:grpSpPr>
        <p:sp>
          <p:nvSpPr>
            <p:cNvPr id="9" name="object 9"/>
            <p:cNvSpPr/>
            <p:nvPr/>
          </p:nvSpPr>
          <p:spPr>
            <a:xfrm>
              <a:off x="9427337" y="4765039"/>
              <a:ext cx="1597660" cy="605790"/>
            </a:xfrm>
            <a:custGeom>
              <a:avLst/>
              <a:gdLst/>
              <a:ahLst/>
              <a:cxnLst/>
              <a:rect l="l" t="t" r="r" b="b"/>
              <a:pathLst>
                <a:path w="1597659" h="605789">
                  <a:moveTo>
                    <a:pt x="1597037" y="0"/>
                  </a:moveTo>
                  <a:lnTo>
                    <a:pt x="1521320" y="0"/>
                  </a:lnTo>
                  <a:lnTo>
                    <a:pt x="1521320" y="76200"/>
                  </a:lnTo>
                  <a:lnTo>
                    <a:pt x="1521320" y="529590"/>
                  </a:lnTo>
                  <a:lnTo>
                    <a:pt x="75679" y="529590"/>
                  </a:lnTo>
                  <a:lnTo>
                    <a:pt x="75679" y="76200"/>
                  </a:lnTo>
                  <a:lnTo>
                    <a:pt x="1521320" y="76200"/>
                  </a:lnTo>
                  <a:lnTo>
                    <a:pt x="152132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0" y="529590"/>
                  </a:lnTo>
                  <a:lnTo>
                    <a:pt x="0" y="605790"/>
                  </a:lnTo>
                  <a:lnTo>
                    <a:pt x="1597037" y="605790"/>
                  </a:lnTo>
                  <a:lnTo>
                    <a:pt x="1597037" y="529856"/>
                  </a:lnTo>
                  <a:lnTo>
                    <a:pt x="1597037" y="529590"/>
                  </a:lnTo>
                  <a:lnTo>
                    <a:pt x="1597037" y="76200"/>
                  </a:lnTo>
                  <a:lnTo>
                    <a:pt x="1597037" y="75819"/>
                  </a:lnTo>
                  <a:lnTo>
                    <a:pt x="159703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427341" y="4765166"/>
              <a:ext cx="1597660" cy="605790"/>
            </a:xfrm>
            <a:custGeom>
              <a:avLst/>
              <a:gdLst/>
              <a:ahLst/>
              <a:cxnLst/>
              <a:rect l="l" t="t" r="r" b="b"/>
              <a:pathLst>
                <a:path w="1597659" h="605789">
                  <a:moveTo>
                    <a:pt x="0" y="0"/>
                  </a:moveTo>
                  <a:lnTo>
                    <a:pt x="1597033" y="0"/>
                  </a:lnTo>
                  <a:lnTo>
                    <a:pt x="1597033" y="605277"/>
                  </a:lnTo>
                  <a:lnTo>
                    <a:pt x="0" y="605277"/>
                  </a:lnTo>
                  <a:lnTo>
                    <a:pt x="0" y="0"/>
                  </a:lnTo>
                  <a:close/>
                </a:path>
                <a:path w="1597659" h="605789">
                  <a:moveTo>
                    <a:pt x="75681" y="529721"/>
                  </a:moveTo>
                  <a:lnTo>
                    <a:pt x="1521314" y="529721"/>
                  </a:lnTo>
                  <a:lnTo>
                    <a:pt x="1521314" y="75687"/>
                  </a:lnTo>
                  <a:lnTo>
                    <a:pt x="75681" y="75687"/>
                  </a:lnTo>
                  <a:lnTo>
                    <a:pt x="75681" y="529721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630798" y="4905690"/>
            <a:ext cx="12122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OPERATIONS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275840">
              <a:lnSpc>
                <a:spcPct val="100000"/>
              </a:lnSpc>
              <a:spcBef>
                <a:spcPts val="465"/>
              </a:spcBef>
            </a:pPr>
            <a:r>
              <a:rPr spc="20" dirty="0"/>
              <a:t>a)</a:t>
            </a:r>
            <a:r>
              <a:rPr spc="-185" dirty="0"/>
              <a:t> </a:t>
            </a:r>
            <a:r>
              <a:rPr spc="-15" dirty="0"/>
              <a:t>Linear</a:t>
            </a:r>
            <a:r>
              <a:rPr spc="-254" dirty="0"/>
              <a:t> </a:t>
            </a:r>
            <a:r>
              <a:rPr spc="-50" dirty="0"/>
              <a:t>Probing: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6762" y="1576298"/>
            <a:ext cx="10515600" cy="5755422"/>
          </a:xfrm>
          <a:prstGeom prst="rect">
            <a:avLst/>
          </a:prstGeom>
          <a:ln w="7619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320675" indent="-229870">
              <a:lnSpc>
                <a:spcPct val="100000"/>
              </a:lnSpc>
              <a:spcBef>
                <a:spcPts val="1820"/>
              </a:spcBef>
              <a:buFont typeface="Arial MT"/>
              <a:buChar char="•"/>
              <a:tabLst>
                <a:tab pos="32131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linear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probing,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linearly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probe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next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slot.</a:t>
            </a:r>
            <a:endParaRPr sz="2400" dirty="0">
              <a:latin typeface="Calibri"/>
              <a:cs typeface="Calibri"/>
            </a:endParaRPr>
          </a:p>
          <a:p>
            <a:pPr marL="320675" indent="-229870">
              <a:lnSpc>
                <a:spcPct val="100000"/>
              </a:lnSpc>
              <a:spcBef>
                <a:spcPts val="1550"/>
              </a:spcBef>
              <a:buFont typeface="Arial MT"/>
              <a:buChar char="•"/>
              <a:tabLst>
                <a:tab pos="321310" algn="l"/>
              </a:tabLst>
            </a:pPr>
            <a:r>
              <a:rPr sz="2400" spc="-10" dirty="0">
                <a:latin typeface="Calibri"/>
                <a:cs typeface="Calibri"/>
              </a:rPr>
              <a:t>Let</a:t>
            </a:r>
            <a:r>
              <a:rPr sz="2400" spc="5" dirty="0">
                <a:latin typeface="Calibri"/>
                <a:cs typeface="Calibri"/>
              </a:rPr>
              <a:t> us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consider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hash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function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“key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mod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11”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and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sequence</a:t>
            </a:r>
            <a:r>
              <a:rPr sz="2400" spc="-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</a:p>
          <a:p>
            <a:pPr marL="368300">
              <a:lnSpc>
                <a:spcPct val="100000"/>
              </a:lnSpc>
              <a:spcBef>
                <a:spcPts val="1625"/>
              </a:spcBef>
            </a:pPr>
            <a:r>
              <a:rPr sz="2400" spc="-20" dirty="0">
                <a:latin typeface="Calibri"/>
                <a:cs typeface="Calibri"/>
              </a:rPr>
              <a:t>keys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7,36,18,62.</a:t>
            </a:r>
            <a:endParaRPr sz="2400" dirty="0">
              <a:latin typeface="Calibri"/>
              <a:cs typeface="Calibri"/>
            </a:endParaRPr>
          </a:p>
          <a:p>
            <a:pPr marL="320675" indent="-229870">
              <a:lnSpc>
                <a:spcPct val="100000"/>
              </a:lnSpc>
              <a:spcBef>
                <a:spcPts val="1550"/>
              </a:spcBef>
              <a:buFont typeface="Arial MT"/>
              <a:buChar char="•"/>
              <a:tabLst>
                <a:tab pos="321310" algn="l"/>
              </a:tabLst>
            </a:pPr>
            <a:r>
              <a:rPr sz="2400" spc="-5" dirty="0">
                <a:latin typeface="Calibri"/>
                <a:cs typeface="Calibri"/>
              </a:rPr>
              <a:t>Hi(x)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(Hash(x)</a:t>
            </a:r>
            <a:r>
              <a:rPr sz="2400" spc="-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i)%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Table</a:t>
            </a:r>
            <a:r>
              <a:rPr sz="2400" spc="-15" dirty="0">
                <a:latin typeface="Calibri"/>
                <a:cs typeface="Calibri"/>
              </a:rPr>
              <a:t> size</a:t>
            </a:r>
            <a:endParaRPr sz="2400" dirty="0">
              <a:latin typeface="Calibri"/>
              <a:cs typeface="Calibri"/>
            </a:endParaRPr>
          </a:p>
          <a:p>
            <a:pPr marL="320675" indent="-229870">
              <a:lnSpc>
                <a:spcPct val="100000"/>
              </a:lnSpc>
              <a:spcBef>
                <a:spcPts val="1630"/>
              </a:spcBef>
              <a:buFont typeface="Arial MT"/>
              <a:buChar char="•"/>
              <a:tabLst>
                <a:tab pos="32131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h0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(Hash(x)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0" dirty="0">
                <a:latin typeface="Calibri"/>
                <a:cs typeface="Calibri"/>
              </a:rPr>
              <a:t> 0)</a:t>
            </a:r>
            <a:r>
              <a:rPr sz="2400" dirty="0">
                <a:latin typeface="Calibri"/>
                <a:cs typeface="Calibri"/>
              </a:rPr>
              <a:t> %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Hash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Table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size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h1.</a:t>
            </a:r>
            <a:endParaRPr sz="2400" dirty="0">
              <a:latin typeface="Calibri"/>
              <a:cs typeface="Calibri"/>
            </a:endParaRPr>
          </a:p>
          <a:p>
            <a:pPr marL="320675" indent="-229870">
              <a:lnSpc>
                <a:spcPct val="100000"/>
              </a:lnSpc>
              <a:spcBef>
                <a:spcPts val="1550"/>
              </a:spcBef>
              <a:buFont typeface="Arial MT"/>
              <a:buChar char="•"/>
              <a:tabLst>
                <a:tab pos="32131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h1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(Hash(x)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0" dirty="0">
                <a:latin typeface="Calibri"/>
                <a:cs typeface="Calibri"/>
              </a:rPr>
              <a:t> 1)</a:t>
            </a:r>
            <a:r>
              <a:rPr sz="2400" dirty="0">
                <a:latin typeface="Calibri"/>
                <a:cs typeface="Calibri"/>
              </a:rPr>
              <a:t> %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Hash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Table</a:t>
            </a:r>
            <a:r>
              <a:rPr sz="2400" spc="-15" dirty="0">
                <a:latin typeface="Calibri"/>
                <a:cs typeface="Calibri"/>
              </a:rPr>
              <a:t> size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h2…….</a:t>
            </a:r>
            <a:endParaRPr lang="en-US" sz="2400" spc="-5" dirty="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2445"/>
              </a:spcBef>
            </a:pPr>
            <a:r>
              <a:rPr lang="en-US" sz="2400" b="1" dirty="0">
                <a:latin typeface="Calibri"/>
                <a:cs typeface="Calibri"/>
              </a:rPr>
              <a:t>Keep</a:t>
            </a:r>
            <a:r>
              <a:rPr lang="en-US" sz="2400" b="1" spc="50" dirty="0">
                <a:latin typeface="Calibri"/>
                <a:cs typeface="Calibri"/>
              </a:rPr>
              <a:t> </a:t>
            </a:r>
            <a:r>
              <a:rPr lang="en-US" sz="2400" b="1" spc="10" dirty="0">
                <a:latin typeface="Calibri"/>
                <a:cs typeface="Calibri"/>
              </a:rPr>
              <a:t>Probing(Trying) </a:t>
            </a:r>
            <a:r>
              <a:rPr lang="en-US" sz="2400" b="1" spc="15" dirty="0">
                <a:latin typeface="Calibri"/>
                <a:cs typeface="Calibri"/>
              </a:rPr>
              <a:t>until</a:t>
            </a:r>
            <a:r>
              <a:rPr lang="en-US" sz="2400" b="1" spc="-35" dirty="0">
                <a:latin typeface="Calibri"/>
                <a:cs typeface="Calibri"/>
              </a:rPr>
              <a:t> </a:t>
            </a:r>
            <a:r>
              <a:rPr lang="en-US" sz="2400" b="1" spc="5" dirty="0">
                <a:latin typeface="Calibri"/>
                <a:cs typeface="Calibri"/>
              </a:rPr>
              <a:t>an</a:t>
            </a:r>
            <a:r>
              <a:rPr lang="en-US" sz="2400" b="1" spc="50" dirty="0">
                <a:latin typeface="Calibri"/>
                <a:cs typeface="Calibri"/>
              </a:rPr>
              <a:t> </a:t>
            </a:r>
            <a:r>
              <a:rPr lang="en-US" sz="2400" b="1" spc="15" dirty="0">
                <a:latin typeface="Calibri"/>
                <a:cs typeface="Calibri"/>
              </a:rPr>
              <a:t>empty</a:t>
            </a:r>
            <a:r>
              <a:rPr lang="en-US" sz="2400" b="1" spc="85" dirty="0">
                <a:latin typeface="Calibri"/>
                <a:cs typeface="Calibri"/>
              </a:rPr>
              <a:t> </a:t>
            </a:r>
            <a:r>
              <a:rPr lang="en-US" sz="2400" b="1" spc="15" dirty="0">
                <a:latin typeface="Calibri"/>
                <a:cs typeface="Calibri"/>
              </a:rPr>
              <a:t>slot</a:t>
            </a:r>
            <a:r>
              <a:rPr lang="en-US" sz="2400" b="1" spc="-15" dirty="0">
                <a:latin typeface="Calibri"/>
                <a:cs typeface="Calibri"/>
              </a:rPr>
              <a:t> </a:t>
            </a:r>
            <a:r>
              <a:rPr lang="en-US" sz="2400" b="1" spc="5" dirty="0">
                <a:latin typeface="Calibri"/>
                <a:cs typeface="Calibri"/>
              </a:rPr>
              <a:t>is</a:t>
            </a:r>
            <a:r>
              <a:rPr lang="en-US" sz="2400" b="1" spc="60" dirty="0">
                <a:latin typeface="Calibri"/>
                <a:cs typeface="Calibri"/>
              </a:rPr>
              <a:t> </a:t>
            </a:r>
            <a:r>
              <a:rPr lang="en-US" sz="2400" b="1" spc="5" dirty="0">
                <a:latin typeface="Calibri"/>
                <a:cs typeface="Calibri"/>
              </a:rPr>
              <a:t>found.</a:t>
            </a:r>
            <a:endParaRPr lang="en-US" sz="2400" dirty="0">
              <a:latin typeface="Calibri"/>
              <a:cs typeface="Calibri"/>
            </a:endParaRPr>
          </a:p>
          <a:p>
            <a:pPr marL="3175" algn="ctr">
              <a:lnSpc>
                <a:spcPct val="100000"/>
              </a:lnSpc>
              <a:spcBef>
                <a:spcPts val="1805"/>
              </a:spcBef>
            </a:pPr>
            <a:r>
              <a:rPr lang="en-US" sz="2400" b="1" spc="5" dirty="0">
                <a:latin typeface="Calibri"/>
                <a:cs typeface="Calibri"/>
              </a:rPr>
              <a:t>Once</a:t>
            </a:r>
            <a:r>
              <a:rPr lang="en-US" sz="2400" b="1" spc="70" dirty="0">
                <a:latin typeface="Calibri"/>
                <a:cs typeface="Calibri"/>
              </a:rPr>
              <a:t> </a:t>
            </a:r>
            <a:r>
              <a:rPr lang="en-US" sz="2400" b="1" spc="5" dirty="0">
                <a:latin typeface="Calibri"/>
                <a:cs typeface="Calibri"/>
              </a:rPr>
              <a:t>an</a:t>
            </a:r>
            <a:r>
              <a:rPr lang="en-US" sz="2400" b="1" spc="55" dirty="0">
                <a:latin typeface="Calibri"/>
                <a:cs typeface="Calibri"/>
              </a:rPr>
              <a:t> </a:t>
            </a:r>
            <a:r>
              <a:rPr lang="en-US" sz="2400" b="1" spc="15" dirty="0">
                <a:latin typeface="Calibri"/>
                <a:cs typeface="Calibri"/>
              </a:rPr>
              <a:t>empty slot</a:t>
            </a:r>
            <a:r>
              <a:rPr lang="en-US" sz="2400" b="1" spc="65" dirty="0">
                <a:latin typeface="Calibri"/>
                <a:cs typeface="Calibri"/>
              </a:rPr>
              <a:t> </a:t>
            </a:r>
            <a:r>
              <a:rPr lang="en-US" sz="2400" b="1" spc="5" dirty="0">
                <a:latin typeface="Calibri"/>
                <a:cs typeface="Calibri"/>
              </a:rPr>
              <a:t>is</a:t>
            </a:r>
            <a:r>
              <a:rPr lang="en-US" sz="2400" b="1" spc="-10" dirty="0">
                <a:latin typeface="Calibri"/>
                <a:cs typeface="Calibri"/>
              </a:rPr>
              <a:t> </a:t>
            </a:r>
            <a:r>
              <a:rPr lang="en-US" sz="2400" b="1" spc="5" dirty="0">
                <a:latin typeface="Calibri"/>
                <a:cs typeface="Calibri"/>
              </a:rPr>
              <a:t>found,</a:t>
            </a:r>
            <a:r>
              <a:rPr lang="en-US" sz="2400" b="1" spc="80" dirty="0">
                <a:latin typeface="Calibri"/>
                <a:cs typeface="Calibri"/>
              </a:rPr>
              <a:t> </a:t>
            </a:r>
            <a:r>
              <a:rPr lang="en-US" sz="2400" b="1" spc="15" dirty="0">
                <a:latin typeface="Calibri"/>
                <a:cs typeface="Calibri"/>
              </a:rPr>
              <a:t>insert</a:t>
            </a:r>
            <a:r>
              <a:rPr lang="en-US" sz="2400" b="1" spc="-10" dirty="0">
                <a:latin typeface="Calibri"/>
                <a:cs typeface="Calibri"/>
              </a:rPr>
              <a:t> </a:t>
            </a:r>
            <a:r>
              <a:rPr lang="en-US" sz="2400" b="1" spc="-30" dirty="0">
                <a:latin typeface="Calibri"/>
                <a:cs typeface="Calibri"/>
              </a:rPr>
              <a:t>key.</a:t>
            </a:r>
            <a:endParaRPr lang="en-US" sz="2400" dirty="0">
              <a:latin typeface="Calibri"/>
              <a:cs typeface="Calibri"/>
            </a:endParaRPr>
          </a:p>
          <a:p>
            <a:pPr marL="320675" indent="-229870">
              <a:lnSpc>
                <a:spcPct val="100000"/>
              </a:lnSpc>
              <a:spcBef>
                <a:spcPts val="1550"/>
              </a:spcBef>
              <a:buFont typeface="Arial MT"/>
              <a:buChar char="•"/>
              <a:tabLst>
                <a:tab pos="321310" algn="l"/>
              </a:tabLst>
            </a:pP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051430" y="674634"/>
          <a:ext cx="1355089" cy="40792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2984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5281178" y="1502514"/>
            <a:ext cx="3553460" cy="462280"/>
          </a:xfrm>
          <a:prstGeom prst="rect">
            <a:avLst/>
          </a:prstGeom>
          <a:solidFill>
            <a:srgbClr val="00AFF0"/>
          </a:solidFill>
        </p:spPr>
        <p:txBody>
          <a:bodyPr vert="horz" wrap="square" lIns="0" tIns="29209" rIns="0" bIns="0" rtlCol="0">
            <a:spAutoFit/>
          </a:bodyPr>
          <a:lstStyle/>
          <a:p>
            <a:pPr marL="715645">
              <a:lnSpc>
                <a:spcPct val="100000"/>
              </a:lnSpc>
              <a:spcBef>
                <a:spcPts val="229"/>
              </a:spcBef>
            </a:pPr>
            <a:r>
              <a:rPr sz="2400" b="1" spc="2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r>
              <a:rPr sz="2400" b="1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7,36,18,62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35545" y="2399978"/>
            <a:ext cx="5215255" cy="1502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445" algn="ctr">
              <a:lnSpc>
                <a:spcPts val="2865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N</a:t>
            </a:r>
            <a:r>
              <a:rPr sz="2400" b="1" spc="20" dirty="0">
                <a:latin typeface="Calibri"/>
                <a:cs typeface="Calibri"/>
              </a:rPr>
              <a:t>O</a:t>
            </a:r>
            <a:r>
              <a:rPr sz="2400" b="1" dirty="0">
                <a:latin typeface="Calibri"/>
                <a:cs typeface="Calibri"/>
              </a:rPr>
              <a:t>.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20" dirty="0">
                <a:latin typeface="Calibri"/>
                <a:cs typeface="Calibri"/>
              </a:rPr>
              <a:t>O</a:t>
            </a:r>
            <a:r>
              <a:rPr sz="2400" b="1" dirty="0">
                <a:latin typeface="Calibri"/>
                <a:cs typeface="Calibri"/>
              </a:rPr>
              <a:t>F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S</a:t>
            </a:r>
            <a:r>
              <a:rPr sz="2400" b="1" spc="-45" dirty="0">
                <a:latin typeface="Calibri"/>
                <a:cs typeface="Calibri"/>
              </a:rPr>
              <a:t>L</a:t>
            </a:r>
            <a:r>
              <a:rPr sz="2400" b="1" spc="-50" dirty="0">
                <a:latin typeface="Calibri"/>
                <a:cs typeface="Calibri"/>
              </a:rPr>
              <a:t>O</a:t>
            </a:r>
            <a:r>
              <a:rPr sz="2400" b="1" spc="5" dirty="0">
                <a:latin typeface="Calibri"/>
                <a:cs typeface="Calibri"/>
              </a:rPr>
              <a:t>T</a:t>
            </a:r>
            <a:r>
              <a:rPr sz="2400" b="1" dirty="0">
                <a:latin typeface="Calibri"/>
                <a:cs typeface="Calibri"/>
              </a:rPr>
              <a:t>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Calibri"/>
                <a:cs typeface="Calibri"/>
              </a:rPr>
              <a:t>&gt;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</a:t>
            </a:r>
            <a:r>
              <a:rPr sz="2400" b="1" spc="20" dirty="0">
                <a:latin typeface="Calibri"/>
                <a:cs typeface="Calibri"/>
              </a:rPr>
              <a:t>O</a:t>
            </a:r>
            <a:r>
              <a:rPr sz="2400" b="1" dirty="0">
                <a:latin typeface="Calibri"/>
                <a:cs typeface="Calibri"/>
              </a:rPr>
              <a:t>.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spc="20" dirty="0">
                <a:latin typeface="Calibri"/>
                <a:cs typeface="Calibri"/>
              </a:rPr>
              <a:t>O</a:t>
            </a:r>
            <a:r>
              <a:rPr sz="2400" b="1" dirty="0">
                <a:latin typeface="Calibri"/>
                <a:cs typeface="Calibri"/>
              </a:rPr>
              <a:t>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b="1" spc="30" dirty="0">
                <a:latin typeface="Calibri"/>
                <a:cs typeface="Calibri"/>
              </a:rPr>
              <a:t>K</a:t>
            </a:r>
            <a:r>
              <a:rPr sz="2400" b="1" spc="20" dirty="0">
                <a:latin typeface="Calibri"/>
                <a:cs typeface="Calibri"/>
              </a:rPr>
              <a:t>E</a:t>
            </a:r>
            <a:r>
              <a:rPr sz="2400" b="1" spc="25" dirty="0">
                <a:latin typeface="Calibri"/>
                <a:cs typeface="Calibri"/>
              </a:rPr>
              <a:t>Y</a:t>
            </a:r>
            <a:r>
              <a:rPr sz="2400" b="1" dirty="0">
                <a:latin typeface="Calibri"/>
                <a:cs typeface="Calibri"/>
              </a:rPr>
              <a:t>S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?</a:t>
            </a:r>
            <a:endParaRPr sz="2400" dirty="0">
              <a:latin typeface="Calibri"/>
              <a:cs typeface="Calibri"/>
            </a:endParaRPr>
          </a:p>
          <a:p>
            <a:pPr algn="ctr">
              <a:lnSpc>
                <a:spcPts val="2865"/>
              </a:lnSpc>
            </a:pPr>
            <a:r>
              <a:rPr sz="2400" b="1" spc="-10" dirty="0">
                <a:latin typeface="Calibri"/>
                <a:cs typeface="Calibri"/>
              </a:rPr>
              <a:t>11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&gt;</a:t>
            </a:r>
            <a:r>
              <a:rPr sz="2400" b="1" spc="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4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(YES)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74867" y="5471472"/>
            <a:ext cx="446405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dirty="0">
                <a:latin typeface="Calibri"/>
                <a:cs typeface="Calibri"/>
              </a:rPr>
              <a:t>Linear</a:t>
            </a:r>
            <a:r>
              <a:rPr sz="3600" b="1" spc="-1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Probing</a:t>
            </a:r>
            <a:r>
              <a:rPr sz="3600" b="1" spc="-5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-</a:t>
            </a:r>
            <a:r>
              <a:rPr sz="3600" b="1" spc="-6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INSERT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B0A17C-C121-4EDA-929A-60A16A6F4133}"/>
              </a:ext>
            </a:extLst>
          </p:cNvPr>
          <p:cNvSpPr txBox="1"/>
          <p:nvPr/>
        </p:nvSpPr>
        <p:spPr>
          <a:xfrm>
            <a:off x="9400142" y="1502514"/>
            <a:ext cx="6196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20" dirty="0">
                <a:latin typeface="Calibri"/>
                <a:cs typeface="Calibri"/>
              </a:rPr>
              <a:t>“key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spc="10" dirty="0">
                <a:latin typeface="Calibri"/>
                <a:cs typeface="Calibri"/>
              </a:rPr>
              <a:t>mod</a:t>
            </a:r>
            <a:r>
              <a:rPr lang="en-US" sz="1800" spc="20" dirty="0">
                <a:latin typeface="Calibri"/>
                <a:cs typeface="Calibri"/>
              </a:rPr>
              <a:t> </a:t>
            </a:r>
            <a:r>
              <a:rPr lang="en-US" sz="1800" spc="-15" dirty="0">
                <a:latin typeface="Calibri"/>
                <a:cs typeface="Calibri"/>
              </a:rPr>
              <a:t>11” hash function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7451" y="1316324"/>
            <a:ext cx="3553460" cy="462280"/>
          </a:xfrm>
          <a:prstGeom prst="rect">
            <a:avLst/>
          </a:prstGeom>
          <a:solidFill>
            <a:srgbClr val="00AFF0"/>
          </a:solidFill>
        </p:spPr>
        <p:txBody>
          <a:bodyPr vert="horz" wrap="square" lIns="0" tIns="28575" rIns="0" bIns="0" rtlCol="0">
            <a:spAutoFit/>
          </a:bodyPr>
          <a:lstStyle/>
          <a:p>
            <a:pPr marL="712470">
              <a:lnSpc>
                <a:spcPct val="100000"/>
              </a:lnSpc>
              <a:spcBef>
                <a:spcPts val="225"/>
              </a:spcBef>
            </a:pPr>
            <a:r>
              <a:rPr sz="2400" b="1" spc="2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r>
              <a:rPr sz="2400" b="1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7,36,</a:t>
            </a:r>
            <a:r>
              <a:rPr sz="2400" b="1" spc="-20" dirty="0">
                <a:latin typeface="Calibri"/>
                <a:cs typeface="Calibri"/>
              </a:rPr>
              <a:t>18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,62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4255" y="451368"/>
            <a:ext cx="979169" cy="385445"/>
            <a:chOff x="354255" y="451368"/>
            <a:chExt cx="979169" cy="385445"/>
          </a:xfrm>
        </p:grpSpPr>
        <p:sp>
          <p:nvSpPr>
            <p:cNvPr id="4" name="object 4"/>
            <p:cNvSpPr/>
            <p:nvPr/>
          </p:nvSpPr>
          <p:spPr>
            <a:xfrm>
              <a:off x="360605" y="457718"/>
              <a:ext cx="966469" cy="372745"/>
            </a:xfrm>
            <a:custGeom>
              <a:avLst/>
              <a:gdLst/>
              <a:ahLst/>
              <a:cxnLst/>
              <a:rect l="l" t="t" r="r" b="b"/>
              <a:pathLst>
                <a:path w="966469" h="372744">
                  <a:moveTo>
                    <a:pt x="903863" y="0"/>
                  </a:moveTo>
                  <a:lnTo>
                    <a:pt x="62066" y="0"/>
                  </a:lnTo>
                  <a:lnTo>
                    <a:pt x="37907" y="4879"/>
                  </a:lnTo>
                  <a:lnTo>
                    <a:pt x="18179" y="18185"/>
                  </a:lnTo>
                  <a:lnTo>
                    <a:pt x="4877" y="37920"/>
                  </a:lnTo>
                  <a:lnTo>
                    <a:pt x="0" y="62087"/>
                  </a:lnTo>
                  <a:lnTo>
                    <a:pt x="0" y="310377"/>
                  </a:lnTo>
                  <a:lnTo>
                    <a:pt x="4877" y="334526"/>
                  </a:lnTo>
                  <a:lnTo>
                    <a:pt x="18179" y="354219"/>
                  </a:lnTo>
                  <a:lnTo>
                    <a:pt x="37907" y="367483"/>
                  </a:lnTo>
                  <a:lnTo>
                    <a:pt x="62066" y="372343"/>
                  </a:lnTo>
                  <a:lnTo>
                    <a:pt x="903863" y="372343"/>
                  </a:lnTo>
                  <a:lnTo>
                    <a:pt x="927997" y="367483"/>
                  </a:lnTo>
                  <a:lnTo>
                    <a:pt x="947719" y="354219"/>
                  </a:lnTo>
                  <a:lnTo>
                    <a:pt x="961024" y="334526"/>
                  </a:lnTo>
                  <a:lnTo>
                    <a:pt x="965905" y="310377"/>
                  </a:lnTo>
                  <a:lnTo>
                    <a:pt x="965905" y="62087"/>
                  </a:lnTo>
                  <a:lnTo>
                    <a:pt x="961024" y="37920"/>
                  </a:lnTo>
                  <a:lnTo>
                    <a:pt x="947719" y="18185"/>
                  </a:lnTo>
                  <a:lnTo>
                    <a:pt x="927997" y="4879"/>
                  </a:lnTo>
                  <a:lnTo>
                    <a:pt x="90386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0605" y="457718"/>
              <a:ext cx="966469" cy="372745"/>
            </a:xfrm>
            <a:custGeom>
              <a:avLst/>
              <a:gdLst/>
              <a:ahLst/>
              <a:cxnLst/>
              <a:rect l="l" t="t" r="r" b="b"/>
              <a:pathLst>
                <a:path w="966469" h="372744">
                  <a:moveTo>
                    <a:pt x="0" y="62087"/>
                  </a:moveTo>
                  <a:lnTo>
                    <a:pt x="4877" y="37920"/>
                  </a:lnTo>
                  <a:lnTo>
                    <a:pt x="18179" y="18185"/>
                  </a:lnTo>
                  <a:lnTo>
                    <a:pt x="37907" y="4879"/>
                  </a:lnTo>
                  <a:lnTo>
                    <a:pt x="62066" y="0"/>
                  </a:lnTo>
                  <a:lnTo>
                    <a:pt x="903863" y="0"/>
                  </a:lnTo>
                  <a:lnTo>
                    <a:pt x="927997" y="4879"/>
                  </a:lnTo>
                  <a:lnTo>
                    <a:pt x="947719" y="18185"/>
                  </a:lnTo>
                  <a:lnTo>
                    <a:pt x="961024" y="37920"/>
                  </a:lnTo>
                  <a:lnTo>
                    <a:pt x="965905" y="62087"/>
                  </a:lnTo>
                  <a:lnTo>
                    <a:pt x="965905" y="310377"/>
                  </a:lnTo>
                  <a:lnTo>
                    <a:pt x="961024" y="334526"/>
                  </a:lnTo>
                  <a:lnTo>
                    <a:pt x="947719" y="354219"/>
                  </a:lnTo>
                  <a:lnTo>
                    <a:pt x="927997" y="367483"/>
                  </a:lnTo>
                  <a:lnTo>
                    <a:pt x="903863" y="372343"/>
                  </a:lnTo>
                  <a:lnTo>
                    <a:pt x="62066" y="372343"/>
                  </a:lnTo>
                  <a:lnTo>
                    <a:pt x="37907" y="367483"/>
                  </a:lnTo>
                  <a:lnTo>
                    <a:pt x="18179" y="354219"/>
                  </a:lnTo>
                  <a:lnTo>
                    <a:pt x="4877" y="334526"/>
                  </a:lnTo>
                  <a:lnTo>
                    <a:pt x="0" y="310377"/>
                  </a:lnTo>
                  <a:lnTo>
                    <a:pt x="0" y="62087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96256" y="475673"/>
            <a:ext cx="6794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latin typeface="Calibri"/>
                <a:cs typeface="Calibri"/>
              </a:rPr>
              <a:t>E</a:t>
            </a:r>
            <a:r>
              <a:rPr sz="1800" spc="30" dirty="0">
                <a:latin typeface="Calibri"/>
                <a:cs typeface="Calibri"/>
              </a:rPr>
              <a:t>M</a:t>
            </a:r>
            <a:r>
              <a:rPr sz="1800" spc="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Y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836927" y="451368"/>
            <a:ext cx="1363980" cy="385445"/>
            <a:chOff x="1836927" y="451368"/>
            <a:chExt cx="1363980" cy="385445"/>
          </a:xfrm>
        </p:grpSpPr>
        <p:sp>
          <p:nvSpPr>
            <p:cNvPr id="8" name="object 8"/>
            <p:cNvSpPr/>
            <p:nvPr/>
          </p:nvSpPr>
          <p:spPr>
            <a:xfrm>
              <a:off x="1843277" y="457718"/>
              <a:ext cx="1351280" cy="372745"/>
            </a:xfrm>
            <a:custGeom>
              <a:avLst/>
              <a:gdLst/>
              <a:ahLst/>
              <a:cxnLst/>
              <a:rect l="l" t="t" r="r" b="b"/>
              <a:pathLst>
                <a:path w="1351280" h="372744">
                  <a:moveTo>
                    <a:pt x="1288663" y="0"/>
                  </a:moveTo>
                  <a:lnTo>
                    <a:pt x="62102" y="0"/>
                  </a:lnTo>
                  <a:lnTo>
                    <a:pt x="37933" y="4879"/>
                  </a:lnTo>
                  <a:lnTo>
                    <a:pt x="18192" y="18185"/>
                  </a:lnTo>
                  <a:lnTo>
                    <a:pt x="4881" y="37920"/>
                  </a:lnTo>
                  <a:lnTo>
                    <a:pt x="0" y="62087"/>
                  </a:lnTo>
                  <a:lnTo>
                    <a:pt x="0" y="310377"/>
                  </a:lnTo>
                  <a:lnTo>
                    <a:pt x="4881" y="334526"/>
                  </a:lnTo>
                  <a:lnTo>
                    <a:pt x="18192" y="354219"/>
                  </a:lnTo>
                  <a:lnTo>
                    <a:pt x="37933" y="367483"/>
                  </a:lnTo>
                  <a:lnTo>
                    <a:pt x="62102" y="372343"/>
                  </a:lnTo>
                  <a:lnTo>
                    <a:pt x="1288663" y="372343"/>
                  </a:lnTo>
                  <a:lnTo>
                    <a:pt x="1312816" y="367483"/>
                  </a:lnTo>
                  <a:lnTo>
                    <a:pt x="1332520" y="354219"/>
                  </a:lnTo>
                  <a:lnTo>
                    <a:pt x="1345795" y="334526"/>
                  </a:lnTo>
                  <a:lnTo>
                    <a:pt x="1350660" y="310377"/>
                  </a:lnTo>
                  <a:lnTo>
                    <a:pt x="1350660" y="62087"/>
                  </a:lnTo>
                  <a:lnTo>
                    <a:pt x="1345795" y="37920"/>
                  </a:lnTo>
                  <a:lnTo>
                    <a:pt x="1332520" y="18185"/>
                  </a:lnTo>
                  <a:lnTo>
                    <a:pt x="1312816" y="4879"/>
                  </a:lnTo>
                  <a:lnTo>
                    <a:pt x="1288663" y="0"/>
                  </a:lnTo>
                  <a:close/>
                </a:path>
              </a:pathLst>
            </a:custGeom>
            <a:solidFill>
              <a:srgbClr val="91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43277" y="457718"/>
              <a:ext cx="1351280" cy="372745"/>
            </a:xfrm>
            <a:custGeom>
              <a:avLst/>
              <a:gdLst/>
              <a:ahLst/>
              <a:cxnLst/>
              <a:rect l="l" t="t" r="r" b="b"/>
              <a:pathLst>
                <a:path w="1351280" h="372744">
                  <a:moveTo>
                    <a:pt x="0" y="62087"/>
                  </a:moveTo>
                  <a:lnTo>
                    <a:pt x="4881" y="37920"/>
                  </a:lnTo>
                  <a:lnTo>
                    <a:pt x="18192" y="18185"/>
                  </a:lnTo>
                  <a:lnTo>
                    <a:pt x="37933" y="4879"/>
                  </a:lnTo>
                  <a:lnTo>
                    <a:pt x="62102" y="0"/>
                  </a:lnTo>
                  <a:lnTo>
                    <a:pt x="1288663" y="0"/>
                  </a:lnTo>
                  <a:lnTo>
                    <a:pt x="1312816" y="4879"/>
                  </a:lnTo>
                  <a:lnTo>
                    <a:pt x="1332520" y="18185"/>
                  </a:lnTo>
                  <a:lnTo>
                    <a:pt x="1345795" y="37920"/>
                  </a:lnTo>
                  <a:lnTo>
                    <a:pt x="1350660" y="62087"/>
                  </a:lnTo>
                  <a:lnTo>
                    <a:pt x="1350660" y="310377"/>
                  </a:lnTo>
                  <a:lnTo>
                    <a:pt x="1345795" y="334526"/>
                  </a:lnTo>
                  <a:lnTo>
                    <a:pt x="1332520" y="354219"/>
                  </a:lnTo>
                  <a:lnTo>
                    <a:pt x="1312816" y="367483"/>
                  </a:lnTo>
                  <a:lnTo>
                    <a:pt x="1288663" y="372343"/>
                  </a:lnTo>
                  <a:lnTo>
                    <a:pt x="62102" y="372343"/>
                  </a:lnTo>
                  <a:lnTo>
                    <a:pt x="37933" y="367483"/>
                  </a:lnTo>
                  <a:lnTo>
                    <a:pt x="18192" y="354219"/>
                  </a:lnTo>
                  <a:lnTo>
                    <a:pt x="4881" y="334526"/>
                  </a:lnTo>
                  <a:lnTo>
                    <a:pt x="0" y="310377"/>
                  </a:lnTo>
                  <a:lnTo>
                    <a:pt x="0" y="62087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18666" y="475673"/>
            <a:ext cx="9969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OCCUPIED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42268" y="451368"/>
            <a:ext cx="1354455" cy="385445"/>
            <a:chOff x="3842268" y="451368"/>
            <a:chExt cx="1354455" cy="385445"/>
          </a:xfrm>
        </p:grpSpPr>
        <p:sp>
          <p:nvSpPr>
            <p:cNvPr id="12" name="object 12"/>
            <p:cNvSpPr/>
            <p:nvPr/>
          </p:nvSpPr>
          <p:spPr>
            <a:xfrm>
              <a:off x="3848618" y="457718"/>
              <a:ext cx="1341755" cy="372745"/>
            </a:xfrm>
            <a:custGeom>
              <a:avLst/>
              <a:gdLst/>
              <a:ahLst/>
              <a:cxnLst/>
              <a:rect l="l" t="t" r="r" b="b"/>
              <a:pathLst>
                <a:path w="1341754" h="372744">
                  <a:moveTo>
                    <a:pt x="1279519" y="0"/>
                  </a:moveTo>
                  <a:lnTo>
                    <a:pt x="62087" y="0"/>
                  </a:lnTo>
                  <a:lnTo>
                    <a:pt x="37920" y="4879"/>
                  </a:lnTo>
                  <a:lnTo>
                    <a:pt x="18185" y="18185"/>
                  </a:lnTo>
                  <a:lnTo>
                    <a:pt x="4879" y="37920"/>
                  </a:lnTo>
                  <a:lnTo>
                    <a:pt x="0" y="62087"/>
                  </a:lnTo>
                  <a:lnTo>
                    <a:pt x="0" y="310377"/>
                  </a:lnTo>
                  <a:lnTo>
                    <a:pt x="4879" y="334526"/>
                  </a:lnTo>
                  <a:lnTo>
                    <a:pt x="18185" y="354219"/>
                  </a:lnTo>
                  <a:lnTo>
                    <a:pt x="37920" y="367483"/>
                  </a:lnTo>
                  <a:lnTo>
                    <a:pt x="62087" y="372343"/>
                  </a:lnTo>
                  <a:lnTo>
                    <a:pt x="1279519" y="372343"/>
                  </a:lnTo>
                  <a:lnTo>
                    <a:pt x="1303687" y="367483"/>
                  </a:lnTo>
                  <a:lnTo>
                    <a:pt x="1323422" y="354219"/>
                  </a:lnTo>
                  <a:lnTo>
                    <a:pt x="1336728" y="334526"/>
                  </a:lnTo>
                  <a:lnTo>
                    <a:pt x="1341607" y="310377"/>
                  </a:lnTo>
                  <a:lnTo>
                    <a:pt x="1341607" y="62087"/>
                  </a:lnTo>
                  <a:lnTo>
                    <a:pt x="1336728" y="37920"/>
                  </a:lnTo>
                  <a:lnTo>
                    <a:pt x="1323422" y="18185"/>
                  </a:lnTo>
                  <a:lnTo>
                    <a:pt x="1303687" y="4879"/>
                  </a:lnTo>
                  <a:lnTo>
                    <a:pt x="1279519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48618" y="457718"/>
              <a:ext cx="1341755" cy="372745"/>
            </a:xfrm>
            <a:custGeom>
              <a:avLst/>
              <a:gdLst/>
              <a:ahLst/>
              <a:cxnLst/>
              <a:rect l="l" t="t" r="r" b="b"/>
              <a:pathLst>
                <a:path w="1341754" h="372744">
                  <a:moveTo>
                    <a:pt x="0" y="62087"/>
                  </a:moveTo>
                  <a:lnTo>
                    <a:pt x="4879" y="37920"/>
                  </a:lnTo>
                  <a:lnTo>
                    <a:pt x="18185" y="18185"/>
                  </a:lnTo>
                  <a:lnTo>
                    <a:pt x="37920" y="4879"/>
                  </a:lnTo>
                  <a:lnTo>
                    <a:pt x="62087" y="0"/>
                  </a:lnTo>
                  <a:lnTo>
                    <a:pt x="1279519" y="0"/>
                  </a:lnTo>
                  <a:lnTo>
                    <a:pt x="1303687" y="4879"/>
                  </a:lnTo>
                  <a:lnTo>
                    <a:pt x="1323422" y="18185"/>
                  </a:lnTo>
                  <a:lnTo>
                    <a:pt x="1336728" y="37920"/>
                  </a:lnTo>
                  <a:lnTo>
                    <a:pt x="1341607" y="62087"/>
                  </a:lnTo>
                  <a:lnTo>
                    <a:pt x="1341607" y="310377"/>
                  </a:lnTo>
                  <a:lnTo>
                    <a:pt x="1336728" y="334526"/>
                  </a:lnTo>
                  <a:lnTo>
                    <a:pt x="1323422" y="354219"/>
                  </a:lnTo>
                  <a:lnTo>
                    <a:pt x="1303687" y="367483"/>
                  </a:lnTo>
                  <a:lnTo>
                    <a:pt x="1279519" y="372343"/>
                  </a:lnTo>
                  <a:lnTo>
                    <a:pt x="62087" y="372343"/>
                  </a:lnTo>
                  <a:lnTo>
                    <a:pt x="37920" y="367483"/>
                  </a:lnTo>
                  <a:lnTo>
                    <a:pt x="18185" y="354219"/>
                  </a:lnTo>
                  <a:lnTo>
                    <a:pt x="4879" y="334526"/>
                  </a:lnTo>
                  <a:lnTo>
                    <a:pt x="0" y="310377"/>
                  </a:lnTo>
                  <a:lnTo>
                    <a:pt x="0" y="62087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092324" y="475673"/>
            <a:ext cx="8604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DELETED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5494" y="2213669"/>
            <a:ext cx="2904490" cy="112585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666750">
              <a:lnSpc>
                <a:spcPts val="2850"/>
              </a:lnSpc>
              <a:spcBef>
                <a:spcPts val="220"/>
              </a:spcBef>
            </a:pPr>
            <a:r>
              <a:rPr sz="2400" b="1" dirty="0">
                <a:latin typeface="Calibri"/>
                <a:cs typeface="Calibri"/>
              </a:rPr>
              <a:t>INSERT(18) : 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h0(18)</a:t>
            </a:r>
            <a:r>
              <a:rPr sz="2400" b="1" spc="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18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mod</a:t>
            </a:r>
            <a:r>
              <a:rPr sz="2400" b="1" spc="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11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7</a:t>
            </a:r>
            <a:endParaRPr sz="2400" dirty="0">
              <a:latin typeface="Calibri"/>
              <a:cs typeface="Calibri"/>
            </a:endParaRPr>
          </a:p>
          <a:p>
            <a:pPr marL="460375">
              <a:lnSpc>
                <a:spcPts val="2840"/>
              </a:lnSpc>
            </a:pPr>
            <a:r>
              <a:rPr sz="2400" b="1" spc="-10" dirty="0">
                <a:latin typeface="Calibri"/>
                <a:cs typeface="Calibri"/>
              </a:rPr>
              <a:t>(Already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45" dirty="0">
                <a:latin typeface="Calibri"/>
                <a:cs typeface="Calibri"/>
              </a:rPr>
              <a:t>Taken)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0367" y="3682426"/>
            <a:ext cx="3502025" cy="75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65"/>
              </a:lnSpc>
              <a:spcBef>
                <a:spcPts val="100"/>
              </a:spcBef>
            </a:pPr>
            <a:r>
              <a:rPr sz="2400" b="1" spc="-15" dirty="0">
                <a:latin typeface="Calibri"/>
                <a:cs typeface="Calibri"/>
              </a:rPr>
              <a:t>h1(18)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((18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+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1)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11)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  <a:p>
            <a:pPr marL="12700" algn="ctr">
              <a:lnSpc>
                <a:spcPts val="2865"/>
              </a:lnSpc>
            </a:pPr>
            <a:r>
              <a:rPr sz="2400" b="1" spc="-10" dirty="0">
                <a:latin typeface="Calibri"/>
                <a:cs typeface="Calibri"/>
              </a:rPr>
              <a:t>19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mod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11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8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33781" y="2513636"/>
            <a:ext cx="2903220" cy="75438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666750">
              <a:lnSpc>
                <a:spcPts val="2850"/>
              </a:lnSpc>
              <a:spcBef>
                <a:spcPts val="220"/>
              </a:spcBef>
            </a:pPr>
            <a:r>
              <a:rPr sz="2400" b="1" spc="-5" dirty="0">
                <a:latin typeface="Calibri"/>
                <a:cs typeface="Calibri"/>
              </a:rPr>
              <a:t>INSERT(62) </a:t>
            </a:r>
            <a:r>
              <a:rPr sz="2400" b="1" dirty="0">
                <a:latin typeface="Calibri"/>
                <a:cs typeface="Calibri"/>
              </a:rPr>
              <a:t>: 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h0(62)</a:t>
            </a:r>
            <a:r>
              <a:rPr sz="2400" b="1" spc="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62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mod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11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3027" y="3610349"/>
            <a:ext cx="3274695" cy="763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400" b="1" spc="-15" dirty="0">
                <a:latin typeface="Calibri"/>
                <a:cs typeface="Calibri"/>
              </a:rPr>
              <a:t>h1(62)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((62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+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1)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11)</a:t>
            </a:r>
            <a:endParaRPr sz="2400">
              <a:latin typeface="Calibri"/>
              <a:cs typeface="Calibri"/>
            </a:endParaRPr>
          </a:p>
          <a:p>
            <a:pPr marL="3175" algn="ctr">
              <a:lnSpc>
                <a:spcPct val="100000"/>
              </a:lnSpc>
              <a:spcBef>
                <a:spcPts val="45"/>
              </a:spcBef>
            </a:pP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63</a:t>
            </a:r>
            <a:r>
              <a:rPr sz="2400" b="1" spc="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11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8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43031" y="4707185"/>
            <a:ext cx="3275329" cy="76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latin typeface="Calibri"/>
                <a:cs typeface="Calibri"/>
              </a:rPr>
              <a:t>h3(18)</a:t>
            </a:r>
            <a:r>
              <a:rPr sz="2400" b="1" spc="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((62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+</a:t>
            </a:r>
            <a:r>
              <a:rPr sz="2400" b="1" spc="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2)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mod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11)</a:t>
            </a:r>
            <a:endParaRPr sz="24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50"/>
              </a:spcBef>
            </a:pP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64</a:t>
            </a:r>
            <a:r>
              <a:rPr sz="2400" b="1" spc="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11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9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004432" y="5188839"/>
            <a:ext cx="1308735" cy="916305"/>
          </a:xfrm>
          <a:custGeom>
            <a:avLst/>
            <a:gdLst/>
            <a:ahLst/>
            <a:cxnLst/>
            <a:rect l="l" t="t" r="r" b="b"/>
            <a:pathLst>
              <a:path w="1308734" h="916304">
                <a:moveTo>
                  <a:pt x="985266" y="815495"/>
                </a:moveTo>
                <a:lnTo>
                  <a:pt x="970261" y="817382"/>
                </a:lnTo>
                <a:lnTo>
                  <a:pt x="957582" y="824628"/>
                </a:lnTo>
                <a:lnTo>
                  <a:pt x="948550" y="836100"/>
                </a:lnTo>
                <a:lnTo>
                  <a:pt x="944483" y="850666"/>
                </a:lnTo>
                <a:lnTo>
                  <a:pt x="946392" y="865681"/>
                </a:lnTo>
                <a:lnTo>
                  <a:pt x="953650" y="878365"/>
                </a:lnTo>
                <a:lnTo>
                  <a:pt x="965126" y="887402"/>
                </a:lnTo>
                <a:lnTo>
                  <a:pt x="979688" y="891479"/>
                </a:lnTo>
                <a:lnTo>
                  <a:pt x="1308719" y="915853"/>
                </a:lnTo>
                <a:lnTo>
                  <a:pt x="1303335" y="904433"/>
                </a:lnTo>
                <a:lnTo>
                  <a:pt x="1224777" y="904433"/>
                </a:lnTo>
                <a:lnTo>
                  <a:pt x="1108625" y="824622"/>
                </a:lnTo>
                <a:lnTo>
                  <a:pt x="985266" y="815495"/>
                </a:lnTo>
                <a:close/>
              </a:path>
              <a:path w="1308734" h="916304">
                <a:moveTo>
                  <a:pt x="1108625" y="824622"/>
                </a:moveTo>
                <a:lnTo>
                  <a:pt x="1224777" y="904433"/>
                </a:lnTo>
                <a:lnTo>
                  <a:pt x="1235199" y="889278"/>
                </a:lnTo>
                <a:lnTo>
                  <a:pt x="1211945" y="889278"/>
                </a:lnTo>
                <a:lnTo>
                  <a:pt x="1184082" y="830205"/>
                </a:lnTo>
                <a:lnTo>
                  <a:pt x="1108625" y="824622"/>
                </a:lnTo>
                <a:close/>
              </a:path>
              <a:path w="1308734" h="916304">
                <a:moveTo>
                  <a:pt x="1131921" y="595588"/>
                </a:moveTo>
                <a:lnTo>
                  <a:pt x="1117213" y="599206"/>
                </a:lnTo>
                <a:lnTo>
                  <a:pt x="1105070" y="608240"/>
                </a:lnTo>
                <a:lnTo>
                  <a:pt x="1097603" y="620792"/>
                </a:lnTo>
                <a:lnTo>
                  <a:pt x="1095401" y="635230"/>
                </a:lnTo>
                <a:lnTo>
                  <a:pt x="1099047" y="649925"/>
                </a:lnTo>
                <a:lnTo>
                  <a:pt x="1151833" y="761834"/>
                </a:lnTo>
                <a:lnTo>
                  <a:pt x="1267968" y="841629"/>
                </a:lnTo>
                <a:lnTo>
                  <a:pt x="1224777" y="904433"/>
                </a:lnTo>
                <a:lnTo>
                  <a:pt x="1303335" y="904433"/>
                </a:lnTo>
                <a:lnTo>
                  <a:pt x="1168024" y="617408"/>
                </a:lnTo>
                <a:lnTo>
                  <a:pt x="1158957" y="605276"/>
                </a:lnTo>
                <a:lnTo>
                  <a:pt x="1146379" y="597806"/>
                </a:lnTo>
                <a:lnTo>
                  <a:pt x="1131921" y="595588"/>
                </a:lnTo>
                <a:close/>
              </a:path>
              <a:path w="1308734" h="916304">
                <a:moveTo>
                  <a:pt x="1184082" y="830205"/>
                </a:moveTo>
                <a:lnTo>
                  <a:pt x="1211945" y="889278"/>
                </a:lnTo>
                <a:lnTo>
                  <a:pt x="1249161" y="835020"/>
                </a:lnTo>
                <a:lnTo>
                  <a:pt x="1184082" y="830205"/>
                </a:lnTo>
                <a:close/>
              </a:path>
              <a:path w="1308734" h="916304">
                <a:moveTo>
                  <a:pt x="1151833" y="761834"/>
                </a:moveTo>
                <a:lnTo>
                  <a:pt x="1184082" y="830205"/>
                </a:lnTo>
                <a:lnTo>
                  <a:pt x="1249161" y="835020"/>
                </a:lnTo>
                <a:lnTo>
                  <a:pt x="1211945" y="889278"/>
                </a:lnTo>
                <a:lnTo>
                  <a:pt x="1235199" y="889278"/>
                </a:lnTo>
                <a:lnTo>
                  <a:pt x="1267968" y="841629"/>
                </a:lnTo>
                <a:lnTo>
                  <a:pt x="1151833" y="761834"/>
                </a:lnTo>
                <a:close/>
              </a:path>
              <a:path w="1308734" h="916304">
                <a:moveTo>
                  <a:pt x="43037" y="0"/>
                </a:moveTo>
                <a:lnTo>
                  <a:pt x="0" y="62865"/>
                </a:lnTo>
                <a:lnTo>
                  <a:pt x="1108625" y="824622"/>
                </a:lnTo>
                <a:lnTo>
                  <a:pt x="1184082" y="830205"/>
                </a:lnTo>
                <a:lnTo>
                  <a:pt x="1151833" y="761834"/>
                </a:lnTo>
                <a:lnTo>
                  <a:pt x="4303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760098" y="1331064"/>
            <a:ext cx="3553460" cy="462280"/>
          </a:xfrm>
          <a:prstGeom prst="rect">
            <a:avLst/>
          </a:prstGeom>
          <a:solidFill>
            <a:srgbClr val="00AFF0"/>
          </a:solidFill>
        </p:spPr>
        <p:txBody>
          <a:bodyPr vert="horz" wrap="square" lIns="0" tIns="28575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225"/>
              </a:spcBef>
            </a:pPr>
            <a:r>
              <a:rPr sz="2400" b="1" spc="2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r>
              <a:rPr sz="2400" b="1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7,36,18</a:t>
            </a:r>
            <a:r>
              <a:rPr sz="2400" b="1" spc="-20" dirty="0">
                <a:latin typeface="Calibri"/>
                <a:cs typeface="Calibri"/>
              </a:rPr>
              <a:t>,62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506213" y="2334392"/>
          <a:ext cx="1355089" cy="40792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9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36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1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3365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901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0306679" y="2458720"/>
          <a:ext cx="1355089" cy="40792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9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36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1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31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2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64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3168792" y="4287523"/>
            <a:ext cx="1351280" cy="1199515"/>
          </a:xfrm>
          <a:custGeom>
            <a:avLst/>
            <a:gdLst/>
            <a:ahLst/>
            <a:cxnLst/>
            <a:rect l="l" t="t" r="r" b="b"/>
            <a:pathLst>
              <a:path w="1351279" h="1199514">
                <a:moveTo>
                  <a:pt x="1041897" y="1060191"/>
                </a:moveTo>
                <a:lnTo>
                  <a:pt x="1026731" y="1060268"/>
                </a:lnTo>
                <a:lnTo>
                  <a:pt x="1013239" y="1065938"/>
                </a:lnTo>
                <a:lnTo>
                  <a:pt x="1002867" y="1076226"/>
                </a:lnTo>
                <a:lnTo>
                  <a:pt x="997061" y="1090159"/>
                </a:lnTo>
                <a:lnTo>
                  <a:pt x="997139" y="1105328"/>
                </a:lnTo>
                <a:lnTo>
                  <a:pt x="1002807" y="1118816"/>
                </a:lnTo>
                <a:lnTo>
                  <a:pt x="1013092" y="1129186"/>
                </a:lnTo>
                <a:lnTo>
                  <a:pt x="1027023" y="1134999"/>
                </a:lnTo>
                <a:lnTo>
                  <a:pt x="1350751" y="1199007"/>
                </a:lnTo>
                <a:lnTo>
                  <a:pt x="1343651" y="1177539"/>
                </a:lnTo>
                <a:lnTo>
                  <a:pt x="1268851" y="1177539"/>
                </a:lnTo>
                <a:lnTo>
                  <a:pt x="1163165" y="1084219"/>
                </a:lnTo>
                <a:lnTo>
                  <a:pt x="1041897" y="1060191"/>
                </a:lnTo>
                <a:close/>
              </a:path>
              <a:path w="1351279" h="1199514">
                <a:moveTo>
                  <a:pt x="1163165" y="1084219"/>
                </a:moveTo>
                <a:lnTo>
                  <a:pt x="1268851" y="1177539"/>
                </a:lnTo>
                <a:lnTo>
                  <a:pt x="1283524" y="1160907"/>
                </a:lnTo>
                <a:lnTo>
                  <a:pt x="1257909" y="1160907"/>
                </a:lnTo>
                <a:lnTo>
                  <a:pt x="1237386" y="1098924"/>
                </a:lnTo>
                <a:lnTo>
                  <a:pt x="1163165" y="1084219"/>
                </a:lnTo>
                <a:close/>
              </a:path>
              <a:path w="1351279" h="1199514">
                <a:moveTo>
                  <a:pt x="1213995" y="859743"/>
                </a:moveTo>
                <a:lnTo>
                  <a:pt x="1198991" y="861559"/>
                </a:lnTo>
                <a:lnTo>
                  <a:pt x="1185865" y="869047"/>
                </a:lnTo>
                <a:lnTo>
                  <a:pt x="1176916" y="880583"/>
                </a:lnTo>
                <a:lnTo>
                  <a:pt x="1172939" y="894641"/>
                </a:lnTo>
                <a:lnTo>
                  <a:pt x="1174729" y="909696"/>
                </a:lnTo>
                <a:lnTo>
                  <a:pt x="1213599" y="1027087"/>
                </a:lnTo>
                <a:lnTo>
                  <a:pt x="1319265" y="1120389"/>
                </a:lnTo>
                <a:lnTo>
                  <a:pt x="1268851" y="1177539"/>
                </a:lnTo>
                <a:lnTo>
                  <a:pt x="1343651" y="1177539"/>
                </a:lnTo>
                <a:lnTo>
                  <a:pt x="1247119" y="885693"/>
                </a:lnTo>
                <a:lnTo>
                  <a:pt x="1239625" y="872581"/>
                </a:lnTo>
                <a:lnTo>
                  <a:pt x="1228062" y="863674"/>
                </a:lnTo>
                <a:lnTo>
                  <a:pt x="1213995" y="859743"/>
                </a:lnTo>
                <a:close/>
              </a:path>
              <a:path w="1351279" h="1199514">
                <a:moveTo>
                  <a:pt x="1237386" y="1098924"/>
                </a:moveTo>
                <a:lnTo>
                  <a:pt x="1257909" y="1160907"/>
                </a:lnTo>
                <a:lnTo>
                  <a:pt x="1301496" y="1111626"/>
                </a:lnTo>
                <a:lnTo>
                  <a:pt x="1237386" y="1098924"/>
                </a:lnTo>
                <a:close/>
              </a:path>
              <a:path w="1351279" h="1199514">
                <a:moveTo>
                  <a:pt x="1213599" y="1027087"/>
                </a:moveTo>
                <a:lnTo>
                  <a:pt x="1237386" y="1098924"/>
                </a:lnTo>
                <a:lnTo>
                  <a:pt x="1301496" y="1111626"/>
                </a:lnTo>
                <a:lnTo>
                  <a:pt x="1257909" y="1160907"/>
                </a:lnTo>
                <a:lnTo>
                  <a:pt x="1283524" y="1160907"/>
                </a:lnTo>
                <a:lnTo>
                  <a:pt x="1319265" y="1120389"/>
                </a:lnTo>
                <a:lnTo>
                  <a:pt x="1213599" y="1027087"/>
                </a:lnTo>
                <a:close/>
              </a:path>
              <a:path w="1351279" h="1199514">
                <a:moveTo>
                  <a:pt x="50413" y="0"/>
                </a:moveTo>
                <a:lnTo>
                  <a:pt x="0" y="57150"/>
                </a:lnTo>
                <a:lnTo>
                  <a:pt x="1163165" y="1084219"/>
                </a:lnTo>
                <a:lnTo>
                  <a:pt x="1237386" y="1098924"/>
                </a:lnTo>
                <a:lnTo>
                  <a:pt x="1213599" y="1027087"/>
                </a:lnTo>
                <a:lnTo>
                  <a:pt x="5041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81178" y="1502514"/>
            <a:ext cx="3553460" cy="462280"/>
          </a:xfrm>
          <a:prstGeom prst="rect">
            <a:avLst/>
          </a:prstGeom>
          <a:solidFill>
            <a:srgbClr val="00AFF0"/>
          </a:solidFill>
        </p:spPr>
        <p:txBody>
          <a:bodyPr vert="horz" wrap="square" lIns="0" tIns="29209" rIns="0" bIns="0" rtlCol="0">
            <a:spAutoFit/>
          </a:bodyPr>
          <a:lstStyle/>
          <a:p>
            <a:pPr marL="715645">
              <a:lnSpc>
                <a:spcPct val="100000"/>
              </a:lnSpc>
              <a:spcBef>
                <a:spcPts val="229"/>
              </a:spcBef>
            </a:pPr>
            <a:r>
              <a:rPr sz="2400" b="1" spc="2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r>
              <a:rPr sz="2400" b="1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7,36,18,62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17934" y="637540"/>
            <a:ext cx="979169" cy="385445"/>
            <a:chOff x="4217934" y="637540"/>
            <a:chExt cx="979169" cy="385445"/>
          </a:xfrm>
        </p:grpSpPr>
        <p:sp>
          <p:nvSpPr>
            <p:cNvPr id="4" name="object 4"/>
            <p:cNvSpPr/>
            <p:nvPr/>
          </p:nvSpPr>
          <p:spPr>
            <a:xfrm>
              <a:off x="4224284" y="643890"/>
              <a:ext cx="966469" cy="372745"/>
            </a:xfrm>
            <a:custGeom>
              <a:avLst/>
              <a:gdLst/>
              <a:ahLst/>
              <a:cxnLst/>
              <a:rect l="l" t="t" r="r" b="b"/>
              <a:pathLst>
                <a:path w="966470" h="372744">
                  <a:moveTo>
                    <a:pt x="903853" y="0"/>
                  </a:moveTo>
                  <a:lnTo>
                    <a:pt x="62087" y="0"/>
                  </a:lnTo>
                  <a:lnTo>
                    <a:pt x="37920" y="4879"/>
                  </a:lnTo>
                  <a:lnTo>
                    <a:pt x="18185" y="18185"/>
                  </a:lnTo>
                  <a:lnTo>
                    <a:pt x="4879" y="37920"/>
                  </a:lnTo>
                  <a:lnTo>
                    <a:pt x="0" y="62087"/>
                  </a:lnTo>
                  <a:lnTo>
                    <a:pt x="0" y="310377"/>
                  </a:lnTo>
                  <a:lnTo>
                    <a:pt x="4879" y="334479"/>
                  </a:lnTo>
                  <a:lnTo>
                    <a:pt x="18185" y="354189"/>
                  </a:lnTo>
                  <a:lnTo>
                    <a:pt x="37920" y="367492"/>
                  </a:lnTo>
                  <a:lnTo>
                    <a:pt x="62087" y="372374"/>
                  </a:lnTo>
                  <a:lnTo>
                    <a:pt x="903853" y="372374"/>
                  </a:lnTo>
                  <a:lnTo>
                    <a:pt x="928021" y="367492"/>
                  </a:lnTo>
                  <a:lnTo>
                    <a:pt x="947756" y="354189"/>
                  </a:lnTo>
                  <a:lnTo>
                    <a:pt x="961062" y="334479"/>
                  </a:lnTo>
                  <a:lnTo>
                    <a:pt x="965941" y="310377"/>
                  </a:lnTo>
                  <a:lnTo>
                    <a:pt x="965941" y="62087"/>
                  </a:lnTo>
                  <a:lnTo>
                    <a:pt x="961062" y="37920"/>
                  </a:lnTo>
                  <a:lnTo>
                    <a:pt x="947756" y="18185"/>
                  </a:lnTo>
                  <a:lnTo>
                    <a:pt x="928021" y="4879"/>
                  </a:lnTo>
                  <a:lnTo>
                    <a:pt x="90385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24284" y="643890"/>
              <a:ext cx="966469" cy="372745"/>
            </a:xfrm>
            <a:custGeom>
              <a:avLst/>
              <a:gdLst/>
              <a:ahLst/>
              <a:cxnLst/>
              <a:rect l="l" t="t" r="r" b="b"/>
              <a:pathLst>
                <a:path w="966470" h="372744">
                  <a:moveTo>
                    <a:pt x="0" y="62087"/>
                  </a:moveTo>
                  <a:lnTo>
                    <a:pt x="4879" y="37920"/>
                  </a:lnTo>
                  <a:lnTo>
                    <a:pt x="18185" y="18185"/>
                  </a:lnTo>
                  <a:lnTo>
                    <a:pt x="37920" y="4879"/>
                  </a:lnTo>
                  <a:lnTo>
                    <a:pt x="62087" y="0"/>
                  </a:lnTo>
                  <a:lnTo>
                    <a:pt x="903853" y="0"/>
                  </a:lnTo>
                  <a:lnTo>
                    <a:pt x="928021" y="4879"/>
                  </a:lnTo>
                  <a:lnTo>
                    <a:pt x="947756" y="18185"/>
                  </a:lnTo>
                  <a:lnTo>
                    <a:pt x="961062" y="37920"/>
                  </a:lnTo>
                  <a:lnTo>
                    <a:pt x="965941" y="62087"/>
                  </a:lnTo>
                  <a:lnTo>
                    <a:pt x="965941" y="310377"/>
                  </a:lnTo>
                  <a:lnTo>
                    <a:pt x="961062" y="334479"/>
                  </a:lnTo>
                  <a:lnTo>
                    <a:pt x="947756" y="354189"/>
                  </a:lnTo>
                  <a:lnTo>
                    <a:pt x="928021" y="367492"/>
                  </a:lnTo>
                  <a:lnTo>
                    <a:pt x="903853" y="372374"/>
                  </a:lnTo>
                  <a:lnTo>
                    <a:pt x="62087" y="372374"/>
                  </a:lnTo>
                  <a:lnTo>
                    <a:pt x="37920" y="367492"/>
                  </a:lnTo>
                  <a:lnTo>
                    <a:pt x="18185" y="354189"/>
                  </a:lnTo>
                  <a:lnTo>
                    <a:pt x="4879" y="334479"/>
                  </a:lnTo>
                  <a:lnTo>
                    <a:pt x="0" y="310377"/>
                  </a:lnTo>
                  <a:lnTo>
                    <a:pt x="0" y="62087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363088" y="662300"/>
            <a:ext cx="679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latin typeface="Calibri"/>
                <a:cs typeface="Calibri"/>
              </a:rPr>
              <a:t>E</a:t>
            </a:r>
            <a:r>
              <a:rPr sz="1800" spc="30" dirty="0">
                <a:latin typeface="Calibri"/>
                <a:cs typeface="Calibri"/>
              </a:rPr>
              <a:t>M</a:t>
            </a:r>
            <a:r>
              <a:rPr sz="1800" spc="-30" dirty="0">
                <a:latin typeface="Calibri"/>
                <a:cs typeface="Calibri"/>
              </a:rPr>
              <a:t>P</a:t>
            </a:r>
            <a:r>
              <a:rPr sz="1800" spc="2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700664" y="637540"/>
            <a:ext cx="1363345" cy="385445"/>
            <a:chOff x="5700664" y="637540"/>
            <a:chExt cx="1363345" cy="385445"/>
          </a:xfrm>
        </p:grpSpPr>
        <p:sp>
          <p:nvSpPr>
            <p:cNvPr id="8" name="object 8"/>
            <p:cNvSpPr/>
            <p:nvPr/>
          </p:nvSpPr>
          <p:spPr>
            <a:xfrm>
              <a:off x="5707014" y="643890"/>
              <a:ext cx="1350645" cy="372745"/>
            </a:xfrm>
            <a:custGeom>
              <a:avLst/>
              <a:gdLst/>
              <a:ahLst/>
              <a:cxnLst/>
              <a:rect l="l" t="t" r="r" b="b"/>
              <a:pathLst>
                <a:path w="1350645" h="372744">
                  <a:moveTo>
                    <a:pt x="1288541" y="0"/>
                  </a:moveTo>
                  <a:lnTo>
                    <a:pt x="61965" y="0"/>
                  </a:lnTo>
                  <a:lnTo>
                    <a:pt x="37869" y="4879"/>
                  </a:lnTo>
                  <a:lnTo>
                    <a:pt x="18169" y="18185"/>
                  </a:lnTo>
                  <a:lnTo>
                    <a:pt x="4877" y="37920"/>
                  </a:lnTo>
                  <a:lnTo>
                    <a:pt x="0" y="62087"/>
                  </a:lnTo>
                  <a:lnTo>
                    <a:pt x="0" y="310377"/>
                  </a:lnTo>
                  <a:lnTo>
                    <a:pt x="4877" y="334479"/>
                  </a:lnTo>
                  <a:lnTo>
                    <a:pt x="18169" y="354189"/>
                  </a:lnTo>
                  <a:lnTo>
                    <a:pt x="37869" y="367492"/>
                  </a:lnTo>
                  <a:lnTo>
                    <a:pt x="61965" y="372374"/>
                  </a:lnTo>
                  <a:lnTo>
                    <a:pt x="1288541" y="372374"/>
                  </a:lnTo>
                  <a:lnTo>
                    <a:pt x="1312709" y="367492"/>
                  </a:lnTo>
                  <a:lnTo>
                    <a:pt x="1332444" y="354189"/>
                  </a:lnTo>
                  <a:lnTo>
                    <a:pt x="1345750" y="334479"/>
                  </a:lnTo>
                  <a:lnTo>
                    <a:pt x="1350629" y="310377"/>
                  </a:lnTo>
                  <a:lnTo>
                    <a:pt x="1350629" y="62087"/>
                  </a:lnTo>
                  <a:lnTo>
                    <a:pt x="1345750" y="37920"/>
                  </a:lnTo>
                  <a:lnTo>
                    <a:pt x="1332444" y="18185"/>
                  </a:lnTo>
                  <a:lnTo>
                    <a:pt x="1312709" y="4879"/>
                  </a:lnTo>
                  <a:lnTo>
                    <a:pt x="1288541" y="0"/>
                  </a:lnTo>
                  <a:close/>
                </a:path>
              </a:pathLst>
            </a:custGeom>
            <a:solidFill>
              <a:srgbClr val="91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7014" y="643890"/>
              <a:ext cx="1350645" cy="372745"/>
            </a:xfrm>
            <a:custGeom>
              <a:avLst/>
              <a:gdLst/>
              <a:ahLst/>
              <a:cxnLst/>
              <a:rect l="l" t="t" r="r" b="b"/>
              <a:pathLst>
                <a:path w="1350645" h="372744">
                  <a:moveTo>
                    <a:pt x="0" y="62087"/>
                  </a:moveTo>
                  <a:lnTo>
                    <a:pt x="4877" y="37920"/>
                  </a:lnTo>
                  <a:lnTo>
                    <a:pt x="18169" y="18185"/>
                  </a:lnTo>
                  <a:lnTo>
                    <a:pt x="37869" y="4879"/>
                  </a:lnTo>
                  <a:lnTo>
                    <a:pt x="61965" y="0"/>
                  </a:lnTo>
                  <a:lnTo>
                    <a:pt x="1288541" y="0"/>
                  </a:lnTo>
                  <a:lnTo>
                    <a:pt x="1312709" y="4879"/>
                  </a:lnTo>
                  <a:lnTo>
                    <a:pt x="1332444" y="18185"/>
                  </a:lnTo>
                  <a:lnTo>
                    <a:pt x="1345750" y="37920"/>
                  </a:lnTo>
                  <a:lnTo>
                    <a:pt x="1350629" y="62087"/>
                  </a:lnTo>
                  <a:lnTo>
                    <a:pt x="1350629" y="310377"/>
                  </a:lnTo>
                  <a:lnTo>
                    <a:pt x="1345750" y="334479"/>
                  </a:lnTo>
                  <a:lnTo>
                    <a:pt x="1332444" y="354189"/>
                  </a:lnTo>
                  <a:lnTo>
                    <a:pt x="1312709" y="367492"/>
                  </a:lnTo>
                  <a:lnTo>
                    <a:pt x="1288541" y="372374"/>
                  </a:lnTo>
                  <a:lnTo>
                    <a:pt x="61965" y="372374"/>
                  </a:lnTo>
                  <a:lnTo>
                    <a:pt x="37869" y="367492"/>
                  </a:lnTo>
                  <a:lnTo>
                    <a:pt x="18169" y="354189"/>
                  </a:lnTo>
                  <a:lnTo>
                    <a:pt x="4877" y="334479"/>
                  </a:lnTo>
                  <a:lnTo>
                    <a:pt x="0" y="310377"/>
                  </a:lnTo>
                  <a:lnTo>
                    <a:pt x="0" y="62087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85184" y="662300"/>
            <a:ext cx="994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latin typeface="Calibri"/>
                <a:cs typeface="Calibri"/>
              </a:rPr>
              <a:t>O</a:t>
            </a:r>
            <a:r>
              <a:rPr sz="1800" spc="10" dirty="0">
                <a:latin typeface="Calibri"/>
                <a:cs typeface="Calibri"/>
              </a:rPr>
              <a:t>CC</a:t>
            </a:r>
            <a:r>
              <a:rPr sz="1800" spc="-30" dirty="0">
                <a:latin typeface="Calibri"/>
                <a:cs typeface="Calibri"/>
              </a:rPr>
              <a:t>UP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1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05973" y="637540"/>
            <a:ext cx="1354455" cy="385445"/>
            <a:chOff x="7705973" y="637540"/>
            <a:chExt cx="1354455" cy="385445"/>
          </a:xfrm>
        </p:grpSpPr>
        <p:sp>
          <p:nvSpPr>
            <p:cNvPr id="12" name="object 12"/>
            <p:cNvSpPr/>
            <p:nvPr/>
          </p:nvSpPr>
          <p:spPr>
            <a:xfrm>
              <a:off x="7712323" y="643890"/>
              <a:ext cx="1341755" cy="372745"/>
            </a:xfrm>
            <a:custGeom>
              <a:avLst/>
              <a:gdLst/>
              <a:ahLst/>
              <a:cxnLst/>
              <a:rect l="l" t="t" r="r" b="b"/>
              <a:pathLst>
                <a:path w="1341754" h="372744">
                  <a:moveTo>
                    <a:pt x="1279397" y="0"/>
                  </a:moveTo>
                  <a:lnTo>
                    <a:pt x="61996" y="0"/>
                  </a:lnTo>
                  <a:lnTo>
                    <a:pt x="37894" y="4879"/>
                  </a:lnTo>
                  <a:lnTo>
                    <a:pt x="18185" y="18185"/>
                  </a:lnTo>
                  <a:lnTo>
                    <a:pt x="4882" y="37920"/>
                  </a:lnTo>
                  <a:lnTo>
                    <a:pt x="0" y="62087"/>
                  </a:lnTo>
                  <a:lnTo>
                    <a:pt x="0" y="310377"/>
                  </a:lnTo>
                  <a:lnTo>
                    <a:pt x="4882" y="334479"/>
                  </a:lnTo>
                  <a:lnTo>
                    <a:pt x="18185" y="354189"/>
                  </a:lnTo>
                  <a:lnTo>
                    <a:pt x="37894" y="367492"/>
                  </a:lnTo>
                  <a:lnTo>
                    <a:pt x="61996" y="372374"/>
                  </a:lnTo>
                  <a:lnTo>
                    <a:pt x="1279397" y="372374"/>
                  </a:lnTo>
                  <a:lnTo>
                    <a:pt x="1303570" y="367492"/>
                  </a:lnTo>
                  <a:lnTo>
                    <a:pt x="1323315" y="354189"/>
                  </a:lnTo>
                  <a:lnTo>
                    <a:pt x="1336632" y="334479"/>
                  </a:lnTo>
                  <a:lnTo>
                    <a:pt x="1341516" y="310377"/>
                  </a:lnTo>
                  <a:lnTo>
                    <a:pt x="1341516" y="62087"/>
                  </a:lnTo>
                  <a:lnTo>
                    <a:pt x="1336632" y="37920"/>
                  </a:lnTo>
                  <a:lnTo>
                    <a:pt x="1323315" y="18185"/>
                  </a:lnTo>
                  <a:lnTo>
                    <a:pt x="1303570" y="4879"/>
                  </a:lnTo>
                  <a:lnTo>
                    <a:pt x="1279397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12323" y="643890"/>
              <a:ext cx="1341755" cy="372745"/>
            </a:xfrm>
            <a:custGeom>
              <a:avLst/>
              <a:gdLst/>
              <a:ahLst/>
              <a:cxnLst/>
              <a:rect l="l" t="t" r="r" b="b"/>
              <a:pathLst>
                <a:path w="1341754" h="372744">
                  <a:moveTo>
                    <a:pt x="0" y="62087"/>
                  </a:moveTo>
                  <a:lnTo>
                    <a:pt x="4882" y="37920"/>
                  </a:lnTo>
                  <a:lnTo>
                    <a:pt x="18185" y="18185"/>
                  </a:lnTo>
                  <a:lnTo>
                    <a:pt x="37894" y="4879"/>
                  </a:lnTo>
                  <a:lnTo>
                    <a:pt x="61996" y="0"/>
                  </a:lnTo>
                  <a:lnTo>
                    <a:pt x="1279397" y="0"/>
                  </a:lnTo>
                  <a:lnTo>
                    <a:pt x="1303570" y="4879"/>
                  </a:lnTo>
                  <a:lnTo>
                    <a:pt x="1323315" y="18185"/>
                  </a:lnTo>
                  <a:lnTo>
                    <a:pt x="1336632" y="37920"/>
                  </a:lnTo>
                  <a:lnTo>
                    <a:pt x="1341516" y="62087"/>
                  </a:lnTo>
                  <a:lnTo>
                    <a:pt x="1341516" y="310377"/>
                  </a:lnTo>
                  <a:lnTo>
                    <a:pt x="1336632" y="334479"/>
                  </a:lnTo>
                  <a:lnTo>
                    <a:pt x="1323315" y="354189"/>
                  </a:lnTo>
                  <a:lnTo>
                    <a:pt x="1303570" y="367492"/>
                  </a:lnTo>
                  <a:lnTo>
                    <a:pt x="1279397" y="372374"/>
                  </a:lnTo>
                  <a:lnTo>
                    <a:pt x="61996" y="372374"/>
                  </a:lnTo>
                  <a:lnTo>
                    <a:pt x="37894" y="367492"/>
                  </a:lnTo>
                  <a:lnTo>
                    <a:pt x="18185" y="354189"/>
                  </a:lnTo>
                  <a:lnTo>
                    <a:pt x="4882" y="334479"/>
                  </a:lnTo>
                  <a:lnTo>
                    <a:pt x="0" y="310377"/>
                  </a:lnTo>
                  <a:lnTo>
                    <a:pt x="0" y="62087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959096" y="662300"/>
            <a:ext cx="8616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TE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74876" y="5471480"/>
            <a:ext cx="460375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dirty="0">
                <a:latin typeface="Calibri"/>
                <a:cs typeface="Calibri"/>
              </a:rPr>
              <a:t>Linear</a:t>
            </a:r>
            <a:r>
              <a:rPr sz="3600" b="1" spc="-2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Probing</a:t>
            </a:r>
            <a:r>
              <a:rPr sz="3600" b="1" spc="-6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-</a:t>
            </a:r>
            <a:r>
              <a:rPr sz="3600" b="1" spc="-70" dirty="0">
                <a:latin typeface="Calibri"/>
                <a:cs typeface="Calibri"/>
              </a:rPr>
              <a:t> </a:t>
            </a:r>
            <a:r>
              <a:rPr sz="3600" b="1" spc="-20" dirty="0">
                <a:latin typeface="Calibri"/>
                <a:cs typeface="Calibri"/>
              </a:rPr>
              <a:t>SEARCH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84832" y="2601468"/>
            <a:ext cx="5538470" cy="1697355"/>
          </a:xfrm>
          <a:prstGeom prst="rect">
            <a:avLst/>
          </a:prstGeom>
          <a:ln w="9534">
            <a:solidFill>
              <a:srgbClr val="FFFF00"/>
            </a:solidFill>
          </a:ln>
        </p:spPr>
        <p:txBody>
          <a:bodyPr vert="horz" wrap="square" lIns="0" tIns="15430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215"/>
              </a:spcBef>
            </a:pPr>
            <a:r>
              <a:rPr sz="2400" dirty="0">
                <a:latin typeface="Calibri"/>
                <a:cs typeface="Calibri"/>
              </a:rPr>
              <a:t>SEARCH(18)</a:t>
            </a:r>
            <a:endParaRPr sz="2400">
              <a:latin typeface="Calibri"/>
              <a:cs typeface="Calibri"/>
            </a:endParaRPr>
          </a:p>
          <a:p>
            <a:pPr marL="94615">
              <a:lnSpc>
                <a:spcPct val="100000"/>
              </a:lnSpc>
              <a:spcBef>
                <a:spcPts val="1475"/>
              </a:spcBef>
            </a:pPr>
            <a:r>
              <a:rPr sz="2400" spc="-10" dirty="0">
                <a:latin typeface="Calibri"/>
                <a:cs typeface="Calibri"/>
              </a:rPr>
              <a:t>H0(18)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18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mod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11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[NOT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FOUND]</a:t>
            </a:r>
            <a:endParaRPr sz="2400">
              <a:latin typeface="Calibri"/>
              <a:cs typeface="Calibri"/>
            </a:endParaRPr>
          </a:p>
          <a:p>
            <a:pPr marL="94615">
              <a:lnSpc>
                <a:spcPct val="100000"/>
              </a:lnSpc>
              <a:spcBef>
                <a:spcPts val="1405"/>
              </a:spcBef>
            </a:pPr>
            <a:r>
              <a:rPr sz="2400" spc="-10" dirty="0">
                <a:latin typeface="Calibri"/>
                <a:cs typeface="Calibri"/>
              </a:rPr>
              <a:t>H1(18)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19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mod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11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[FOUND]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587622" y="1009914"/>
          <a:ext cx="1355089" cy="40792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36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64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2936236" y="3615227"/>
            <a:ext cx="708660" cy="342900"/>
          </a:xfrm>
          <a:custGeom>
            <a:avLst/>
            <a:gdLst/>
            <a:ahLst/>
            <a:cxnLst/>
            <a:rect l="l" t="t" r="r" b="b"/>
            <a:pathLst>
              <a:path w="708660" h="342900">
                <a:moveTo>
                  <a:pt x="299301" y="0"/>
                </a:moveTo>
                <a:lnTo>
                  <a:pt x="284981" y="4912"/>
                </a:lnTo>
                <a:lnTo>
                  <a:pt x="0" y="171149"/>
                </a:lnTo>
                <a:lnTo>
                  <a:pt x="284981" y="337397"/>
                </a:lnTo>
                <a:lnTo>
                  <a:pt x="299301" y="342307"/>
                </a:lnTo>
                <a:lnTo>
                  <a:pt x="313884" y="341348"/>
                </a:lnTo>
                <a:lnTo>
                  <a:pt x="327038" y="334984"/>
                </a:lnTo>
                <a:lnTo>
                  <a:pt x="337072" y="323681"/>
                </a:lnTo>
                <a:lnTo>
                  <a:pt x="341984" y="309362"/>
                </a:lnTo>
                <a:lnTo>
                  <a:pt x="341027" y="294784"/>
                </a:lnTo>
                <a:lnTo>
                  <a:pt x="334663" y="281635"/>
                </a:lnTo>
                <a:lnTo>
                  <a:pt x="323356" y="271602"/>
                </a:lnTo>
                <a:lnTo>
                  <a:pt x="216455" y="209249"/>
                </a:lnTo>
                <a:lnTo>
                  <a:pt x="75559" y="209249"/>
                </a:lnTo>
                <a:lnTo>
                  <a:pt x="75559" y="133049"/>
                </a:lnTo>
                <a:lnTo>
                  <a:pt x="216454" y="133049"/>
                </a:lnTo>
                <a:lnTo>
                  <a:pt x="323356" y="70687"/>
                </a:lnTo>
                <a:lnTo>
                  <a:pt x="334663" y="60659"/>
                </a:lnTo>
                <a:lnTo>
                  <a:pt x="341027" y="47515"/>
                </a:lnTo>
                <a:lnTo>
                  <a:pt x="341984" y="32943"/>
                </a:lnTo>
                <a:lnTo>
                  <a:pt x="337072" y="18628"/>
                </a:lnTo>
                <a:lnTo>
                  <a:pt x="327038" y="7320"/>
                </a:lnTo>
                <a:lnTo>
                  <a:pt x="313884" y="957"/>
                </a:lnTo>
                <a:lnTo>
                  <a:pt x="299301" y="0"/>
                </a:lnTo>
                <a:close/>
              </a:path>
              <a:path w="708660" h="342900">
                <a:moveTo>
                  <a:pt x="216454" y="133049"/>
                </a:moveTo>
                <a:lnTo>
                  <a:pt x="75559" y="133049"/>
                </a:lnTo>
                <a:lnTo>
                  <a:pt x="75559" y="209249"/>
                </a:lnTo>
                <a:lnTo>
                  <a:pt x="216455" y="209249"/>
                </a:lnTo>
                <a:lnTo>
                  <a:pt x="207535" y="204047"/>
                </a:lnTo>
                <a:lnTo>
                  <a:pt x="94750" y="204047"/>
                </a:lnTo>
                <a:lnTo>
                  <a:pt x="94750" y="138262"/>
                </a:lnTo>
                <a:lnTo>
                  <a:pt x="207519" y="138262"/>
                </a:lnTo>
                <a:lnTo>
                  <a:pt x="216454" y="133049"/>
                </a:lnTo>
                <a:close/>
              </a:path>
              <a:path w="708660" h="342900">
                <a:moveTo>
                  <a:pt x="708532" y="133049"/>
                </a:moveTo>
                <a:lnTo>
                  <a:pt x="216454" y="133049"/>
                </a:lnTo>
                <a:lnTo>
                  <a:pt x="151138" y="171152"/>
                </a:lnTo>
                <a:lnTo>
                  <a:pt x="216455" y="209249"/>
                </a:lnTo>
                <a:lnTo>
                  <a:pt x="708532" y="209249"/>
                </a:lnTo>
                <a:lnTo>
                  <a:pt x="708532" y="133049"/>
                </a:lnTo>
                <a:close/>
              </a:path>
              <a:path w="708660" h="342900">
                <a:moveTo>
                  <a:pt x="94750" y="138262"/>
                </a:moveTo>
                <a:lnTo>
                  <a:pt x="94750" y="204047"/>
                </a:lnTo>
                <a:lnTo>
                  <a:pt x="151138" y="171152"/>
                </a:lnTo>
                <a:lnTo>
                  <a:pt x="94750" y="138262"/>
                </a:lnTo>
                <a:close/>
              </a:path>
              <a:path w="708660" h="342900">
                <a:moveTo>
                  <a:pt x="151138" y="171152"/>
                </a:moveTo>
                <a:lnTo>
                  <a:pt x="94750" y="204047"/>
                </a:lnTo>
                <a:lnTo>
                  <a:pt x="207535" y="204047"/>
                </a:lnTo>
                <a:lnTo>
                  <a:pt x="151138" y="171152"/>
                </a:lnTo>
                <a:close/>
              </a:path>
              <a:path w="708660" h="342900">
                <a:moveTo>
                  <a:pt x="207519" y="138262"/>
                </a:moveTo>
                <a:lnTo>
                  <a:pt x="94750" y="138262"/>
                </a:lnTo>
                <a:lnTo>
                  <a:pt x="151142" y="171149"/>
                </a:lnTo>
                <a:lnTo>
                  <a:pt x="207519" y="138262"/>
                </a:lnTo>
                <a:close/>
              </a:path>
            </a:pathLst>
          </a:custGeom>
          <a:solidFill>
            <a:srgbClr val="FF00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36236" y="4086648"/>
            <a:ext cx="708660" cy="342900"/>
          </a:xfrm>
          <a:custGeom>
            <a:avLst/>
            <a:gdLst/>
            <a:ahLst/>
            <a:cxnLst/>
            <a:rect l="l" t="t" r="r" b="b"/>
            <a:pathLst>
              <a:path w="708660" h="342900">
                <a:moveTo>
                  <a:pt x="299301" y="0"/>
                </a:moveTo>
                <a:lnTo>
                  <a:pt x="284981" y="4910"/>
                </a:lnTo>
                <a:lnTo>
                  <a:pt x="0" y="171157"/>
                </a:lnTo>
                <a:lnTo>
                  <a:pt x="284981" y="337392"/>
                </a:lnTo>
                <a:lnTo>
                  <a:pt x="299301" y="342305"/>
                </a:lnTo>
                <a:lnTo>
                  <a:pt x="313884" y="341348"/>
                </a:lnTo>
                <a:lnTo>
                  <a:pt x="327038" y="334985"/>
                </a:lnTo>
                <a:lnTo>
                  <a:pt x="337072" y="323676"/>
                </a:lnTo>
                <a:lnTo>
                  <a:pt x="341984" y="309363"/>
                </a:lnTo>
                <a:lnTo>
                  <a:pt x="341027" y="294786"/>
                </a:lnTo>
                <a:lnTo>
                  <a:pt x="334663" y="281638"/>
                </a:lnTo>
                <a:lnTo>
                  <a:pt x="323356" y="271610"/>
                </a:lnTo>
                <a:lnTo>
                  <a:pt x="216462" y="209257"/>
                </a:lnTo>
                <a:lnTo>
                  <a:pt x="75559" y="209257"/>
                </a:lnTo>
                <a:lnTo>
                  <a:pt x="75559" y="133057"/>
                </a:lnTo>
                <a:lnTo>
                  <a:pt x="216441" y="133057"/>
                </a:lnTo>
                <a:lnTo>
                  <a:pt x="323356" y="70692"/>
                </a:lnTo>
                <a:lnTo>
                  <a:pt x="334663" y="60665"/>
                </a:lnTo>
                <a:lnTo>
                  <a:pt x="341027" y="47517"/>
                </a:lnTo>
                <a:lnTo>
                  <a:pt x="341984" y="32940"/>
                </a:lnTo>
                <a:lnTo>
                  <a:pt x="337072" y="18626"/>
                </a:lnTo>
                <a:lnTo>
                  <a:pt x="327038" y="7323"/>
                </a:lnTo>
                <a:lnTo>
                  <a:pt x="313884" y="959"/>
                </a:lnTo>
                <a:lnTo>
                  <a:pt x="299301" y="0"/>
                </a:lnTo>
                <a:close/>
              </a:path>
              <a:path w="708660" h="342900">
                <a:moveTo>
                  <a:pt x="216441" y="133057"/>
                </a:moveTo>
                <a:lnTo>
                  <a:pt x="75559" y="133057"/>
                </a:lnTo>
                <a:lnTo>
                  <a:pt x="75559" y="209257"/>
                </a:lnTo>
                <a:lnTo>
                  <a:pt x="216462" y="209257"/>
                </a:lnTo>
                <a:lnTo>
                  <a:pt x="207522" y="204042"/>
                </a:lnTo>
                <a:lnTo>
                  <a:pt x="94750" y="204042"/>
                </a:lnTo>
                <a:lnTo>
                  <a:pt x="94750" y="138260"/>
                </a:lnTo>
                <a:lnTo>
                  <a:pt x="207522" y="138260"/>
                </a:lnTo>
                <a:lnTo>
                  <a:pt x="216441" y="133057"/>
                </a:lnTo>
                <a:close/>
              </a:path>
              <a:path w="708660" h="342900">
                <a:moveTo>
                  <a:pt x="708532" y="133057"/>
                </a:moveTo>
                <a:lnTo>
                  <a:pt x="216441" y="133057"/>
                </a:lnTo>
                <a:lnTo>
                  <a:pt x="151136" y="171151"/>
                </a:lnTo>
                <a:lnTo>
                  <a:pt x="216462" y="209257"/>
                </a:lnTo>
                <a:lnTo>
                  <a:pt x="708532" y="209257"/>
                </a:lnTo>
                <a:lnTo>
                  <a:pt x="708532" y="133057"/>
                </a:lnTo>
                <a:close/>
              </a:path>
              <a:path w="708660" h="342900">
                <a:moveTo>
                  <a:pt x="94750" y="138260"/>
                </a:moveTo>
                <a:lnTo>
                  <a:pt x="94750" y="204042"/>
                </a:lnTo>
                <a:lnTo>
                  <a:pt x="151136" y="171151"/>
                </a:lnTo>
                <a:lnTo>
                  <a:pt x="94750" y="138260"/>
                </a:lnTo>
                <a:close/>
              </a:path>
              <a:path w="708660" h="342900">
                <a:moveTo>
                  <a:pt x="151136" y="171151"/>
                </a:moveTo>
                <a:lnTo>
                  <a:pt x="94750" y="204042"/>
                </a:lnTo>
                <a:lnTo>
                  <a:pt x="207522" y="204042"/>
                </a:lnTo>
                <a:lnTo>
                  <a:pt x="151136" y="171151"/>
                </a:lnTo>
                <a:close/>
              </a:path>
              <a:path w="708660" h="342900">
                <a:moveTo>
                  <a:pt x="207522" y="138260"/>
                </a:moveTo>
                <a:lnTo>
                  <a:pt x="94750" y="138260"/>
                </a:lnTo>
                <a:lnTo>
                  <a:pt x="151136" y="171151"/>
                </a:lnTo>
                <a:lnTo>
                  <a:pt x="207522" y="138260"/>
                </a:lnTo>
                <a:close/>
              </a:path>
            </a:pathLst>
          </a:custGeom>
          <a:solidFill>
            <a:srgbClr val="FF00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726436" y="4277675"/>
            <a:ext cx="3587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latin typeface="Calibri"/>
                <a:cs typeface="Calibri"/>
              </a:rPr>
              <a:t>YE</a:t>
            </a:r>
            <a:r>
              <a:rPr sz="180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64917" y="3620711"/>
            <a:ext cx="3041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5" dirty="0">
                <a:latin typeface="Calibri"/>
                <a:cs typeface="Calibri"/>
              </a:rPr>
              <a:t>No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57643" y="4829568"/>
            <a:ext cx="4559300" cy="708025"/>
          </a:xfrm>
          <a:prstGeom prst="rect">
            <a:avLst/>
          </a:prstGeom>
          <a:ln w="9534">
            <a:solidFill>
              <a:srgbClr val="FF0065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285"/>
              </a:spcBef>
            </a:pPr>
            <a:r>
              <a:rPr sz="2000" spc="-5" dirty="0">
                <a:latin typeface="Calibri"/>
                <a:cs typeface="Calibri"/>
              </a:rPr>
              <a:t>Keep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Probing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until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slot’s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key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doesn’t</a:t>
            </a:r>
            <a:endParaRPr sz="2000">
              <a:latin typeface="Calibri"/>
              <a:cs typeface="Calibri"/>
            </a:endParaRPr>
          </a:p>
          <a:p>
            <a:pPr marL="8255" algn="ctr">
              <a:lnSpc>
                <a:spcPct val="100000"/>
              </a:lnSpc>
              <a:spcBef>
                <a:spcPts val="10"/>
              </a:spcBef>
            </a:pPr>
            <a:r>
              <a:rPr sz="2000" dirty="0">
                <a:latin typeface="Calibri"/>
                <a:cs typeface="Calibri"/>
              </a:rPr>
              <a:t>become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equal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65" dirty="0">
                <a:latin typeface="Calibri"/>
                <a:cs typeface="Calibri"/>
              </a:rPr>
              <a:t>key.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81178" y="1502514"/>
            <a:ext cx="3553460" cy="462280"/>
          </a:xfrm>
          <a:prstGeom prst="rect">
            <a:avLst/>
          </a:prstGeom>
          <a:solidFill>
            <a:srgbClr val="00AFF0"/>
          </a:solidFill>
        </p:spPr>
        <p:txBody>
          <a:bodyPr vert="horz" wrap="square" lIns="0" tIns="29209" rIns="0" bIns="0" rtlCol="0">
            <a:spAutoFit/>
          </a:bodyPr>
          <a:lstStyle/>
          <a:p>
            <a:pPr marL="715645">
              <a:lnSpc>
                <a:spcPct val="100000"/>
              </a:lnSpc>
              <a:spcBef>
                <a:spcPts val="229"/>
              </a:spcBef>
            </a:pPr>
            <a:r>
              <a:rPr sz="2400" b="1" spc="2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r>
              <a:rPr sz="2400" b="1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7,36,18,62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17934" y="637540"/>
            <a:ext cx="979169" cy="385445"/>
            <a:chOff x="4217934" y="637540"/>
            <a:chExt cx="979169" cy="385445"/>
          </a:xfrm>
        </p:grpSpPr>
        <p:sp>
          <p:nvSpPr>
            <p:cNvPr id="4" name="object 4"/>
            <p:cNvSpPr/>
            <p:nvPr/>
          </p:nvSpPr>
          <p:spPr>
            <a:xfrm>
              <a:off x="4224284" y="643890"/>
              <a:ext cx="966469" cy="372745"/>
            </a:xfrm>
            <a:custGeom>
              <a:avLst/>
              <a:gdLst/>
              <a:ahLst/>
              <a:cxnLst/>
              <a:rect l="l" t="t" r="r" b="b"/>
              <a:pathLst>
                <a:path w="966470" h="372744">
                  <a:moveTo>
                    <a:pt x="903853" y="0"/>
                  </a:moveTo>
                  <a:lnTo>
                    <a:pt x="62087" y="0"/>
                  </a:lnTo>
                  <a:lnTo>
                    <a:pt x="37920" y="4879"/>
                  </a:lnTo>
                  <a:lnTo>
                    <a:pt x="18185" y="18185"/>
                  </a:lnTo>
                  <a:lnTo>
                    <a:pt x="4879" y="37920"/>
                  </a:lnTo>
                  <a:lnTo>
                    <a:pt x="0" y="62087"/>
                  </a:lnTo>
                  <a:lnTo>
                    <a:pt x="0" y="310377"/>
                  </a:lnTo>
                  <a:lnTo>
                    <a:pt x="4879" y="334479"/>
                  </a:lnTo>
                  <a:lnTo>
                    <a:pt x="18185" y="354189"/>
                  </a:lnTo>
                  <a:lnTo>
                    <a:pt x="37920" y="367492"/>
                  </a:lnTo>
                  <a:lnTo>
                    <a:pt x="62087" y="372374"/>
                  </a:lnTo>
                  <a:lnTo>
                    <a:pt x="903853" y="372374"/>
                  </a:lnTo>
                  <a:lnTo>
                    <a:pt x="928021" y="367492"/>
                  </a:lnTo>
                  <a:lnTo>
                    <a:pt x="947756" y="354189"/>
                  </a:lnTo>
                  <a:lnTo>
                    <a:pt x="961062" y="334479"/>
                  </a:lnTo>
                  <a:lnTo>
                    <a:pt x="965941" y="310377"/>
                  </a:lnTo>
                  <a:lnTo>
                    <a:pt x="965941" y="62087"/>
                  </a:lnTo>
                  <a:lnTo>
                    <a:pt x="961062" y="37920"/>
                  </a:lnTo>
                  <a:lnTo>
                    <a:pt x="947756" y="18185"/>
                  </a:lnTo>
                  <a:lnTo>
                    <a:pt x="928021" y="4879"/>
                  </a:lnTo>
                  <a:lnTo>
                    <a:pt x="90385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24284" y="643890"/>
              <a:ext cx="966469" cy="372745"/>
            </a:xfrm>
            <a:custGeom>
              <a:avLst/>
              <a:gdLst/>
              <a:ahLst/>
              <a:cxnLst/>
              <a:rect l="l" t="t" r="r" b="b"/>
              <a:pathLst>
                <a:path w="966470" h="372744">
                  <a:moveTo>
                    <a:pt x="0" y="62087"/>
                  </a:moveTo>
                  <a:lnTo>
                    <a:pt x="4879" y="37920"/>
                  </a:lnTo>
                  <a:lnTo>
                    <a:pt x="18185" y="18185"/>
                  </a:lnTo>
                  <a:lnTo>
                    <a:pt x="37920" y="4879"/>
                  </a:lnTo>
                  <a:lnTo>
                    <a:pt x="62087" y="0"/>
                  </a:lnTo>
                  <a:lnTo>
                    <a:pt x="903853" y="0"/>
                  </a:lnTo>
                  <a:lnTo>
                    <a:pt x="928021" y="4879"/>
                  </a:lnTo>
                  <a:lnTo>
                    <a:pt x="947756" y="18185"/>
                  </a:lnTo>
                  <a:lnTo>
                    <a:pt x="961062" y="37920"/>
                  </a:lnTo>
                  <a:lnTo>
                    <a:pt x="965941" y="62087"/>
                  </a:lnTo>
                  <a:lnTo>
                    <a:pt x="965941" y="310377"/>
                  </a:lnTo>
                  <a:lnTo>
                    <a:pt x="961062" y="334479"/>
                  </a:lnTo>
                  <a:lnTo>
                    <a:pt x="947756" y="354189"/>
                  </a:lnTo>
                  <a:lnTo>
                    <a:pt x="928021" y="367492"/>
                  </a:lnTo>
                  <a:lnTo>
                    <a:pt x="903853" y="372374"/>
                  </a:lnTo>
                  <a:lnTo>
                    <a:pt x="62087" y="372374"/>
                  </a:lnTo>
                  <a:lnTo>
                    <a:pt x="37920" y="367492"/>
                  </a:lnTo>
                  <a:lnTo>
                    <a:pt x="18185" y="354189"/>
                  </a:lnTo>
                  <a:lnTo>
                    <a:pt x="4879" y="334479"/>
                  </a:lnTo>
                  <a:lnTo>
                    <a:pt x="0" y="310377"/>
                  </a:lnTo>
                  <a:lnTo>
                    <a:pt x="0" y="62087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363088" y="662300"/>
            <a:ext cx="679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latin typeface="Calibri"/>
                <a:cs typeface="Calibri"/>
              </a:rPr>
              <a:t>E</a:t>
            </a:r>
            <a:r>
              <a:rPr sz="1800" spc="30" dirty="0">
                <a:latin typeface="Calibri"/>
                <a:cs typeface="Calibri"/>
              </a:rPr>
              <a:t>M</a:t>
            </a:r>
            <a:r>
              <a:rPr sz="1800" spc="-30" dirty="0">
                <a:latin typeface="Calibri"/>
                <a:cs typeface="Calibri"/>
              </a:rPr>
              <a:t>P</a:t>
            </a:r>
            <a:r>
              <a:rPr sz="1800" spc="2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700664" y="637540"/>
            <a:ext cx="1363345" cy="385445"/>
            <a:chOff x="5700664" y="637540"/>
            <a:chExt cx="1363345" cy="385445"/>
          </a:xfrm>
        </p:grpSpPr>
        <p:sp>
          <p:nvSpPr>
            <p:cNvPr id="8" name="object 8"/>
            <p:cNvSpPr/>
            <p:nvPr/>
          </p:nvSpPr>
          <p:spPr>
            <a:xfrm>
              <a:off x="5707014" y="643890"/>
              <a:ext cx="1350645" cy="372745"/>
            </a:xfrm>
            <a:custGeom>
              <a:avLst/>
              <a:gdLst/>
              <a:ahLst/>
              <a:cxnLst/>
              <a:rect l="l" t="t" r="r" b="b"/>
              <a:pathLst>
                <a:path w="1350645" h="372744">
                  <a:moveTo>
                    <a:pt x="1288541" y="0"/>
                  </a:moveTo>
                  <a:lnTo>
                    <a:pt x="61965" y="0"/>
                  </a:lnTo>
                  <a:lnTo>
                    <a:pt x="37869" y="4879"/>
                  </a:lnTo>
                  <a:lnTo>
                    <a:pt x="18169" y="18185"/>
                  </a:lnTo>
                  <a:lnTo>
                    <a:pt x="4877" y="37920"/>
                  </a:lnTo>
                  <a:lnTo>
                    <a:pt x="0" y="62087"/>
                  </a:lnTo>
                  <a:lnTo>
                    <a:pt x="0" y="310377"/>
                  </a:lnTo>
                  <a:lnTo>
                    <a:pt x="4877" y="334479"/>
                  </a:lnTo>
                  <a:lnTo>
                    <a:pt x="18169" y="354189"/>
                  </a:lnTo>
                  <a:lnTo>
                    <a:pt x="37869" y="367492"/>
                  </a:lnTo>
                  <a:lnTo>
                    <a:pt x="61965" y="372374"/>
                  </a:lnTo>
                  <a:lnTo>
                    <a:pt x="1288541" y="372374"/>
                  </a:lnTo>
                  <a:lnTo>
                    <a:pt x="1312709" y="367492"/>
                  </a:lnTo>
                  <a:lnTo>
                    <a:pt x="1332444" y="354189"/>
                  </a:lnTo>
                  <a:lnTo>
                    <a:pt x="1345750" y="334479"/>
                  </a:lnTo>
                  <a:lnTo>
                    <a:pt x="1350629" y="310377"/>
                  </a:lnTo>
                  <a:lnTo>
                    <a:pt x="1350629" y="62087"/>
                  </a:lnTo>
                  <a:lnTo>
                    <a:pt x="1345750" y="37920"/>
                  </a:lnTo>
                  <a:lnTo>
                    <a:pt x="1332444" y="18185"/>
                  </a:lnTo>
                  <a:lnTo>
                    <a:pt x="1312709" y="4879"/>
                  </a:lnTo>
                  <a:lnTo>
                    <a:pt x="1288541" y="0"/>
                  </a:lnTo>
                  <a:close/>
                </a:path>
              </a:pathLst>
            </a:custGeom>
            <a:solidFill>
              <a:srgbClr val="91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7014" y="643890"/>
              <a:ext cx="1350645" cy="372745"/>
            </a:xfrm>
            <a:custGeom>
              <a:avLst/>
              <a:gdLst/>
              <a:ahLst/>
              <a:cxnLst/>
              <a:rect l="l" t="t" r="r" b="b"/>
              <a:pathLst>
                <a:path w="1350645" h="372744">
                  <a:moveTo>
                    <a:pt x="0" y="62087"/>
                  </a:moveTo>
                  <a:lnTo>
                    <a:pt x="4877" y="37920"/>
                  </a:lnTo>
                  <a:lnTo>
                    <a:pt x="18169" y="18185"/>
                  </a:lnTo>
                  <a:lnTo>
                    <a:pt x="37869" y="4879"/>
                  </a:lnTo>
                  <a:lnTo>
                    <a:pt x="61965" y="0"/>
                  </a:lnTo>
                  <a:lnTo>
                    <a:pt x="1288541" y="0"/>
                  </a:lnTo>
                  <a:lnTo>
                    <a:pt x="1312709" y="4879"/>
                  </a:lnTo>
                  <a:lnTo>
                    <a:pt x="1332444" y="18185"/>
                  </a:lnTo>
                  <a:lnTo>
                    <a:pt x="1345750" y="37920"/>
                  </a:lnTo>
                  <a:lnTo>
                    <a:pt x="1350629" y="62087"/>
                  </a:lnTo>
                  <a:lnTo>
                    <a:pt x="1350629" y="310377"/>
                  </a:lnTo>
                  <a:lnTo>
                    <a:pt x="1345750" y="334479"/>
                  </a:lnTo>
                  <a:lnTo>
                    <a:pt x="1332444" y="354189"/>
                  </a:lnTo>
                  <a:lnTo>
                    <a:pt x="1312709" y="367492"/>
                  </a:lnTo>
                  <a:lnTo>
                    <a:pt x="1288541" y="372374"/>
                  </a:lnTo>
                  <a:lnTo>
                    <a:pt x="61965" y="372374"/>
                  </a:lnTo>
                  <a:lnTo>
                    <a:pt x="37869" y="367492"/>
                  </a:lnTo>
                  <a:lnTo>
                    <a:pt x="18169" y="354189"/>
                  </a:lnTo>
                  <a:lnTo>
                    <a:pt x="4877" y="334479"/>
                  </a:lnTo>
                  <a:lnTo>
                    <a:pt x="0" y="310377"/>
                  </a:lnTo>
                  <a:lnTo>
                    <a:pt x="0" y="62087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85184" y="662300"/>
            <a:ext cx="994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latin typeface="Calibri"/>
                <a:cs typeface="Calibri"/>
              </a:rPr>
              <a:t>O</a:t>
            </a:r>
            <a:r>
              <a:rPr sz="1800" spc="10" dirty="0">
                <a:latin typeface="Calibri"/>
                <a:cs typeface="Calibri"/>
              </a:rPr>
              <a:t>CC</a:t>
            </a:r>
            <a:r>
              <a:rPr sz="1800" spc="-30" dirty="0">
                <a:latin typeface="Calibri"/>
                <a:cs typeface="Calibri"/>
              </a:rPr>
              <a:t>UP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1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05973" y="637540"/>
            <a:ext cx="1354455" cy="385445"/>
            <a:chOff x="7705973" y="637540"/>
            <a:chExt cx="1354455" cy="385445"/>
          </a:xfrm>
        </p:grpSpPr>
        <p:sp>
          <p:nvSpPr>
            <p:cNvPr id="12" name="object 12"/>
            <p:cNvSpPr/>
            <p:nvPr/>
          </p:nvSpPr>
          <p:spPr>
            <a:xfrm>
              <a:off x="7712323" y="643890"/>
              <a:ext cx="1341755" cy="372745"/>
            </a:xfrm>
            <a:custGeom>
              <a:avLst/>
              <a:gdLst/>
              <a:ahLst/>
              <a:cxnLst/>
              <a:rect l="l" t="t" r="r" b="b"/>
              <a:pathLst>
                <a:path w="1341754" h="372744">
                  <a:moveTo>
                    <a:pt x="1279397" y="0"/>
                  </a:moveTo>
                  <a:lnTo>
                    <a:pt x="61996" y="0"/>
                  </a:lnTo>
                  <a:lnTo>
                    <a:pt x="37894" y="4879"/>
                  </a:lnTo>
                  <a:lnTo>
                    <a:pt x="18185" y="18185"/>
                  </a:lnTo>
                  <a:lnTo>
                    <a:pt x="4882" y="37920"/>
                  </a:lnTo>
                  <a:lnTo>
                    <a:pt x="0" y="62087"/>
                  </a:lnTo>
                  <a:lnTo>
                    <a:pt x="0" y="310377"/>
                  </a:lnTo>
                  <a:lnTo>
                    <a:pt x="4882" y="334479"/>
                  </a:lnTo>
                  <a:lnTo>
                    <a:pt x="18185" y="354189"/>
                  </a:lnTo>
                  <a:lnTo>
                    <a:pt x="37894" y="367492"/>
                  </a:lnTo>
                  <a:lnTo>
                    <a:pt x="61996" y="372374"/>
                  </a:lnTo>
                  <a:lnTo>
                    <a:pt x="1279397" y="372374"/>
                  </a:lnTo>
                  <a:lnTo>
                    <a:pt x="1303570" y="367492"/>
                  </a:lnTo>
                  <a:lnTo>
                    <a:pt x="1323315" y="354189"/>
                  </a:lnTo>
                  <a:lnTo>
                    <a:pt x="1336632" y="334479"/>
                  </a:lnTo>
                  <a:lnTo>
                    <a:pt x="1341516" y="310377"/>
                  </a:lnTo>
                  <a:lnTo>
                    <a:pt x="1341516" y="62087"/>
                  </a:lnTo>
                  <a:lnTo>
                    <a:pt x="1336632" y="37920"/>
                  </a:lnTo>
                  <a:lnTo>
                    <a:pt x="1323315" y="18185"/>
                  </a:lnTo>
                  <a:lnTo>
                    <a:pt x="1303570" y="4879"/>
                  </a:lnTo>
                  <a:lnTo>
                    <a:pt x="1279397" y="0"/>
                  </a:lnTo>
                  <a:close/>
                </a:path>
              </a:pathLst>
            </a:custGeom>
            <a:solidFill>
              <a:srgbClr val="B003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12323" y="643890"/>
              <a:ext cx="1341755" cy="372745"/>
            </a:xfrm>
            <a:custGeom>
              <a:avLst/>
              <a:gdLst/>
              <a:ahLst/>
              <a:cxnLst/>
              <a:rect l="l" t="t" r="r" b="b"/>
              <a:pathLst>
                <a:path w="1341754" h="372744">
                  <a:moveTo>
                    <a:pt x="0" y="62087"/>
                  </a:moveTo>
                  <a:lnTo>
                    <a:pt x="4882" y="37920"/>
                  </a:lnTo>
                  <a:lnTo>
                    <a:pt x="18185" y="18185"/>
                  </a:lnTo>
                  <a:lnTo>
                    <a:pt x="37894" y="4879"/>
                  </a:lnTo>
                  <a:lnTo>
                    <a:pt x="61996" y="0"/>
                  </a:lnTo>
                  <a:lnTo>
                    <a:pt x="1279397" y="0"/>
                  </a:lnTo>
                  <a:lnTo>
                    <a:pt x="1303570" y="4879"/>
                  </a:lnTo>
                  <a:lnTo>
                    <a:pt x="1323315" y="18185"/>
                  </a:lnTo>
                  <a:lnTo>
                    <a:pt x="1336632" y="37920"/>
                  </a:lnTo>
                  <a:lnTo>
                    <a:pt x="1341516" y="62087"/>
                  </a:lnTo>
                  <a:lnTo>
                    <a:pt x="1341516" y="310377"/>
                  </a:lnTo>
                  <a:lnTo>
                    <a:pt x="1336632" y="334479"/>
                  </a:lnTo>
                  <a:lnTo>
                    <a:pt x="1323315" y="354189"/>
                  </a:lnTo>
                  <a:lnTo>
                    <a:pt x="1303570" y="367492"/>
                  </a:lnTo>
                  <a:lnTo>
                    <a:pt x="1279397" y="372374"/>
                  </a:lnTo>
                  <a:lnTo>
                    <a:pt x="61996" y="372374"/>
                  </a:lnTo>
                  <a:lnTo>
                    <a:pt x="37894" y="367492"/>
                  </a:lnTo>
                  <a:lnTo>
                    <a:pt x="18185" y="354189"/>
                  </a:lnTo>
                  <a:lnTo>
                    <a:pt x="4882" y="334479"/>
                  </a:lnTo>
                  <a:lnTo>
                    <a:pt x="0" y="310377"/>
                  </a:lnTo>
                  <a:lnTo>
                    <a:pt x="0" y="62087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959096" y="662300"/>
            <a:ext cx="8616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TE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74876" y="5471480"/>
            <a:ext cx="448183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dirty="0">
                <a:latin typeface="Calibri"/>
                <a:cs typeface="Calibri"/>
              </a:rPr>
              <a:t>Linear</a:t>
            </a:r>
            <a:r>
              <a:rPr sz="3600" b="1" spc="-2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Probing</a:t>
            </a:r>
            <a:r>
              <a:rPr sz="3600" b="1" spc="-6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-</a:t>
            </a:r>
            <a:r>
              <a:rPr sz="3600" b="1" spc="-70" dirty="0">
                <a:latin typeface="Calibri"/>
                <a:cs typeface="Calibri"/>
              </a:rPr>
              <a:t> </a:t>
            </a:r>
            <a:r>
              <a:rPr sz="3600" b="1" spc="-15" dirty="0">
                <a:latin typeface="Calibri"/>
                <a:cs typeface="Calibri"/>
              </a:rPr>
              <a:t>DELETE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84832" y="2601528"/>
            <a:ext cx="5538470" cy="589280"/>
          </a:xfrm>
          <a:prstGeom prst="rect">
            <a:avLst/>
          </a:prstGeom>
          <a:ln w="9534">
            <a:solidFill>
              <a:srgbClr val="FFFF00"/>
            </a:solidFill>
          </a:ln>
        </p:spPr>
        <p:txBody>
          <a:bodyPr vert="horz" wrap="square" lIns="0" tIns="15430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215"/>
              </a:spcBef>
            </a:pPr>
            <a:r>
              <a:rPr sz="2400" spc="5" dirty="0">
                <a:latin typeface="Calibri"/>
                <a:cs typeface="Calibri"/>
              </a:rPr>
              <a:t>DELETE(18)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587622" y="1009914"/>
          <a:ext cx="918844" cy="40792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36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B003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B003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64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7057643" y="4829568"/>
            <a:ext cx="4559300" cy="708025"/>
          </a:xfrm>
          <a:prstGeom prst="rect">
            <a:avLst/>
          </a:prstGeom>
          <a:ln w="9534">
            <a:solidFill>
              <a:srgbClr val="FF0065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927225" marR="139065" indent="-1772920">
              <a:lnSpc>
                <a:spcPct val="100000"/>
              </a:lnSpc>
              <a:spcBef>
                <a:spcPts val="285"/>
              </a:spcBef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slot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should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marked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as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deleted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empty.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46782" y="3997130"/>
            <a:ext cx="929005" cy="342265"/>
          </a:xfrm>
          <a:custGeom>
            <a:avLst/>
            <a:gdLst/>
            <a:ahLst/>
            <a:cxnLst/>
            <a:rect l="l" t="t" r="r" b="b"/>
            <a:pathLst>
              <a:path w="929004" h="342264">
                <a:moveTo>
                  <a:pt x="303996" y="0"/>
                </a:moveTo>
                <a:lnTo>
                  <a:pt x="289560" y="4512"/>
                </a:lnTo>
                <a:lnTo>
                  <a:pt x="0" y="162758"/>
                </a:lnTo>
                <a:lnTo>
                  <a:pt x="280284" y="336875"/>
                </a:lnTo>
                <a:lnTo>
                  <a:pt x="294482" y="342129"/>
                </a:lnTo>
                <a:lnTo>
                  <a:pt x="309086" y="341572"/>
                </a:lnTo>
                <a:lnTo>
                  <a:pt x="322404" y="335586"/>
                </a:lnTo>
                <a:lnTo>
                  <a:pt x="332744" y="324552"/>
                </a:lnTo>
                <a:lnTo>
                  <a:pt x="338068" y="310428"/>
                </a:lnTo>
                <a:lnTo>
                  <a:pt x="337551" y="295850"/>
                </a:lnTo>
                <a:lnTo>
                  <a:pt x="331582" y="282511"/>
                </a:lnTo>
                <a:lnTo>
                  <a:pt x="320552" y="272105"/>
                </a:lnTo>
                <a:lnTo>
                  <a:pt x="215392" y="206809"/>
                </a:lnTo>
                <a:lnTo>
                  <a:pt x="74544" y="202882"/>
                </a:lnTo>
                <a:lnTo>
                  <a:pt x="76712" y="126813"/>
                </a:lnTo>
                <a:lnTo>
                  <a:pt x="224631" y="126813"/>
                </a:lnTo>
                <a:lnTo>
                  <a:pt x="326136" y="71318"/>
                </a:lnTo>
                <a:lnTo>
                  <a:pt x="337697" y="61596"/>
                </a:lnTo>
                <a:lnTo>
                  <a:pt x="344410" y="48612"/>
                </a:lnTo>
                <a:lnTo>
                  <a:pt x="345764" y="34057"/>
                </a:lnTo>
                <a:lnTo>
                  <a:pt x="341244" y="19621"/>
                </a:lnTo>
                <a:lnTo>
                  <a:pt x="331530" y="8066"/>
                </a:lnTo>
                <a:lnTo>
                  <a:pt x="318550" y="1355"/>
                </a:lnTo>
                <a:lnTo>
                  <a:pt x="303996" y="0"/>
                </a:lnTo>
                <a:close/>
              </a:path>
              <a:path w="929004" h="342264">
                <a:moveTo>
                  <a:pt x="217490" y="130717"/>
                </a:moveTo>
                <a:lnTo>
                  <a:pt x="151207" y="166955"/>
                </a:lnTo>
                <a:lnTo>
                  <a:pt x="215392" y="206809"/>
                </a:lnTo>
                <a:lnTo>
                  <a:pt x="926470" y="226635"/>
                </a:lnTo>
                <a:lnTo>
                  <a:pt x="928512" y="150435"/>
                </a:lnTo>
                <a:lnTo>
                  <a:pt x="217490" y="130717"/>
                </a:lnTo>
                <a:close/>
              </a:path>
              <a:path w="929004" h="342264">
                <a:moveTo>
                  <a:pt x="76712" y="126813"/>
                </a:moveTo>
                <a:lnTo>
                  <a:pt x="74544" y="202882"/>
                </a:lnTo>
                <a:lnTo>
                  <a:pt x="215392" y="206809"/>
                </a:lnTo>
                <a:lnTo>
                  <a:pt x="201704" y="198310"/>
                </a:lnTo>
                <a:lnTo>
                  <a:pt x="93857" y="198310"/>
                </a:lnTo>
                <a:lnTo>
                  <a:pt x="95762" y="132528"/>
                </a:lnTo>
                <a:lnTo>
                  <a:pt x="214177" y="132528"/>
                </a:lnTo>
                <a:lnTo>
                  <a:pt x="217490" y="130717"/>
                </a:lnTo>
                <a:lnTo>
                  <a:pt x="76712" y="126813"/>
                </a:lnTo>
                <a:close/>
              </a:path>
              <a:path w="929004" h="342264">
                <a:moveTo>
                  <a:pt x="95762" y="132528"/>
                </a:moveTo>
                <a:lnTo>
                  <a:pt x="93857" y="198310"/>
                </a:lnTo>
                <a:lnTo>
                  <a:pt x="151207" y="166955"/>
                </a:lnTo>
                <a:lnTo>
                  <a:pt x="95762" y="132528"/>
                </a:lnTo>
                <a:close/>
              </a:path>
              <a:path w="929004" h="342264">
                <a:moveTo>
                  <a:pt x="151207" y="166955"/>
                </a:moveTo>
                <a:lnTo>
                  <a:pt x="93857" y="198310"/>
                </a:lnTo>
                <a:lnTo>
                  <a:pt x="201704" y="198310"/>
                </a:lnTo>
                <a:lnTo>
                  <a:pt x="151207" y="166955"/>
                </a:lnTo>
                <a:close/>
              </a:path>
              <a:path w="929004" h="342264">
                <a:moveTo>
                  <a:pt x="214177" y="132528"/>
                </a:moveTo>
                <a:lnTo>
                  <a:pt x="95762" y="132528"/>
                </a:lnTo>
                <a:lnTo>
                  <a:pt x="151207" y="166955"/>
                </a:lnTo>
                <a:lnTo>
                  <a:pt x="214177" y="132528"/>
                </a:lnTo>
                <a:close/>
              </a:path>
              <a:path w="929004" h="342264">
                <a:moveTo>
                  <a:pt x="224631" y="126813"/>
                </a:moveTo>
                <a:lnTo>
                  <a:pt x="76712" y="126813"/>
                </a:lnTo>
                <a:lnTo>
                  <a:pt x="217490" y="130717"/>
                </a:lnTo>
                <a:lnTo>
                  <a:pt x="224631" y="126813"/>
                </a:lnTo>
                <a:close/>
              </a:path>
            </a:pathLst>
          </a:custGeom>
          <a:solidFill>
            <a:srgbClr val="FF006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465"/>
              </a:spcBef>
            </a:pPr>
            <a:r>
              <a:rPr spc="-40" dirty="0"/>
              <a:t>Clustering: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825544"/>
            <a:ext cx="10515600" cy="4351655"/>
          </a:xfrm>
          <a:prstGeom prst="rect">
            <a:avLst/>
          </a:prstGeom>
          <a:ln w="76199">
            <a:solidFill>
              <a:srgbClr val="FF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320675" marR="311150" indent="-229235">
              <a:lnSpc>
                <a:spcPts val="4060"/>
              </a:lnSpc>
              <a:spcBef>
                <a:spcPts val="135"/>
              </a:spcBef>
              <a:buFont typeface="Arial MT"/>
              <a:buChar char="•"/>
              <a:tabLst>
                <a:tab pos="321310" algn="l"/>
              </a:tabLst>
            </a:pPr>
            <a:r>
              <a:rPr sz="2750" b="1" spc="15" dirty="0">
                <a:latin typeface="Calibri"/>
                <a:cs typeface="Calibri"/>
              </a:rPr>
              <a:t>Clustering:</a:t>
            </a:r>
            <a:r>
              <a:rPr sz="2750" b="1" spc="-3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The</a:t>
            </a:r>
            <a:r>
              <a:rPr sz="2750" spc="11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main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problem</a:t>
            </a:r>
            <a:r>
              <a:rPr sz="2750" spc="24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with</a:t>
            </a:r>
            <a:r>
              <a:rPr sz="2750" spc="17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linear</a:t>
            </a:r>
            <a:r>
              <a:rPr sz="2750" spc="14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probing</a:t>
            </a:r>
            <a:r>
              <a:rPr sz="2750" spc="254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clustering,</a:t>
            </a:r>
            <a:r>
              <a:rPr sz="2750" spc="35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many </a:t>
            </a:r>
            <a:r>
              <a:rPr sz="2750" spc="-60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consecutive</a:t>
            </a:r>
            <a:r>
              <a:rPr sz="2750" spc="17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elements</a:t>
            </a:r>
            <a:r>
              <a:rPr sz="2750" spc="25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form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groups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and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it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starts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taking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time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find</a:t>
            </a:r>
            <a:r>
              <a:rPr sz="2750" spc="17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a 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free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slot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or</a:t>
            </a:r>
            <a:r>
              <a:rPr sz="2750" spc="-1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search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an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element.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36345">
              <a:lnSpc>
                <a:spcPct val="100000"/>
              </a:lnSpc>
              <a:spcBef>
                <a:spcPts val="465"/>
              </a:spcBef>
            </a:pPr>
            <a:r>
              <a:rPr dirty="0"/>
              <a:t>b)</a:t>
            </a:r>
            <a:r>
              <a:rPr spc="-315" dirty="0">
                <a:latin typeface="Times New Roman"/>
                <a:cs typeface="Times New Roman"/>
              </a:rPr>
              <a:t> </a:t>
            </a:r>
            <a:r>
              <a:rPr spc="20" dirty="0"/>
              <a:t>Q</a:t>
            </a:r>
            <a:r>
              <a:rPr spc="-150" dirty="0"/>
              <a:t>U</a:t>
            </a:r>
            <a:r>
              <a:rPr spc="-45" dirty="0"/>
              <a:t>A</a:t>
            </a:r>
            <a:r>
              <a:rPr spc="-30" dirty="0"/>
              <a:t>D</a:t>
            </a:r>
            <a:r>
              <a:rPr spc="-65" dirty="0"/>
              <a:t>R</a:t>
            </a:r>
            <a:r>
              <a:rPr spc="-570" dirty="0"/>
              <a:t>A</a:t>
            </a:r>
            <a:r>
              <a:rPr spc="-45" dirty="0"/>
              <a:t>T</a:t>
            </a:r>
            <a:r>
              <a:rPr spc="-35" dirty="0"/>
              <a:t>I</a:t>
            </a:r>
            <a:r>
              <a:rPr spc="5" dirty="0"/>
              <a:t>C</a:t>
            </a:r>
            <a:r>
              <a:rPr spc="-535" dirty="0">
                <a:latin typeface="Times New Roman"/>
                <a:cs typeface="Times New Roman"/>
              </a:rPr>
              <a:t> </a:t>
            </a:r>
            <a:r>
              <a:rPr spc="5" dirty="0"/>
              <a:t>P</a:t>
            </a:r>
            <a:r>
              <a:rPr spc="-45" dirty="0"/>
              <a:t>R</a:t>
            </a:r>
            <a:r>
              <a:rPr spc="-40" dirty="0"/>
              <a:t>O</a:t>
            </a:r>
            <a:r>
              <a:rPr dirty="0"/>
              <a:t>B</a:t>
            </a:r>
            <a:r>
              <a:rPr spc="-50" dirty="0"/>
              <a:t>I</a:t>
            </a:r>
            <a:r>
              <a:rPr spc="-85" dirty="0"/>
              <a:t>N</a:t>
            </a:r>
            <a:r>
              <a:rPr spc="5" dirty="0"/>
              <a:t>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825544"/>
            <a:ext cx="10515600" cy="4351655"/>
          </a:xfrm>
          <a:prstGeom prst="rect">
            <a:avLst/>
          </a:prstGeom>
          <a:ln w="76199">
            <a:solidFill>
              <a:srgbClr val="FF0000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91440" algn="just">
              <a:lnSpc>
                <a:spcPct val="100000"/>
              </a:lnSpc>
              <a:spcBef>
                <a:spcPts val="635"/>
              </a:spcBef>
            </a:pPr>
            <a:r>
              <a:rPr sz="2750" spc="-10" dirty="0">
                <a:latin typeface="Calibri"/>
                <a:cs typeface="Calibri"/>
              </a:rPr>
              <a:t>Instead</a:t>
            </a:r>
            <a:r>
              <a:rPr sz="2750" spc="160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-5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‘i’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,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we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have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i^2</a:t>
            </a:r>
            <a:r>
              <a:rPr sz="2750" spc="13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here</a:t>
            </a:r>
            <a:endParaRPr sz="2750" dirty="0">
              <a:latin typeface="Calibri"/>
              <a:cs typeface="Calibri"/>
            </a:endParaRPr>
          </a:p>
          <a:p>
            <a:pPr marL="91440" algn="just">
              <a:lnSpc>
                <a:spcPct val="100000"/>
              </a:lnSpc>
              <a:spcBef>
                <a:spcPts val="1730"/>
              </a:spcBef>
            </a:pPr>
            <a:r>
              <a:rPr sz="2750" spc="-5" dirty="0">
                <a:latin typeface="Calibri"/>
                <a:cs typeface="Calibri"/>
              </a:rPr>
              <a:t>Hi(x)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dirty="0">
                <a:latin typeface="Calibri"/>
                <a:cs typeface="Calibri"/>
              </a:rPr>
              <a:t>(Hash(x)</a:t>
            </a:r>
            <a:r>
              <a:rPr sz="2750" spc="18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+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i^2)</a:t>
            </a:r>
            <a:r>
              <a:rPr sz="2750" spc="105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%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Hash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45" dirty="0">
                <a:latin typeface="Calibri"/>
                <a:cs typeface="Calibri"/>
              </a:rPr>
              <a:t>Table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Size</a:t>
            </a:r>
            <a:endParaRPr sz="2750" dirty="0">
              <a:latin typeface="Calibri"/>
              <a:cs typeface="Calibri"/>
            </a:endParaRPr>
          </a:p>
          <a:p>
            <a:pPr marL="91440" marR="2219960" algn="just">
              <a:lnSpc>
                <a:spcPct val="152500"/>
              </a:lnSpc>
              <a:spcBef>
                <a:spcPts val="75"/>
              </a:spcBef>
            </a:pPr>
            <a:r>
              <a:rPr sz="2750" spc="-5" dirty="0">
                <a:latin typeface="Calibri"/>
                <a:cs typeface="Calibri"/>
              </a:rPr>
              <a:t>If h0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dirty="0">
                <a:latin typeface="Calibri"/>
                <a:cs typeface="Calibri"/>
              </a:rPr>
              <a:t>(Hash(x) </a:t>
            </a:r>
            <a:r>
              <a:rPr sz="2750" spc="10" dirty="0">
                <a:latin typeface="Calibri"/>
                <a:cs typeface="Calibri"/>
              </a:rPr>
              <a:t>+ 0) </a:t>
            </a:r>
            <a:r>
              <a:rPr sz="2750" spc="20" dirty="0">
                <a:latin typeface="Calibri"/>
                <a:cs typeface="Calibri"/>
              </a:rPr>
              <a:t>% </a:t>
            </a:r>
            <a:r>
              <a:rPr sz="2750" spc="5" dirty="0">
                <a:latin typeface="Calibri"/>
                <a:cs typeface="Calibri"/>
              </a:rPr>
              <a:t>Hash </a:t>
            </a:r>
            <a:r>
              <a:rPr sz="2750" spc="-45" dirty="0">
                <a:latin typeface="Calibri"/>
                <a:cs typeface="Calibri"/>
              </a:rPr>
              <a:t>Table </a:t>
            </a:r>
            <a:r>
              <a:rPr sz="2750" spc="-15" dirty="0">
                <a:latin typeface="Calibri"/>
                <a:cs typeface="Calibri"/>
              </a:rPr>
              <a:t>Size is full </a:t>
            </a:r>
            <a:r>
              <a:rPr sz="2750" spc="-5" dirty="0">
                <a:latin typeface="Calibri"/>
                <a:cs typeface="Calibri"/>
              </a:rPr>
              <a:t>we </a:t>
            </a:r>
            <a:r>
              <a:rPr sz="2750" dirty="0">
                <a:latin typeface="Calibri"/>
                <a:cs typeface="Calibri"/>
              </a:rPr>
              <a:t>try </a:t>
            </a:r>
            <a:r>
              <a:rPr sz="2750" spc="-15" dirty="0">
                <a:latin typeface="Calibri"/>
                <a:cs typeface="Calibri"/>
              </a:rPr>
              <a:t>for </a:t>
            </a:r>
            <a:r>
              <a:rPr sz="2750" spc="-5" dirty="0">
                <a:latin typeface="Calibri"/>
                <a:cs typeface="Calibri"/>
              </a:rPr>
              <a:t>h1 </a:t>
            </a:r>
            <a:r>
              <a:rPr sz="275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If h1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-5" dirty="0">
                <a:latin typeface="Calibri"/>
                <a:cs typeface="Calibri"/>
              </a:rPr>
              <a:t>(Hash(x) </a:t>
            </a:r>
            <a:r>
              <a:rPr sz="2750" spc="10" dirty="0">
                <a:latin typeface="Calibri"/>
                <a:cs typeface="Calibri"/>
              </a:rPr>
              <a:t>+ </a:t>
            </a:r>
            <a:r>
              <a:rPr sz="2750" spc="15" dirty="0">
                <a:latin typeface="Calibri"/>
                <a:cs typeface="Calibri"/>
              </a:rPr>
              <a:t>1) % </a:t>
            </a:r>
            <a:r>
              <a:rPr sz="2750" spc="5" dirty="0">
                <a:latin typeface="Calibri"/>
                <a:cs typeface="Calibri"/>
              </a:rPr>
              <a:t>Hash </a:t>
            </a:r>
            <a:r>
              <a:rPr sz="2750" spc="-50" dirty="0">
                <a:latin typeface="Calibri"/>
                <a:cs typeface="Calibri"/>
              </a:rPr>
              <a:t>Table </a:t>
            </a:r>
            <a:r>
              <a:rPr sz="2750" spc="-15" dirty="0">
                <a:latin typeface="Calibri"/>
                <a:cs typeface="Calibri"/>
              </a:rPr>
              <a:t>Size is full </a:t>
            </a:r>
            <a:r>
              <a:rPr sz="2750" spc="-5" dirty="0">
                <a:latin typeface="Calibri"/>
                <a:cs typeface="Calibri"/>
              </a:rPr>
              <a:t>we </a:t>
            </a:r>
            <a:r>
              <a:rPr sz="2750" dirty="0">
                <a:latin typeface="Calibri"/>
                <a:cs typeface="Calibri"/>
              </a:rPr>
              <a:t>try </a:t>
            </a:r>
            <a:r>
              <a:rPr sz="2750" spc="-15" dirty="0">
                <a:latin typeface="Calibri"/>
                <a:cs typeface="Calibri"/>
              </a:rPr>
              <a:t>for </a:t>
            </a:r>
            <a:r>
              <a:rPr sz="2750" spc="-25" dirty="0">
                <a:latin typeface="Calibri"/>
                <a:cs typeface="Calibri"/>
              </a:rPr>
              <a:t>h2 </a:t>
            </a:r>
            <a:r>
              <a:rPr sz="2750" spc="-2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If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h2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=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(Hash(x)</a:t>
            </a:r>
            <a:r>
              <a:rPr sz="2750" spc="26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+</a:t>
            </a:r>
            <a:r>
              <a:rPr sz="2750" spc="15" dirty="0">
                <a:latin typeface="Calibri"/>
                <a:cs typeface="Calibri"/>
              </a:rPr>
              <a:t> 4)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%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Hash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50" dirty="0">
                <a:latin typeface="Calibri"/>
                <a:cs typeface="Calibri"/>
              </a:rPr>
              <a:t>Table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Size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full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we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try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for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h3</a:t>
            </a:r>
            <a:endParaRPr sz="2750" dirty="0">
              <a:latin typeface="Calibri"/>
              <a:cs typeface="Calibri"/>
            </a:endParaRPr>
          </a:p>
          <a:p>
            <a:pPr marL="91440" algn="just">
              <a:lnSpc>
                <a:spcPct val="100000"/>
              </a:lnSpc>
              <a:spcBef>
                <a:spcPts val="1730"/>
              </a:spcBef>
            </a:pPr>
            <a:r>
              <a:rPr sz="2750" spc="-5" dirty="0">
                <a:latin typeface="Calibri"/>
                <a:cs typeface="Calibri"/>
              </a:rPr>
              <a:t>If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h3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=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(Hash(x)</a:t>
            </a:r>
            <a:r>
              <a:rPr sz="2750" spc="26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+ </a:t>
            </a:r>
            <a:r>
              <a:rPr sz="2750" spc="15" dirty="0">
                <a:latin typeface="Calibri"/>
                <a:cs typeface="Calibri"/>
              </a:rPr>
              <a:t>9)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%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Hash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45" dirty="0">
                <a:latin typeface="Calibri"/>
                <a:cs typeface="Calibri"/>
              </a:rPr>
              <a:t>Table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Size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full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we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try</a:t>
            </a:r>
            <a:r>
              <a:rPr sz="2750" spc="7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for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h4………</a:t>
            </a:r>
            <a:endParaRPr sz="27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051430" y="674634"/>
          <a:ext cx="1355089" cy="40792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5281178" y="1502514"/>
            <a:ext cx="3553460" cy="462280"/>
          </a:xfrm>
          <a:prstGeom prst="rect">
            <a:avLst/>
          </a:prstGeom>
          <a:solidFill>
            <a:srgbClr val="00AFF0"/>
          </a:solidFill>
        </p:spPr>
        <p:txBody>
          <a:bodyPr vert="horz" wrap="square" lIns="0" tIns="29209" rIns="0" bIns="0" rtlCol="0">
            <a:spAutoFit/>
          </a:bodyPr>
          <a:lstStyle/>
          <a:p>
            <a:pPr marL="715645">
              <a:lnSpc>
                <a:spcPct val="100000"/>
              </a:lnSpc>
              <a:spcBef>
                <a:spcPts val="229"/>
              </a:spcBef>
            </a:pPr>
            <a:r>
              <a:rPr sz="2400" b="1" spc="2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r>
              <a:rPr sz="2400" b="1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7,36,18,62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217934" y="637540"/>
            <a:ext cx="979169" cy="385445"/>
            <a:chOff x="4217934" y="637540"/>
            <a:chExt cx="979169" cy="385445"/>
          </a:xfrm>
        </p:grpSpPr>
        <p:sp>
          <p:nvSpPr>
            <p:cNvPr id="5" name="object 5"/>
            <p:cNvSpPr/>
            <p:nvPr/>
          </p:nvSpPr>
          <p:spPr>
            <a:xfrm>
              <a:off x="4224284" y="643890"/>
              <a:ext cx="966469" cy="372745"/>
            </a:xfrm>
            <a:custGeom>
              <a:avLst/>
              <a:gdLst/>
              <a:ahLst/>
              <a:cxnLst/>
              <a:rect l="l" t="t" r="r" b="b"/>
              <a:pathLst>
                <a:path w="966470" h="372744">
                  <a:moveTo>
                    <a:pt x="903853" y="0"/>
                  </a:moveTo>
                  <a:lnTo>
                    <a:pt x="62087" y="0"/>
                  </a:lnTo>
                  <a:lnTo>
                    <a:pt x="37920" y="4879"/>
                  </a:lnTo>
                  <a:lnTo>
                    <a:pt x="18185" y="18185"/>
                  </a:lnTo>
                  <a:lnTo>
                    <a:pt x="4879" y="37920"/>
                  </a:lnTo>
                  <a:lnTo>
                    <a:pt x="0" y="62087"/>
                  </a:lnTo>
                  <a:lnTo>
                    <a:pt x="0" y="310377"/>
                  </a:lnTo>
                  <a:lnTo>
                    <a:pt x="4879" y="334479"/>
                  </a:lnTo>
                  <a:lnTo>
                    <a:pt x="18185" y="354189"/>
                  </a:lnTo>
                  <a:lnTo>
                    <a:pt x="37920" y="367492"/>
                  </a:lnTo>
                  <a:lnTo>
                    <a:pt x="62087" y="372374"/>
                  </a:lnTo>
                  <a:lnTo>
                    <a:pt x="903853" y="372374"/>
                  </a:lnTo>
                  <a:lnTo>
                    <a:pt x="928021" y="367492"/>
                  </a:lnTo>
                  <a:lnTo>
                    <a:pt x="947756" y="354189"/>
                  </a:lnTo>
                  <a:lnTo>
                    <a:pt x="961062" y="334479"/>
                  </a:lnTo>
                  <a:lnTo>
                    <a:pt x="965941" y="310377"/>
                  </a:lnTo>
                  <a:lnTo>
                    <a:pt x="965941" y="62087"/>
                  </a:lnTo>
                  <a:lnTo>
                    <a:pt x="961062" y="37920"/>
                  </a:lnTo>
                  <a:lnTo>
                    <a:pt x="947756" y="18185"/>
                  </a:lnTo>
                  <a:lnTo>
                    <a:pt x="928021" y="4879"/>
                  </a:lnTo>
                  <a:lnTo>
                    <a:pt x="90385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24284" y="643890"/>
              <a:ext cx="966469" cy="372745"/>
            </a:xfrm>
            <a:custGeom>
              <a:avLst/>
              <a:gdLst/>
              <a:ahLst/>
              <a:cxnLst/>
              <a:rect l="l" t="t" r="r" b="b"/>
              <a:pathLst>
                <a:path w="966470" h="372744">
                  <a:moveTo>
                    <a:pt x="0" y="62087"/>
                  </a:moveTo>
                  <a:lnTo>
                    <a:pt x="4879" y="37920"/>
                  </a:lnTo>
                  <a:lnTo>
                    <a:pt x="18185" y="18185"/>
                  </a:lnTo>
                  <a:lnTo>
                    <a:pt x="37920" y="4879"/>
                  </a:lnTo>
                  <a:lnTo>
                    <a:pt x="62087" y="0"/>
                  </a:lnTo>
                  <a:lnTo>
                    <a:pt x="903853" y="0"/>
                  </a:lnTo>
                  <a:lnTo>
                    <a:pt x="928021" y="4879"/>
                  </a:lnTo>
                  <a:lnTo>
                    <a:pt x="947756" y="18185"/>
                  </a:lnTo>
                  <a:lnTo>
                    <a:pt x="961062" y="37920"/>
                  </a:lnTo>
                  <a:lnTo>
                    <a:pt x="965941" y="62087"/>
                  </a:lnTo>
                  <a:lnTo>
                    <a:pt x="965941" y="310377"/>
                  </a:lnTo>
                  <a:lnTo>
                    <a:pt x="961062" y="334479"/>
                  </a:lnTo>
                  <a:lnTo>
                    <a:pt x="947756" y="354189"/>
                  </a:lnTo>
                  <a:lnTo>
                    <a:pt x="928021" y="367492"/>
                  </a:lnTo>
                  <a:lnTo>
                    <a:pt x="903853" y="372374"/>
                  </a:lnTo>
                  <a:lnTo>
                    <a:pt x="62087" y="372374"/>
                  </a:lnTo>
                  <a:lnTo>
                    <a:pt x="37920" y="367492"/>
                  </a:lnTo>
                  <a:lnTo>
                    <a:pt x="18185" y="354189"/>
                  </a:lnTo>
                  <a:lnTo>
                    <a:pt x="4879" y="334479"/>
                  </a:lnTo>
                  <a:lnTo>
                    <a:pt x="0" y="310377"/>
                  </a:lnTo>
                  <a:lnTo>
                    <a:pt x="0" y="62087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63088" y="662300"/>
            <a:ext cx="679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latin typeface="Calibri"/>
                <a:cs typeface="Calibri"/>
              </a:rPr>
              <a:t>E</a:t>
            </a:r>
            <a:r>
              <a:rPr sz="1800" spc="30" dirty="0">
                <a:latin typeface="Calibri"/>
                <a:cs typeface="Calibri"/>
              </a:rPr>
              <a:t>M</a:t>
            </a:r>
            <a:r>
              <a:rPr sz="1800" spc="-30" dirty="0">
                <a:latin typeface="Calibri"/>
                <a:cs typeface="Calibri"/>
              </a:rPr>
              <a:t>P</a:t>
            </a:r>
            <a:r>
              <a:rPr sz="1800" spc="2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00664" y="637540"/>
            <a:ext cx="1363345" cy="385445"/>
            <a:chOff x="5700664" y="637540"/>
            <a:chExt cx="1363345" cy="385445"/>
          </a:xfrm>
        </p:grpSpPr>
        <p:sp>
          <p:nvSpPr>
            <p:cNvPr id="9" name="object 9"/>
            <p:cNvSpPr/>
            <p:nvPr/>
          </p:nvSpPr>
          <p:spPr>
            <a:xfrm>
              <a:off x="5707014" y="643890"/>
              <a:ext cx="1350645" cy="372745"/>
            </a:xfrm>
            <a:custGeom>
              <a:avLst/>
              <a:gdLst/>
              <a:ahLst/>
              <a:cxnLst/>
              <a:rect l="l" t="t" r="r" b="b"/>
              <a:pathLst>
                <a:path w="1350645" h="372744">
                  <a:moveTo>
                    <a:pt x="1288541" y="0"/>
                  </a:moveTo>
                  <a:lnTo>
                    <a:pt x="61965" y="0"/>
                  </a:lnTo>
                  <a:lnTo>
                    <a:pt x="37869" y="4879"/>
                  </a:lnTo>
                  <a:lnTo>
                    <a:pt x="18169" y="18185"/>
                  </a:lnTo>
                  <a:lnTo>
                    <a:pt x="4877" y="37920"/>
                  </a:lnTo>
                  <a:lnTo>
                    <a:pt x="0" y="62087"/>
                  </a:lnTo>
                  <a:lnTo>
                    <a:pt x="0" y="310377"/>
                  </a:lnTo>
                  <a:lnTo>
                    <a:pt x="4877" y="334479"/>
                  </a:lnTo>
                  <a:lnTo>
                    <a:pt x="18169" y="354189"/>
                  </a:lnTo>
                  <a:lnTo>
                    <a:pt x="37869" y="367492"/>
                  </a:lnTo>
                  <a:lnTo>
                    <a:pt x="61965" y="372374"/>
                  </a:lnTo>
                  <a:lnTo>
                    <a:pt x="1288541" y="372374"/>
                  </a:lnTo>
                  <a:lnTo>
                    <a:pt x="1312709" y="367492"/>
                  </a:lnTo>
                  <a:lnTo>
                    <a:pt x="1332444" y="354189"/>
                  </a:lnTo>
                  <a:lnTo>
                    <a:pt x="1345750" y="334479"/>
                  </a:lnTo>
                  <a:lnTo>
                    <a:pt x="1350629" y="310377"/>
                  </a:lnTo>
                  <a:lnTo>
                    <a:pt x="1350629" y="62087"/>
                  </a:lnTo>
                  <a:lnTo>
                    <a:pt x="1345750" y="37920"/>
                  </a:lnTo>
                  <a:lnTo>
                    <a:pt x="1332444" y="18185"/>
                  </a:lnTo>
                  <a:lnTo>
                    <a:pt x="1312709" y="4879"/>
                  </a:lnTo>
                  <a:lnTo>
                    <a:pt x="1288541" y="0"/>
                  </a:lnTo>
                  <a:close/>
                </a:path>
              </a:pathLst>
            </a:custGeom>
            <a:solidFill>
              <a:srgbClr val="91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07014" y="643890"/>
              <a:ext cx="1350645" cy="372745"/>
            </a:xfrm>
            <a:custGeom>
              <a:avLst/>
              <a:gdLst/>
              <a:ahLst/>
              <a:cxnLst/>
              <a:rect l="l" t="t" r="r" b="b"/>
              <a:pathLst>
                <a:path w="1350645" h="372744">
                  <a:moveTo>
                    <a:pt x="0" y="62087"/>
                  </a:moveTo>
                  <a:lnTo>
                    <a:pt x="4877" y="37920"/>
                  </a:lnTo>
                  <a:lnTo>
                    <a:pt x="18169" y="18185"/>
                  </a:lnTo>
                  <a:lnTo>
                    <a:pt x="37869" y="4879"/>
                  </a:lnTo>
                  <a:lnTo>
                    <a:pt x="61965" y="0"/>
                  </a:lnTo>
                  <a:lnTo>
                    <a:pt x="1288541" y="0"/>
                  </a:lnTo>
                  <a:lnTo>
                    <a:pt x="1312709" y="4879"/>
                  </a:lnTo>
                  <a:lnTo>
                    <a:pt x="1332444" y="18185"/>
                  </a:lnTo>
                  <a:lnTo>
                    <a:pt x="1345750" y="37920"/>
                  </a:lnTo>
                  <a:lnTo>
                    <a:pt x="1350629" y="62087"/>
                  </a:lnTo>
                  <a:lnTo>
                    <a:pt x="1350629" y="310377"/>
                  </a:lnTo>
                  <a:lnTo>
                    <a:pt x="1345750" y="334479"/>
                  </a:lnTo>
                  <a:lnTo>
                    <a:pt x="1332444" y="354189"/>
                  </a:lnTo>
                  <a:lnTo>
                    <a:pt x="1312709" y="367492"/>
                  </a:lnTo>
                  <a:lnTo>
                    <a:pt x="1288541" y="372374"/>
                  </a:lnTo>
                  <a:lnTo>
                    <a:pt x="61965" y="372374"/>
                  </a:lnTo>
                  <a:lnTo>
                    <a:pt x="37869" y="367492"/>
                  </a:lnTo>
                  <a:lnTo>
                    <a:pt x="18169" y="354189"/>
                  </a:lnTo>
                  <a:lnTo>
                    <a:pt x="4877" y="334479"/>
                  </a:lnTo>
                  <a:lnTo>
                    <a:pt x="0" y="310377"/>
                  </a:lnTo>
                  <a:lnTo>
                    <a:pt x="0" y="62087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885184" y="662300"/>
            <a:ext cx="994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latin typeface="Calibri"/>
                <a:cs typeface="Calibri"/>
              </a:rPr>
              <a:t>O</a:t>
            </a:r>
            <a:r>
              <a:rPr sz="1800" spc="10" dirty="0">
                <a:latin typeface="Calibri"/>
                <a:cs typeface="Calibri"/>
              </a:rPr>
              <a:t>CC</a:t>
            </a:r>
            <a:r>
              <a:rPr sz="1800" spc="-30" dirty="0">
                <a:latin typeface="Calibri"/>
                <a:cs typeface="Calibri"/>
              </a:rPr>
              <a:t>UP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1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705973" y="637540"/>
            <a:ext cx="1354455" cy="385445"/>
            <a:chOff x="7705973" y="637540"/>
            <a:chExt cx="1354455" cy="385445"/>
          </a:xfrm>
        </p:grpSpPr>
        <p:sp>
          <p:nvSpPr>
            <p:cNvPr id="13" name="object 13"/>
            <p:cNvSpPr/>
            <p:nvPr/>
          </p:nvSpPr>
          <p:spPr>
            <a:xfrm>
              <a:off x="7712323" y="643890"/>
              <a:ext cx="1341755" cy="372745"/>
            </a:xfrm>
            <a:custGeom>
              <a:avLst/>
              <a:gdLst/>
              <a:ahLst/>
              <a:cxnLst/>
              <a:rect l="l" t="t" r="r" b="b"/>
              <a:pathLst>
                <a:path w="1341754" h="372744">
                  <a:moveTo>
                    <a:pt x="1279397" y="0"/>
                  </a:moveTo>
                  <a:lnTo>
                    <a:pt x="61996" y="0"/>
                  </a:lnTo>
                  <a:lnTo>
                    <a:pt x="37894" y="4879"/>
                  </a:lnTo>
                  <a:lnTo>
                    <a:pt x="18185" y="18185"/>
                  </a:lnTo>
                  <a:lnTo>
                    <a:pt x="4882" y="37920"/>
                  </a:lnTo>
                  <a:lnTo>
                    <a:pt x="0" y="62087"/>
                  </a:lnTo>
                  <a:lnTo>
                    <a:pt x="0" y="310377"/>
                  </a:lnTo>
                  <a:lnTo>
                    <a:pt x="4882" y="334479"/>
                  </a:lnTo>
                  <a:lnTo>
                    <a:pt x="18185" y="354189"/>
                  </a:lnTo>
                  <a:lnTo>
                    <a:pt x="37894" y="367492"/>
                  </a:lnTo>
                  <a:lnTo>
                    <a:pt x="61996" y="372374"/>
                  </a:lnTo>
                  <a:lnTo>
                    <a:pt x="1279397" y="372374"/>
                  </a:lnTo>
                  <a:lnTo>
                    <a:pt x="1303570" y="367492"/>
                  </a:lnTo>
                  <a:lnTo>
                    <a:pt x="1323315" y="354189"/>
                  </a:lnTo>
                  <a:lnTo>
                    <a:pt x="1336632" y="334479"/>
                  </a:lnTo>
                  <a:lnTo>
                    <a:pt x="1341516" y="310377"/>
                  </a:lnTo>
                  <a:lnTo>
                    <a:pt x="1341516" y="62087"/>
                  </a:lnTo>
                  <a:lnTo>
                    <a:pt x="1336632" y="37920"/>
                  </a:lnTo>
                  <a:lnTo>
                    <a:pt x="1323315" y="18185"/>
                  </a:lnTo>
                  <a:lnTo>
                    <a:pt x="1303570" y="4879"/>
                  </a:lnTo>
                  <a:lnTo>
                    <a:pt x="1279397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12323" y="643890"/>
              <a:ext cx="1341755" cy="372745"/>
            </a:xfrm>
            <a:custGeom>
              <a:avLst/>
              <a:gdLst/>
              <a:ahLst/>
              <a:cxnLst/>
              <a:rect l="l" t="t" r="r" b="b"/>
              <a:pathLst>
                <a:path w="1341754" h="372744">
                  <a:moveTo>
                    <a:pt x="0" y="62087"/>
                  </a:moveTo>
                  <a:lnTo>
                    <a:pt x="4882" y="37920"/>
                  </a:lnTo>
                  <a:lnTo>
                    <a:pt x="18185" y="18185"/>
                  </a:lnTo>
                  <a:lnTo>
                    <a:pt x="37894" y="4879"/>
                  </a:lnTo>
                  <a:lnTo>
                    <a:pt x="61996" y="0"/>
                  </a:lnTo>
                  <a:lnTo>
                    <a:pt x="1279397" y="0"/>
                  </a:lnTo>
                  <a:lnTo>
                    <a:pt x="1303570" y="4879"/>
                  </a:lnTo>
                  <a:lnTo>
                    <a:pt x="1323315" y="18185"/>
                  </a:lnTo>
                  <a:lnTo>
                    <a:pt x="1336632" y="37920"/>
                  </a:lnTo>
                  <a:lnTo>
                    <a:pt x="1341516" y="62087"/>
                  </a:lnTo>
                  <a:lnTo>
                    <a:pt x="1341516" y="310377"/>
                  </a:lnTo>
                  <a:lnTo>
                    <a:pt x="1336632" y="334479"/>
                  </a:lnTo>
                  <a:lnTo>
                    <a:pt x="1323315" y="354189"/>
                  </a:lnTo>
                  <a:lnTo>
                    <a:pt x="1303570" y="367492"/>
                  </a:lnTo>
                  <a:lnTo>
                    <a:pt x="1279397" y="372374"/>
                  </a:lnTo>
                  <a:lnTo>
                    <a:pt x="61996" y="372374"/>
                  </a:lnTo>
                  <a:lnTo>
                    <a:pt x="37894" y="367492"/>
                  </a:lnTo>
                  <a:lnTo>
                    <a:pt x="18185" y="354189"/>
                  </a:lnTo>
                  <a:lnTo>
                    <a:pt x="4882" y="334479"/>
                  </a:lnTo>
                  <a:lnTo>
                    <a:pt x="0" y="310377"/>
                  </a:lnTo>
                  <a:lnTo>
                    <a:pt x="0" y="62087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959096" y="662300"/>
            <a:ext cx="8616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TE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35545" y="2399978"/>
            <a:ext cx="5215255" cy="222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445" algn="ctr">
              <a:lnSpc>
                <a:spcPts val="2865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N</a:t>
            </a:r>
            <a:r>
              <a:rPr sz="2400" b="1" spc="20" dirty="0">
                <a:latin typeface="Calibri"/>
                <a:cs typeface="Calibri"/>
              </a:rPr>
              <a:t>O</a:t>
            </a:r>
            <a:r>
              <a:rPr sz="2400" b="1" dirty="0">
                <a:latin typeface="Calibri"/>
                <a:cs typeface="Calibri"/>
              </a:rPr>
              <a:t>.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20" dirty="0">
                <a:latin typeface="Calibri"/>
                <a:cs typeface="Calibri"/>
              </a:rPr>
              <a:t>O</a:t>
            </a:r>
            <a:r>
              <a:rPr sz="2400" b="1" dirty="0">
                <a:latin typeface="Calibri"/>
                <a:cs typeface="Calibri"/>
              </a:rPr>
              <a:t>F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S</a:t>
            </a:r>
            <a:r>
              <a:rPr sz="2400" b="1" spc="-45" dirty="0">
                <a:latin typeface="Calibri"/>
                <a:cs typeface="Calibri"/>
              </a:rPr>
              <a:t>L</a:t>
            </a:r>
            <a:r>
              <a:rPr sz="2400" b="1" spc="-50" dirty="0">
                <a:latin typeface="Calibri"/>
                <a:cs typeface="Calibri"/>
              </a:rPr>
              <a:t>O</a:t>
            </a:r>
            <a:r>
              <a:rPr sz="2400" b="1" spc="5" dirty="0">
                <a:latin typeface="Calibri"/>
                <a:cs typeface="Calibri"/>
              </a:rPr>
              <a:t>T</a:t>
            </a:r>
            <a:r>
              <a:rPr sz="2400" b="1" dirty="0">
                <a:latin typeface="Calibri"/>
                <a:cs typeface="Calibri"/>
              </a:rPr>
              <a:t>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Calibri"/>
                <a:cs typeface="Calibri"/>
              </a:rPr>
              <a:t>&gt;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</a:t>
            </a:r>
            <a:r>
              <a:rPr sz="2400" b="1" spc="20" dirty="0">
                <a:latin typeface="Calibri"/>
                <a:cs typeface="Calibri"/>
              </a:rPr>
              <a:t>O</a:t>
            </a:r>
            <a:r>
              <a:rPr sz="2400" b="1" dirty="0">
                <a:latin typeface="Calibri"/>
                <a:cs typeface="Calibri"/>
              </a:rPr>
              <a:t>.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spc="20" dirty="0">
                <a:latin typeface="Calibri"/>
                <a:cs typeface="Calibri"/>
              </a:rPr>
              <a:t>O</a:t>
            </a:r>
            <a:r>
              <a:rPr sz="2400" b="1" dirty="0">
                <a:latin typeface="Calibri"/>
                <a:cs typeface="Calibri"/>
              </a:rPr>
              <a:t>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b="1" spc="30" dirty="0">
                <a:latin typeface="Calibri"/>
                <a:cs typeface="Calibri"/>
              </a:rPr>
              <a:t>K</a:t>
            </a:r>
            <a:r>
              <a:rPr sz="2400" b="1" spc="20" dirty="0">
                <a:latin typeface="Calibri"/>
                <a:cs typeface="Calibri"/>
              </a:rPr>
              <a:t>E</a:t>
            </a:r>
            <a:r>
              <a:rPr sz="2400" b="1" spc="25" dirty="0">
                <a:latin typeface="Calibri"/>
                <a:cs typeface="Calibri"/>
              </a:rPr>
              <a:t>Y</a:t>
            </a:r>
            <a:r>
              <a:rPr sz="2400" b="1" dirty="0">
                <a:latin typeface="Calibri"/>
                <a:cs typeface="Calibri"/>
              </a:rPr>
              <a:t>S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?</a:t>
            </a:r>
            <a:endParaRPr sz="2400" dirty="0">
              <a:latin typeface="Calibri"/>
              <a:cs typeface="Calibri"/>
            </a:endParaRPr>
          </a:p>
          <a:p>
            <a:pPr algn="ctr">
              <a:lnSpc>
                <a:spcPts val="2865"/>
              </a:lnSpc>
            </a:pPr>
            <a:r>
              <a:rPr sz="2400" b="1" spc="-10" dirty="0">
                <a:latin typeface="Calibri"/>
                <a:cs typeface="Calibri"/>
              </a:rPr>
              <a:t>11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&gt;</a:t>
            </a:r>
            <a:r>
              <a:rPr sz="2400" b="1" spc="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4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(YES)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 dirty="0">
              <a:latin typeface="Calibri"/>
              <a:cs typeface="Calibri"/>
            </a:endParaRPr>
          </a:p>
          <a:p>
            <a:pPr marL="12700" marR="5080" algn="ctr">
              <a:lnSpc>
                <a:spcPts val="2850"/>
              </a:lnSpc>
            </a:pPr>
            <a:r>
              <a:rPr sz="2400" b="1" spc="-5" dirty="0">
                <a:latin typeface="Calibri"/>
                <a:cs typeface="Calibri"/>
              </a:rPr>
              <a:t>For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slot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,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use</a:t>
            </a:r>
            <a:r>
              <a:rPr sz="2400" b="1" spc="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states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mentioned </a:t>
            </a:r>
            <a:r>
              <a:rPr sz="2400" b="1" spc="-5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above.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74867" y="5471472"/>
            <a:ext cx="516001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dirty="0">
                <a:latin typeface="Calibri"/>
                <a:cs typeface="Calibri"/>
              </a:rPr>
              <a:t>Quadratic</a:t>
            </a:r>
            <a:r>
              <a:rPr sz="3600" b="1" spc="-16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Probing</a:t>
            </a:r>
            <a:r>
              <a:rPr sz="3600" b="1" spc="-4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-</a:t>
            </a:r>
            <a:r>
              <a:rPr sz="3600" b="1" spc="-6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INSERT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B71491-54AB-242D-D1DE-87678569789B}"/>
              </a:ext>
            </a:extLst>
          </p:cNvPr>
          <p:cNvSpPr txBox="1"/>
          <p:nvPr/>
        </p:nvSpPr>
        <p:spPr>
          <a:xfrm>
            <a:off x="4754872" y="1992800"/>
            <a:ext cx="61969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algn="just">
              <a:lnSpc>
                <a:spcPct val="100000"/>
              </a:lnSpc>
              <a:spcBef>
                <a:spcPts val="1730"/>
              </a:spcBef>
            </a:pPr>
            <a:r>
              <a:rPr lang="en-US" sz="2400" b="1" spc="-5" dirty="0">
                <a:latin typeface="Calibri"/>
                <a:cs typeface="Calibri"/>
              </a:rPr>
              <a:t>Hi(x)</a:t>
            </a:r>
            <a:r>
              <a:rPr lang="en-US" sz="2400" b="1" spc="100" dirty="0">
                <a:latin typeface="Calibri"/>
                <a:cs typeface="Calibri"/>
              </a:rPr>
              <a:t> </a:t>
            </a:r>
            <a:r>
              <a:rPr lang="en-US" sz="2400" b="1" spc="10" dirty="0">
                <a:latin typeface="Calibri"/>
                <a:cs typeface="Calibri"/>
              </a:rPr>
              <a:t>= </a:t>
            </a:r>
            <a:r>
              <a:rPr lang="en-US" sz="2400" b="1" dirty="0">
                <a:latin typeface="Calibri"/>
                <a:cs typeface="Calibri"/>
              </a:rPr>
              <a:t>(Hash(x)</a:t>
            </a:r>
            <a:r>
              <a:rPr lang="en-US" sz="2400" b="1" spc="180" dirty="0">
                <a:latin typeface="Calibri"/>
                <a:cs typeface="Calibri"/>
              </a:rPr>
              <a:t> </a:t>
            </a:r>
            <a:r>
              <a:rPr lang="en-US" sz="2400" b="1" spc="10" dirty="0">
                <a:latin typeface="Calibri"/>
                <a:cs typeface="Calibri"/>
              </a:rPr>
              <a:t>+</a:t>
            </a:r>
            <a:r>
              <a:rPr lang="en-US" sz="2400" b="1" spc="85" dirty="0">
                <a:latin typeface="Calibri"/>
                <a:cs typeface="Calibri"/>
              </a:rPr>
              <a:t> </a:t>
            </a:r>
            <a:r>
              <a:rPr lang="en-US" sz="2400" b="1" spc="-5" dirty="0">
                <a:latin typeface="Calibri"/>
                <a:cs typeface="Calibri"/>
              </a:rPr>
              <a:t>i^2)</a:t>
            </a:r>
            <a:r>
              <a:rPr lang="en-US" sz="2400" b="1" spc="105" dirty="0">
                <a:latin typeface="Calibri"/>
                <a:cs typeface="Calibri"/>
              </a:rPr>
              <a:t> </a:t>
            </a:r>
            <a:r>
              <a:rPr lang="en-US" sz="2400" b="1" spc="20" dirty="0">
                <a:latin typeface="Calibri"/>
                <a:cs typeface="Calibri"/>
              </a:rPr>
              <a:t>%</a:t>
            </a:r>
            <a:r>
              <a:rPr lang="en-US" sz="2400" b="1" spc="10" dirty="0">
                <a:latin typeface="Calibri"/>
                <a:cs typeface="Calibri"/>
              </a:rPr>
              <a:t> </a:t>
            </a:r>
            <a:r>
              <a:rPr lang="en-US" sz="2400" b="1" spc="5" dirty="0">
                <a:latin typeface="Calibri"/>
                <a:cs typeface="Calibri"/>
              </a:rPr>
              <a:t>Hash</a:t>
            </a:r>
            <a:r>
              <a:rPr lang="en-US" sz="2400" b="1" spc="85" dirty="0">
                <a:latin typeface="Calibri"/>
                <a:cs typeface="Calibri"/>
              </a:rPr>
              <a:t> </a:t>
            </a:r>
            <a:r>
              <a:rPr lang="en-US" sz="2400" b="1" spc="-45" dirty="0">
                <a:latin typeface="Calibri"/>
                <a:cs typeface="Calibri"/>
              </a:rPr>
              <a:t>Table</a:t>
            </a:r>
            <a:r>
              <a:rPr lang="en-US" sz="2400" b="1" spc="90" dirty="0">
                <a:latin typeface="Calibri"/>
                <a:cs typeface="Calibri"/>
              </a:rPr>
              <a:t> </a:t>
            </a:r>
            <a:r>
              <a:rPr lang="en-US" sz="2400" b="1" spc="-15" dirty="0">
                <a:latin typeface="Calibri"/>
                <a:cs typeface="Calibri"/>
              </a:rPr>
              <a:t>Size</a:t>
            </a:r>
            <a:endParaRPr lang="en-US" sz="24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408312" y="1869450"/>
          <a:ext cx="1355089" cy="40792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9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9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31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31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92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417451" y="1316324"/>
            <a:ext cx="3553460" cy="462280"/>
          </a:xfrm>
          <a:prstGeom prst="rect">
            <a:avLst/>
          </a:prstGeom>
          <a:solidFill>
            <a:srgbClr val="00AFF0"/>
          </a:solidFill>
        </p:spPr>
        <p:txBody>
          <a:bodyPr vert="horz" wrap="square" lIns="0" tIns="28575" rIns="0" bIns="0" rtlCol="0">
            <a:spAutoFit/>
          </a:bodyPr>
          <a:lstStyle/>
          <a:p>
            <a:pPr marL="712470">
              <a:lnSpc>
                <a:spcPct val="100000"/>
              </a:lnSpc>
              <a:spcBef>
                <a:spcPts val="225"/>
              </a:spcBef>
            </a:pPr>
            <a:r>
              <a:rPr sz="2400" b="1" spc="2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r>
              <a:rPr sz="2400" b="1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7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,36,18,62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4255" y="451368"/>
            <a:ext cx="979169" cy="385445"/>
            <a:chOff x="354255" y="451368"/>
            <a:chExt cx="979169" cy="385445"/>
          </a:xfrm>
        </p:grpSpPr>
        <p:sp>
          <p:nvSpPr>
            <p:cNvPr id="5" name="object 5"/>
            <p:cNvSpPr/>
            <p:nvPr/>
          </p:nvSpPr>
          <p:spPr>
            <a:xfrm>
              <a:off x="360605" y="457718"/>
              <a:ext cx="966469" cy="372745"/>
            </a:xfrm>
            <a:custGeom>
              <a:avLst/>
              <a:gdLst/>
              <a:ahLst/>
              <a:cxnLst/>
              <a:rect l="l" t="t" r="r" b="b"/>
              <a:pathLst>
                <a:path w="966469" h="372744">
                  <a:moveTo>
                    <a:pt x="903863" y="0"/>
                  </a:moveTo>
                  <a:lnTo>
                    <a:pt x="62066" y="0"/>
                  </a:lnTo>
                  <a:lnTo>
                    <a:pt x="37907" y="4879"/>
                  </a:lnTo>
                  <a:lnTo>
                    <a:pt x="18179" y="18185"/>
                  </a:lnTo>
                  <a:lnTo>
                    <a:pt x="4877" y="37920"/>
                  </a:lnTo>
                  <a:lnTo>
                    <a:pt x="0" y="62087"/>
                  </a:lnTo>
                  <a:lnTo>
                    <a:pt x="0" y="310377"/>
                  </a:lnTo>
                  <a:lnTo>
                    <a:pt x="4877" y="334526"/>
                  </a:lnTo>
                  <a:lnTo>
                    <a:pt x="18179" y="354219"/>
                  </a:lnTo>
                  <a:lnTo>
                    <a:pt x="37907" y="367483"/>
                  </a:lnTo>
                  <a:lnTo>
                    <a:pt x="62066" y="372343"/>
                  </a:lnTo>
                  <a:lnTo>
                    <a:pt x="903863" y="372343"/>
                  </a:lnTo>
                  <a:lnTo>
                    <a:pt x="927997" y="367483"/>
                  </a:lnTo>
                  <a:lnTo>
                    <a:pt x="947719" y="354219"/>
                  </a:lnTo>
                  <a:lnTo>
                    <a:pt x="961024" y="334526"/>
                  </a:lnTo>
                  <a:lnTo>
                    <a:pt x="965905" y="310377"/>
                  </a:lnTo>
                  <a:lnTo>
                    <a:pt x="965905" y="62087"/>
                  </a:lnTo>
                  <a:lnTo>
                    <a:pt x="961024" y="37920"/>
                  </a:lnTo>
                  <a:lnTo>
                    <a:pt x="947719" y="18185"/>
                  </a:lnTo>
                  <a:lnTo>
                    <a:pt x="927997" y="4879"/>
                  </a:lnTo>
                  <a:lnTo>
                    <a:pt x="90386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0605" y="457718"/>
              <a:ext cx="966469" cy="372745"/>
            </a:xfrm>
            <a:custGeom>
              <a:avLst/>
              <a:gdLst/>
              <a:ahLst/>
              <a:cxnLst/>
              <a:rect l="l" t="t" r="r" b="b"/>
              <a:pathLst>
                <a:path w="966469" h="372744">
                  <a:moveTo>
                    <a:pt x="0" y="62087"/>
                  </a:moveTo>
                  <a:lnTo>
                    <a:pt x="4877" y="37920"/>
                  </a:lnTo>
                  <a:lnTo>
                    <a:pt x="18179" y="18185"/>
                  </a:lnTo>
                  <a:lnTo>
                    <a:pt x="37907" y="4879"/>
                  </a:lnTo>
                  <a:lnTo>
                    <a:pt x="62066" y="0"/>
                  </a:lnTo>
                  <a:lnTo>
                    <a:pt x="903863" y="0"/>
                  </a:lnTo>
                  <a:lnTo>
                    <a:pt x="927997" y="4879"/>
                  </a:lnTo>
                  <a:lnTo>
                    <a:pt x="947719" y="18185"/>
                  </a:lnTo>
                  <a:lnTo>
                    <a:pt x="961024" y="37920"/>
                  </a:lnTo>
                  <a:lnTo>
                    <a:pt x="965905" y="62087"/>
                  </a:lnTo>
                  <a:lnTo>
                    <a:pt x="965905" y="310377"/>
                  </a:lnTo>
                  <a:lnTo>
                    <a:pt x="961024" y="334526"/>
                  </a:lnTo>
                  <a:lnTo>
                    <a:pt x="947719" y="354219"/>
                  </a:lnTo>
                  <a:lnTo>
                    <a:pt x="927997" y="367483"/>
                  </a:lnTo>
                  <a:lnTo>
                    <a:pt x="903863" y="372343"/>
                  </a:lnTo>
                  <a:lnTo>
                    <a:pt x="62066" y="372343"/>
                  </a:lnTo>
                  <a:lnTo>
                    <a:pt x="37907" y="367483"/>
                  </a:lnTo>
                  <a:lnTo>
                    <a:pt x="18179" y="354219"/>
                  </a:lnTo>
                  <a:lnTo>
                    <a:pt x="4877" y="334526"/>
                  </a:lnTo>
                  <a:lnTo>
                    <a:pt x="0" y="310377"/>
                  </a:lnTo>
                  <a:lnTo>
                    <a:pt x="0" y="62087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96256" y="475673"/>
            <a:ext cx="6794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1800" spc="30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sz="1800" spc="-35" dirty="0">
                <a:solidFill>
                  <a:srgbClr val="000000"/>
                </a:solidFill>
                <a:latin typeface="Calibri"/>
                <a:cs typeface="Calibri"/>
              </a:rPr>
              <a:t>P</a:t>
            </a:r>
            <a:r>
              <a:rPr sz="1800" spc="15" dirty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36927" y="451368"/>
            <a:ext cx="1363980" cy="385445"/>
            <a:chOff x="1836927" y="451368"/>
            <a:chExt cx="1363980" cy="385445"/>
          </a:xfrm>
        </p:grpSpPr>
        <p:sp>
          <p:nvSpPr>
            <p:cNvPr id="9" name="object 9"/>
            <p:cNvSpPr/>
            <p:nvPr/>
          </p:nvSpPr>
          <p:spPr>
            <a:xfrm>
              <a:off x="1843277" y="457718"/>
              <a:ext cx="1351280" cy="372745"/>
            </a:xfrm>
            <a:custGeom>
              <a:avLst/>
              <a:gdLst/>
              <a:ahLst/>
              <a:cxnLst/>
              <a:rect l="l" t="t" r="r" b="b"/>
              <a:pathLst>
                <a:path w="1351280" h="372744">
                  <a:moveTo>
                    <a:pt x="1288663" y="0"/>
                  </a:moveTo>
                  <a:lnTo>
                    <a:pt x="62102" y="0"/>
                  </a:lnTo>
                  <a:lnTo>
                    <a:pt x="37933" y="4879"/>
                  </a:lnTo>
                  <a:lnTo>
                    <a:pt x="18192" y="18185"/>
                  </a:lnTo>
                  <a:lnTo>
                    <a:pt x="4881" y="37920"/>
                  </a:lnTo>
                  <a:lnTo>
                    <a:pt x="0" y="62087"/>
                  </a:lnTo>
                  <a:lnTo>
                    <a:pt x="0" y="310377"/>
                  </a:lnTo>
                  <a:lnTo>
                    <a:pt x="4881" y="334526"/>
                  </a:lnTo>
                  <a:lnTo>
                    <a:pt x="18192" y="354219"/>
                  </a:lnTo>
                  <a:lnTo>
                    <a:pt x="37933" y="367483"/>
                  </a:lnTo>
                  <a:lnTo>
                    <a:pt x="62102" y="372343"/>
                  </a:lnTo>
                  <a:lnTo>
                    <a:pt x="1288663" y="372343"/>
                  </a:lnTo>
                  <a:lnTo>
                    <a:pt x="1312816" y="367483"/>
                  </a:lnTo>
                  <a:lnTo>
                    <a:pt x="1332520" y="354219"/>
                  </a:lnTo>
                  <a:lnTo>
                    <a:pt x="1345795" y="334526"/>
                  </a:lnTo>
                  <a:lnTo>
                    <a:pt x="1350660" y="310377"/>
                  </a:lnTo>
                  <a:lnTo>
                    <a:pt x="1350660" y="62087"/>
                  </a:lnTo>
                  <a:lnTo>
                    <a:pt x="1345795" y="37920"/>
                  </a:lnTo>
                  <a:lnTo>
                    <a:pt x="1332520" y="18185"/>
                  </a:lnTo>
                  <a:lnTo>
                    <a:pt x="1312816" y="4879"/>
                  </a:lnTo>
                  <a:lnTo>
                    <a:pt x="1288663" y="0"/>
                  </a:lnTo>
                  <a:close/>
                </a:path>
              </a:pathLst>
            </a:custGeom>
            <a:solidFill>
              <a:srgbClr val="91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43277" y="457718"/>
              <a:ext cx="1351280" cy="372745"/>
            </a:xfrm>
            <a:custGeom>
              <a:avLst/>
              <a:gdLst/>
              <a:ahLst/>
              <a:cxnLst/>
              <a:rect l="l" t="t" r="r" b="b"/>
              <a:pathLst>
                <a:path w="1351280" h="372744">
                  <a:moveTo>
                    <a:pt x="0" y="62087"/>
                  </a:moveTo>
                  <a:lnTo>
                    <a:pt x="4881" y="37920"/>
                  </a:lnTo>
                  <a:lnTo>
                    <a:pt x="18192" y="18185"/>
                  </a:lnTo>
                  <a:lnTo>
                    <a:pt x="37933" y="4879"/>
                  </a:lnTo>
                  <a:lnTo>
                    <a:pt x="62102" y="0"/>
                  </a:lnTo>
                  <a:lnTo>
                    <a:pt x="1288663" y="0"/>
                  </a:lnTo>
                  <a:lnTo>
                    <a:pt x="1312816" y="4879"/>
                  </a:lnTo>
                  <a:lnTo>
                    <a:pt x="1332520" y="18185"/>
                  </a:lnTo>
                  <a:lnTo>
                    <a:pt x="1345795" y="37920"/>
                  </a:lnTo>
                  <a:lnTo>
                    <a:pt x="1350660" y="62087"/>
                  </a:lnTo>
                  <a:lnTo>
                    <a:pt x="1350660" y="310377"/>
                  </a:lnTo>
                  <a:lnTo>
                    <a:pt x="1345795" y="334526"/>
                  </a:lnTo>
                  <a:lnTo>
                    <a:pt x="1332520" y="354219"/>
                  </a:lnTo>
                  <a:lnTo>
                    <a:pt x="1312816" y="367483"/>
                  </a:lnTo>
                  <a:lnTo>
                    <a:pt x="1288663" y="372343"/>
                  </a:lnTo>
                  <a:lnTo>
                    <a:pt x="62102" y="372343"/>
                  </a:lnTo>
                  <a:lnTo>
                    <a:pt x="37933" y="367483"/>
                  </a:lnTo>
                  <a:lnTo>
                    <a:pt x="18192" y="354219"/>
                  </a:lnTo>
                  <a:lnTo>
                    <a:pt x="4881" y="334526"/>
                  </a:lnTo>
                  <a:lnTo>
                    <a:pt x="0" y="310377"/>
                  </a:lnTo>
                  <a:lnTo>
                    <a:pt x="0" y="62087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018666" y="475673"/>
            <a:ext cx="9969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OCCUPIED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42268" y="451368"/>
            <a:ext cx="1354455" cy="385445"/>
            <a:chOff x="3842268" y="451368"/>
            <a:chExt cx="1354455" cy="385445"/>
          </a:xfrm>
        </p:grpSpPr>
        <p:sp>
          <p:nvSpPr>
            <p:cNvPr id="13" name="object 13"/>
            <p:cNvSpPr/>
            <p:nvPr/>
          </p:nvSpPr>
          <p:spPr>
            <a:xfrm>
              <a:off x="3848618" y="457718"/>
              <a:ext cx="1341755" cy="372745"/>
            </a:xfrm>
            <a:custGeom>
              <a:avLst/>
              <a:gdLst/>
              <a:ahLst/>
              <a:cxnLst/>
              <a:rect l="l" t="t" r="r" b="b"/>
              <a:pathLst>
                <a:path w="1341754" h="372744">
                  <a:moveTo>
                    <a:pt x="1279519" y="0"/>
                  </a:moveTo>
                  <a:lnTo>
                    <a:pt x="62087" y="0"/>
                  </a:lnTo>
                  <a:lnTo>
                    <a:pt x="37920" y="4879"/>
                  </a:lnTo>
                  <a:lnTo>
                    <a:pt x="18185" y="18185"/>
                  </a:lnTo>
                  <a:lnTo>
                    <a:pt x="4879" y="37920"/>
                  </a:lnTo>
                  <a:lnTo>
                    <a:pt x="0" y="62087"/>
                  </a:lnTo>
                  <a:lnTo>
                    <a:pt x="0" y="310377"/>
                  </a:lnTo>
                  <a:lnTo>
                    <a:pt x="4879" y="334526"/>
                  </a:lnTo>
                  <a:lnTo>
                    <a:pt x="18185" y="354219"/>
                  </a:lnTo>
                  <a:lnTo>
                    <a:pt x="37920" y="367483"/>
                  </a:lnTo>
                  <a:lnTo>
                    <a:pt x="62087" y="372343"/>
                  </a:lnTo>
                  <a:lnTo>
                    <a:pt x="1279519" y="372343"/>
                  </a:lnTo>
                  <a:lnTo>
                    <a:pt x="1303687" y="367483"/>
                  </a:lnTo>
                  <a:lnTo>
                    <a:pt x="1323422" y="354219"/>
                  </a:lnTo>
                  <a:lnTo>
                    <a:pt x="1336728" y="334526"/>
                  </a:lnTo>
                  <a:lnTo>
                    <a:pt x="1341607" y="310377"/>
                  </a:lnTo>
                  <a:lnTo>
                    <a:pt x="1341607" y="62087"/>
                  </a:lnTo>
                  <a:lnTo>
                    <a:pt x="1336728" y="37920"/>
                  </a:lnTo>
                  <a:lnTo>
                    <a:pt x="1323422" y="18185"/>
                  </a:lnTo>
                  <a:lnTo>
                    <a:pt x="1303687" y="4879"/>
                  </a:lnTo>
                  <a:lnTo>
                    <a:pt x="1279519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8618" y="457718"/>
              <a:ext cx="1341755" cy="372745"/>
            </a:xfrm>
            <a:custGeom>
              <a:avLst/>
              <a:gdLst/>
              <a:ahLst/>
              <a:cxnLst/>
              <a:rect l="l" t="t" r="r" b="b"/>
              <a:pathLst>
                <a:path w="1341754" h="372744">
                  <a:moveTo>
                    <a:pt x="0" y="62087"/>
                  </a:moveTo>
                  <a:lnTo>
                    <a:pt x="4879" y="37920"/>
                  </a:lnTo>
                  <a:lnTo>
                    <a:pt x="18185" y="18185"/>
                  </a:lnTo>
                  <a:lnTo>
                    <a:pt x="37920" y="4879"/>
                  </a:lnTo>
                  <a:lnTo>
                    <a:pt x="62087" y="0"/>
                  </a:lnTo>
                  <a:lnTo>
                    <a:pt x="1279519" y="0"/>
                  </a:lnTo>
                  <a:lnTo>
                    <a:pt x="1303687" y="4879"/>
                  </a:lnTo>
                  <a:lnTo>
                    <a:pt x="1323422" y="18185"/>
                  </a:lnTo>
                  <a:lnTo>
                    <a:pt x="1336728" y="37920"/>
                  </a:lnTo>
                  <a:lnTo>
                    <a:pt x="1341607" y="62087"/>
                  </a:lnTo>
                  <a:lnTo>
                    <a:pt x="1341607" y="310377"/>
                  </a:lnTo>
                  <a:lnTo>
                    <a:pt x="1336728" y="334526"/>
                  </a:lnTo>
                  <a:lnTo>
                    <a:pt x="1323422" y="354219"/>
                  </a:lnTo>
                  <a:lnTo>
                    <a:pt x="1303687" y="367483"/>
                  </a:lnTo>
                  <a:lnTo>
                    <a:pt x="1279519" y="372343"/>
                  </a:lnTo>
                  <a:lnTo>
                    <a:pt x="62087" y="372343"/>
                  </a:lnTo>
                  <a:lnTo>
                    <a:pt x="37920" y="367483"/>
                  </a:lnTo>
                  <a:lnTo>
                    <a:pt x="18185" y="354219"/>
                  </a:lnTo>
                  <a:lnTo>
                    <a:pt x="4879" y="334526"/>
                  </a:lnTo>
                  <a:lnTo>
                    <a:pt x="0" y="310377"/>
                  </a:lnTo>
                  <a:lnTo>
                    <a:pt x="0" y="62087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092324" y="475673"/>
            <a:ext cx="8604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DELETED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2459" y="2213669"/>
            <a:ext cx="2589530" cy="75374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581660">
              <a:lnSpc>
                <a:spcPts val="2850"/>
              </a:lnSpc>
              <a:spcBef>
                <a:spcPts val="220"/>
              </a:spcBef>
            </a:pPr>
            <a:r>
              <a:rPr sz="2400" b="1" dirty="0">
                <a:latin typeface="Calibri"/>
                <a:cs typeface="Calibri"/>
              </a:rPr>
              <a:t>INSERT(7) : 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h0(7)</a:t>
            </a:r>
            <a:r>
              <a:rPr sz="2400" b="1" spc="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7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mod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11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63458" y="3004687"/>
            <a:ext cx="1177290" cy="1562100"/>
          </a:xfrm>
          <a:custGeom>
            <a:avLst/>
            <a:gdLst/>
            <a:ahLst/>
            <a:cxnLst/>
            <a:rect l="l" t="t" r="r" b="b"/>
            <a:pathLst>
              <a:path w="1177289" h="1562100">
                <a:moveTo>
                  <a:pt x="888229" y="1359144"/>
                </a:moveTo>
                <a:lnTo>
                  <a:pt x="873873" y="1361918"/>
                </a:lnTo>
                <a:lnTo>
                  <a:pt x="861613" y="1369883"/>
                </a:lnTo>
                <a:lnTo>
                  <a:pt x="853043" y="1382396"/>
                </a:lnTo>
                <a:lnTo>
                  <a:pt x="849981" y="1397181"/>
                </a:lnTo>
                <a:lnTo>
                  <a:pt x="852758" y="1411499"/>
                </a:lnTo>
                <a:lnTo>
                  <a:pt x="860729" y="1423743"/>
                </a:lnTo>
                <a:lnTo>
                  <a:pt x="873252" y="1432307"/>
                </a:lnTo>
                <a:lnTo>
                  <a:pt x="1176771" y="1561597"/>
                </a:lnTo>
                <a:lnTo>
                  <a:pt x="1172521" y="1523747"/>
                </a:lnTo>
                <a:lnTo>
                  <a:pt x="1101090" y="1523747"/>
                </a:lnTo>
                <a:lnTo>
                  <a:pt x="1016826" y="1410618"/>
                </a:lnTo>
                <a:lnTo>
                  <a:pt x="903091" y="1362203"/>
                </a:lnTo>
                <a:lnTo>
                  <a:pt x="888229" y="1359144"/>
                </a:lnTo>
                <a:close/>
              </a:path>
              <a:path w="1177289" h="1562100">
                <a:moveTo>
                  <a:pt x="1016826" y="1410618"/>
                </a:moveTo>
                <a:lnTo>
                  <a:pt x="1101090" y="1523747"/>
                </a:lnTo>
                <a:lnTo>
                  <a:pt x="1125927" y="1505209"/>
                </a:lnTo>
                <a:lnTo>
                  <a:pt x="1093835" y="1505209"/>
                </a:lnTo>
                <a:lnTo>
                  <a:pt x="1086499" y="1440278"/>
                </a:lnTo>
                <a:lnTo>
                  <a:pt x="1016826" y="1410618"/>
                </a:lnTo>
                <a:close/>
              </a:path>
              <a:path w="1177289" h="1562100">
                <a:moveTo>
                  <a:pt x="1097767" y="1200159"/>
                </a:moveTo>
                <a:lnTo>
                  <a:pt x="1083354" y="1204762"/>
                </a:lnTo>
                <a:lnTo>
                  <a:pt x="1072233" y="1214221"/>
                </a:lnTo>
                <a:lnTo>
                  <a:pt x="1065466" y="1227157"/>
                </a:lnTo>
                <a:lnTo>
                  <a:pt x="1064117" y="1242188"/>
                </a:lnTo>
                <a:lnTo>
                  <a:pt x="1078014" y="1365180"/>
                </a:lnTo>
                <a:lnTo>
                  <a:pt x="1162171" y="1478158"/>
                </a:lnTo>
                <a:lnTo>
                  <a:pt x="1101090" y="1523747"/>
                </a:lnTo>
                <a:lnTo>
                  <a:pt x="1172521" y="1523747"/>
                </a:lnTo>
                <a:lnTo>
                  <a:pt x="1139952" y="1233687"/>
                </a:lnTo>
                <a:lnTo>
                  <a:pt x="1135280" y="1219268"/>
                </a:lnTo>
                <a:lnTo>
                  <a:pt x="1125809" y="1208158"/>
                </a:lnTo>
                <a:lnTo>
                  <a:pt x="1112862" y="1201431"/>
                </a:lnTo>
                <a:lnTo>
                  <a:pt x="1097767" y="1200159"/>
                </a:lnTo>
                <a:close/>
              </a:path>
              <a:path w="1177289" h="1562100">
                <a:moveTo>
                  <a:pt x="1086499" y="1440278"/>
                </a:moveTo>
                <a:lnTo>
                  <a:pt x="1093835" y="1505209"/>
                </a:lnTo>
                <a:lnTo>
                  <a:pt x="1146535" y="1465835"/>
                </a:lnTo>
                <a:lnTo>
                  <a:pt x="1086499" y="1440278"/>
                </a:lnTo>
                <a:close/>
              </a:path>
              <a:path w="1177289" h="1562100">
                <a:moveTo>
                  <a:pt x="1078014" y="1365180"/>
                </a:moveTo>
                <a:lnTo>
                  <a:pt x="1086499" y="1440278"/>
                </a:lnTo>
                <a:lnTo>
                  <a:pt x="1146535" y="1465835"/>
                </a:lnTo>
                <a:lnTo>
                  <a:pt x="1093835" y="1505209"/>
                </a:lnTo>
                <a:lnTo>
                  <a:pt x="1125927" y="1505209"/>
                </a:lnTo>
                <a:lnTo>
                  <a:pt x="1162171" y="1478158"/>
                </a:lnTo>
                <a:lnTo>
                  <a:pt x="1078014" y="1365180"/>
                </a:lnTo>
                <a:close/>
              </a:path>
              <a:path w="1177289" h="1562100">
                <a:moveTo>
                  <a:pt x="61081" y="0"/>
                </a:moveTo>
                <a:lnTo>
                  <a:pt x="0" y="45476"/>
                </a:lnTo>
                <a:lnTo>
                  <a:pt x="1016826" y="1410618"/>
                </a:lnTo>
                <a:lnTo>
                  <a:pt x="1086499" y="1440278"/>
                </a:lnTo>
                <a:lnTo>
                  <a:pt x="1078014" y="1365180"/>
                </a:lnTo>
                <a:lnTo>
                  <a:pt x="6108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0240264" y="2169160"/>
          <a:ext cx="1355089" cy="4079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9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36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25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31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6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31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6533774" y="2513643"/>
            <a:ext cx="2903220" cy="75438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666750">
              <a:lnSpc>
                <a:spcPts val="2850"/>
              </a:lnSpc>
              <a:spcBef>
                <a:spcPts val="220"/>
              </a:spcBef>
            </a:pPr>
            <a:r>
              <a:rPr sz="2400" b="1" spc="-5" dirty="0">
                <a:latin typeface="Calibri"/>
                <a:cs typeface="Calibri"/>
              </a:rPr>
              <a:t>INSERT(36) </a:t>
            </a:r>
            <a:r>
              <a:rPr sz="2400" b="1" dirty="0">
                <a:latin typeface="Calibri"/>
                <a:cs typeface="Calibri"/>
              </a:rPr>
              <a:t>: 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h0(36)</a:t>
            </a:r>
            <a:r>
              <a:rPr sz="2400" b="1" spc="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36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mod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11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594098" y="3091951"/>
            <a:ext cx="458470" cy="443230"/>
          </a:xfrm>
          <a:custGeom>
            <a:avLst/>
            <a:gdLst/>
            <a:ahLst/>
            <a:cxnLst/>
            <a:rect l="l" t="t" r="r" b="b"/>
            <a:pathLst>
              <a:path w="458470" h="443229">
                <a:moveTo>
                  <a:pt x="140209" y="290422"/>
                </a:moveTo>
                <a:lnTo>
                  <a:pt x="126522" y="295465"/>
                </a:lnTo>
                <a:lnTo>
                  <a:pt x="115738" y="305297"/>
                </a:lnTo>
                <a:lnTo>
                  <a:pt x="109331" y="319003"/>
                </a:lnTo>
                <a:lnTo>
                  <a:pt x="108758" y="334121"/>
                </a:lnTo>
                <a:lnTo>
                  <a:pt x="113846" y="347822"/>
                </a:lnTo>
                <a:lnTo>
                  <a:pt x="123694" y="358642"/>
                </a:lnTo>
                <a:lnTo>
                  <a:pt x="137403" y="365119"/>
                </a:lnTo>
                <a:lnTo>
                  <a:pt x="457962" y="442965"/>
                </a:lnTo>
                <a:lnTo>
                  <a:pt x="450872" y="417941"/>
                </a:lnTo>
                <a:lnTo>
                  <a:pt x="377068" y="417941"/>
                </a:lnTo>
                <a:lnTo>
                  <a:pt x="275696" y="320331"/>
                </a:lnTo>
                <a:lnTo>
                  <a:pt x="155326" y="291084"/>
                </a:lnTo>
                <a:lnTo>
                  <a:pt x="140209" y="290422"/>
                </a:lnTo>
                <a:close/>
              </a:path>
              <a:path w="458470" h="443229">
                <a:moveTo>
                  <a:pt x="275696" y="320331"/>
                </a:moveTo>
                <a:lnTo>
                  <a:pt x="377068" y="417941"/>
                </a:lnTo>
                <a:lnTo>
                  <a:pt x="393480" y="400933"/>
                </a:lnTo>
                <a:lnTo>
                  <a:pt x="366887" y="400933"/>
                </a:lnTo>
                <a:lnTo>
                  <a:pt x="349111" y="338169"/>
                </a:lnTo>
                <a:lnTo>
                  <a:pt x="275696" y="320331"/>
                </a:lnTo>
                <a:close/>
              </a:path>
              <a:path w="458470" h="443229">
                <a:moveTo>
                  <a:pt x="336057" y="98137"/>
                </a:moveTo>
                <a:lnTo>
                  <a:pt x="320923" y="99303"/>
                </a:lnTo>
                <a:lnTo>
                  <a:pt x="307489" y="106210"/>
                </a:lnTo>
                <a:lnTo>
                  <a:pt x="298075" y="117363"/>
                </a:lnTo>
                <a:lnTo>
                  <a:pt x="293547" y="131236"/>
                </a:lnTo>
                <a:lnTo>
                  <a:pt x="294772" y="146304"/>
                </a:lnTo>
                <a:lnTo>
                  <a:pt x="328488" y="265353"/>
                </a:lnTo>
                <a:lnTo>
                  <a:pt x="430011" y="363077"/>
                </a:lnTo>
                <a:lnTo>
                  <a:pt x="377068" y="417941"/>
                </a:lnTo>
                <a:lnTo>
                  <a:pt x="450872" y="417941"/>
                </a:lnTo>
                <a:lnTo>
                  <a:pt x="368046" y="125577"/>
                </a:lnTo>
                <a:lnTo>
                  <a:pt x="361124" y="112102"/>
                </a:lnTo>
                <a:lnTo>
                  <a:pt x="349959" y="102679"/>
                </a:lnTo>
                <a:lnTo>
                  <a:pt x="336057" y="98137"/>
                </a:lnTo>
                <a:close/>
              </a:path>
              <a:path w="458470" h="443229">
                <a:moveTo>
                  <a:pt x="349111" y="338169"/>
                </a:moveTo>
                <a:lnTo>
                  <a:pt x="366887" y="400933"/>
                </a:lnTo>
                <a:lnTo>
                  <a:pt x="412485" y="353568"/>
                </a:lnTo>
                <a:lnTo>
                  <a:pt x="349111" y="338169"/>
                </a:lnTo>
                <a:close/>
              </a:path>
              <a:path w="458470" h="443229">
                <a:moveTo>
                  <a:pt x="328488" y="265353"/>
                </a:moveTo>
                <a:lnTo>
                  <a:pt x="349111" y="338169"/>
                </a:lnTo>
                <a:lnTo>
                  <a:pt x="412485" y="353568"/>
                </a:lnTo>
                <a:lnTo>
                  <a:pt x="366887" y="400933"/>
                </a:lnTo>
                <a:lnTo>
                  <a:pt x="393480" y="400933"/>
                </a:lnTo>
                <a:lnTo>
                  <a:pt x="430011" y="363077"/>
                </a:lnTo>
                <a:lnTo>
                  <a:pt x="328488" y="265353"/>
                </a:lnTo>
                <a:close/>
              </a:path>
              <a:path w="458470" h="443229">
                <a:moveTo>
                  <a:pt x="52821" y="0"/>
                </a:moveTo>
                <a:lnTo>
                  <a:pt x="0" y="54864"/>
                </a:lnTo>
                <a:lnTo>
                  <a:pt x="275696" y="320331"/>
                </a:lnTo>
                <a:lnTo>
                  <a:pt x="349111" y="338169"/>
                </a:lnTo>
                <a:lnTo>
                  <a:pt x="328488" y="265353"/>
                </a:lnTo>
                <a:lnTo>
                  <a:pt x="5282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760098" y="1331064"/>
            <a:ext cx="3553460" cy="462280"/>
          </a:xfrm>
          <a:prstGeom prst="rect">
            <a:avLst/>
          </a:prstGeom>
          <a:solidFill>
            <a:srgbClr val="00AFF0"/>
          </a:solidFill>
        </p:spPr>
        <p:txBody>
          <a:bodyPr vert="horz" wrap="square" lIns="0" tIns="28575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225"/>
              </a:spcBef>
            </a:pPr>
            <a:r>
              <a:rPr sz="2400" b="1" spc="2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r>
              <a:rPr sz="2400" b="1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 7</a:t>
            </a:r>
            <a:r>
              <a:rPr sz="2400" b="1" spc="-20" dirty="0">
                <a:latin typeface="Calibri"/>
                <a:cs typeface="Calibri"/>
              </a:rPr>
              <a:t>,36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,18,62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7451" y="1316324"/>
            <a:ext cx="3553460" cy="462280"/>
          </a:xfrm>
          <a:prstGeom prst="rect">
            <a:avLst/>
          </a:prstGeom>
          <a:solidFill>
            <a:srgbClr val="00AFF0"/>
          </a:solidFill>
        </p:spPr>
        <p:txBody>
          <a:bodyPr vert="horz" wrap="square" lIns="0" tIns="28575" rIns="0" bIns="0" rtlCol="0">
            <a:spAutoFit/>
          </a:bodyPr>
          <a:lstStyle/>
          <a:p>
            <a:pPr marL="712470">
              <a:lnSpc>
                <a:spcPct val="100000"/>
              </a:lnSpc>
              <a:spcBef>
                <a:spcPts val="225"/>
              </a:spcBef>
            </a:pPr>
            <a:r>
              <a:rPr sz="2400" b="1" spc="2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r>
              <a:rPr sz="2400" b="1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7,36,</a:t>
            </a:r>
            <a:r>
              <a:rPr sz="2400" b="1" spc="-20" dirty="0">
                <a:latin typeface="Calibri"/>
                <a:cs typeface="Calibri"/>
              </a:rPr>
              <a:t>18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,62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4255" y="451368"/>
            <a:ext cx="979169" cy="385445"/>
            <a:chOff x="354255" y="451368"/>
            <a:chExt cx="979169" cy="385445"/>
          </a:xfrm>
        </p:grpSpPr>
        <p:sp>
          <p:nvSpPr>
            <p:cNvPr id="4" name="object 4"/>
            <p:cNvSpPr/>
            <p:nvPr/>
          </p:nvSpPr>
          <p:spPr>
            <a:xfrm>
              <a:off x="360605" y="457718"/>
              <a:ext cx="966469" cy="372745"/>
            </a:xfrm>
            <a:custGeom>
              <a:avLst/>
              <a:gdLst/>
              <a:ahLst/>
              <a:cxnLst/>
              <a:rect l="l" t="t" r="r" b="b"/>
              <a:pathLst>
                <a:path w="966469" h="372744">
                  <a:moveTo>
                    <a:pt x="903863" y="0"/>
                  </a:moveTo>
                  <a:lnTo>
                    <a:pt x="62066" y="0"/>
                  </a:lnTo>
                  <a:lnTo>
                    <a:pt x="37907" y="4879"/>
                  </a:lnTo>
                  <a:lnTo>
                    <a:pt x="18179" y="18185"/>
                  </a:lnTo>
                  <a:lnTo>
                    <a:pt x="4877" y="37920"/>
                  </a:lnTo>
                  <a:lnTo>
                    <a:pt x="0" y="62087"/>
                  </a:lnTo>
                  <a:lnTo>
                    <a:pt x="0" y="310377"/>
                  </a:lnTo>
                  <a:lnTo>
                    <a:pt x="4877" y="334526"/>
                  </a:lnTo>
                  <a:lnTo>
                    <a:pt x="18179" y="354219"/>
                  </a:lnTo>
                  <a:lnTo>
                    <a:pt x="37907" y="367483"/>
                  </a:lnTo>
                  <a:lnTo>
                    <a:pt x="62066" y="372343"/>
                  </a:lnTo>
                  <a:lnTo>
                    <a:pt x="903863" y="372343"/>
                  </a:lnTo>
                  <a:lnTo>
                    <a:pt x="927997" y="367483"/>
                  </a:lnTo>
                  <a:lnTo>
                    <a:pt x="947719" y="354219"/>
                  </a:lnTo>
                  <a:lnTo>
                    <a:pt x="961024" y="334526"/>
                  </a:lnTo>
                  <a:lnTo>
                    <a:pt x="965905" y="310377"/>
                  </a:lnTo>
                  <a:lnTo>
                    <a:pt x="965905" y="62087"/>
                  </a:lnTo>
                  <a:lnTo>
                    <a:pt x="961024" y="37920"/>
                  </a:lnTo>
                  <a:lnTo>
                    <a:pt x="947719" y="18185"/>
                  </a:lnTo>
                  <a:lnTo>
                    <a:pt x="927997" y="4879"/>
                  </a:lnTo>
                  <a:lnTo>
                    <a:pt x="90386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0605" y="457718"/>
              <a:ext cx="966469" cy="372745"/>
            </a:xfrm>
            <a:custGeom>
              <a:avLst/>
              <a:gdLst/>
              <a:ahLst/>
              <a:cxnLst/>
              <a:rect l="l" t="t" r="r" b="b"/>
              <a:pathLst>
                <a:path w="966469" h="372744">
                  <a:moveTo>
                    <a:pt x="0" y="62087"/>
                  </a:moveTo>
                  <a:lnTo>
                    <a:pt x="4877" y="37920"/>
                  </a:lnTo>
                  <a:lnTo>
                    <a:pt x="18179" y="18185"/>
                  </a:lnTo>
                  <a:lnTo>
                    <a:pt x="37907" y="4879"/>
                  </a:lnTo>
                  <a:lnTo>
                    <a:pt x="62066" y="0"/>
                  </a:lnTo>
                  <a:lnTo>
                    <a:pt x="903863" y="0"/>
                  </a:lnTo>
                  <a:lnTo>
                    <a:pt x="927997" y="4879"/>
                  </a:lnTo>
                  <a:lnTo>
                    <a:pt x="947719" y="18185"/>
                  </a:lnTo>
                  <a:lnTo>
                    <a:pt x="961024" y="37920"/>
                  </a:lnTo>
                  <a:lnTo>
                    <a:pt x="965905" y="62087"/>
                  </a:lnTo>
                  <a:lnTo>
                    <a:pt x="965905" y="310377"/>
                  </a:lnTo>
                  <a:lnTo>
                    <a:pt x="961024" y="334526"/>
                  </a:lnTo>
                  <a:lnTo>
                    <a:pt x="947719" y="354219"/>
                  </a:lnTo>
                  <a:lnTo>
                    <a:pt x="927997" y="367483"/>
                  </a:lnTo>
                  <a:lnTo>
                    <a:pt x="903863" y="372343"/>
                  </a:lnTo>
                  <a:lnTo>
                    <a:pt x="62066" y="372343"/>
                  </a:lnTo>
                  <a:lnTo>
                    <a:pt x="37907" y="367483"/>
                  </a:lnTo>
                  <a:lnTo>
                    <a:pt x="18179" y="354219"/>
                  </a:lnTo>
                  <a:lnTo>
                    <a:pt x="4877" y="334526"/>
                  </a:lnTo>
                  <a:lnTo>
                    <a:pt x="0" y="310377"/>
                  </a:lnTo>
                  <a:lnTo>
                    <a:pt x="0" y="62087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96256" y="475673"/>
            <a:ext cx="6794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latin typeface="Calibri"/>
                <a:cs typeface="Calibri"/>
              </a:rPr>
              <a:t>E</a:t>
            </a:r>
            <a:r>
              <a:rPr sz="1800" spc="30" dirty="0">
                <a:latin typeface="Calibri"/>
                <a:cs typeface="Calibri"/>
              </a:rPr>
              <a:t>M</a:t>
            </a:r>
            <a:r>
              <a:rPr sz="1800" spc="-35" dirty="0">
                <a:latin typeface="Calibri"/>
                <a:cs typeface="Calibri"/>
              </a:rPr>
              <a:t>P</a:t>
            </a:r>
            <a:r>
              <a:rPr sz="1800" spc="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836927" y="451368"/>
            <a:ext cx="1363980" cy="385445"/>
            <a:chOff x="1836927" y="451368"/>
            <a:chExt cx="1363980" cy="385445"/>
          </a:xfrm>
        </p:grpSpPr>
        <p:sp>
          <p:nvSpPr>
            <p:cNvPr id="8" name="object 8"/>
            <p:cNvSpPr/>
            <p:nvPr/>
          </p:nvSpPr>
          <p:spPr>
            <a:xfrm>
              <a:off x="1843277" y="457718"/>
              <a:ext cx="1351280" cy="372745"/>
            </a:xfrm>
            <a:custGeom>
              <a:avLst/>
              <a:gdLst/>
              <a:ahLst/>
              <a:cxnLst/>
              <a:rect l="l" t="t" r="r" b="b"/>
              <a:pathLst>
                <a:path w="1351280" h="372744">
                  <a:moveTo>
                    <a:pt x="1288663" y="0"/>
                  </a:moveTo>
                  <a:lnTo>
                    <a:pt x="62102" y="0"/>
                  </a:lnTo>
                  <a:lnTo>
                    <a:pt x="37933" y="4879"/>
                  </a:lnTo>
                  <a:lnTo>
                    <a:pt x="18192" y="18185"/>
                  </a:lnTo>
                  <a:lnTo>
                    <a:pt x="4881" y="37920"/>
                  </a:lnTo>
                  <a:lnTo>
                    <a:pt x="0" y="62087"/>
                  </a:lnTo>
                  <a:lnTo>
                    <a:pt x="0" y="310377"/>
                  </a:lnTo>
                  <a:lnTo>
                    <a:pt x="4881" y="334526"/>
                  </a:lnTo>
                  <a:lnTo>
                    <a:pt x="18192" y="354219"/>
                  </a:lnTo>
                  <a:lnTo>
                    <a:pt x="37933" y="367483"/>
                  </a:lnTo>
                  <a:lnTo>
                    <a:pt x="62102" y="372343"/>
                  </a:lnTo>
                  <a:lnTo>
                    <a:pt x="1288663" y="372343"/>
                  </a:lnTo>
                  <a:lnTo>
                    <a:pt x="1312816" y="367483"/>
                  </a:lnTo>
                  <a:lnTo>
                    <a:pt x="1332520" y="354219"/>
                  </a:lnTo>
                  <a:lnTo>
                    <a:pt x="1345795" y="334526"/>
                  </a:lnTo>
                  <a:lnTo>
                    <a:pt x="1350660" y="310377"/>
                  </a:lnTo>
                  <a:lnTo>
                    <a:pt x="1350660" y="62087"/>
                  </a:lnTo>
                  <a:lnTo>
                    <a:pt x="1345795" y="37920"/>
                  </a:lnTo>
                  <a:lnTo>
                    <a:pt x="1332520" y="18185"/>
                  </a:lnTo>
                  <a:lnTo>
                    <a:pt x="1312816" y="4879"/>
                  </a:lnTo>
                  <a:lnTo>
                    <a:pt x="1288663" y="0"/>
                  </a:lnTo>
                  <a:close/>
                </a:path>
              </a:pathLst>
            </a:custGeom>
            <a:solidFill>
              <a:srgbClr val="91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43277" y="457718"/>
              <a:ext cx="1351280" cy="372745"/>
            </a:xfrm>
            <a:custGeom>
              <a:avLst/>
              <a:gdLst/>
              <a:ahLst/>
              <a:cxnLst/>
              <a:rect l="l" t="t" r="r" b="b"/>
              <a:pathLst>
                <a:path w="1351280" h="372744">
                  <a:moveTo>
                    <a:pt x="0" y="62087"/>
                  </a:moveTo>
                  <a:lnTo>
                    <a:pt x="4881" y="37920"/>
                  </a:lnTo>
                  <a:lnTo>
                    <a:pt x="18192" y="18185"/>
                  </a:lnTo>
                  <a:lnTo>
                    <a:pt x="37933" y="4879"/>
                  </a:lnTo>
                  <a:lnTo>
                    <a:pt x="62102" y="0"/>
                  </a:lnTo>
                  <a:lnTo>
                    <a:pt x="1288663" y="0"/>
                  </a:lnTo>
                  <a:lnTo>
                    <a:pt x="1312816" y="4879"/>
                  </a:lnTo>
                  <a:lnTo>
                    <a:pt x="1332520" y="18185"/>
                  </a:lnTo>
                  <a:lnTo>
                    <a:pt x="1345795" y="37920"/>
                  </a:lnTo>
                  <a:lnTo>
                    <a:pt x="1350660" y="62087"/>
                  </a:lnTo>
                  <a:lnTo>
                    <a:pt x="1350660" y="310377"/>
                  </a:lnTo>
                  <a:lnTo>
                    <a:pt x="1345795" y="334526"/>
                  </a:lnTo>
                  <a:lnTo>
                    <a:pt x="1332520" y="354219"/>
                  </a:lnTo>
                  <a:lnTo>
                    <a:pt x="1312816" y="367483"/>
                  </a:lnTo>
                  <a:lnTo>
                    <a:pt x="1288663" y="372343"/>
                  </a:lnTo>
                  <a:lnTo>
                    <a:pt x="62102" y="372343"/>
                  </a:lnTo>
                  <a:lnTo>
                    <a:pt x="37933" y="367483"/>
                  </a:lnTo>
                  <a:lnTo>
                    <a:pt x="18192" y="354219"/>
                  </a:lnTo>
                  <a:lnTo>
                    <a:pt x="4881" y="334526"/>
                  </a:lnTo>
                  <a:lnTo>
                    <a:pt x="0" y="310377"/>
                  </a:lnTo>
                  <a:lnTo>
                    <a:pt x="0" y="62087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18666" y="475673"/>
            <a:ext cx="9969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OCCUPIED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42268" y="451368"/>
            <a:ext cx="1354455" cy="385445"/>
            <a:chOff x="3842268" y="451368"/>
            <a:chExt cx="1354455" cy="385445"/>
          </a:xfrm>
        </p:grpSpPr>
        <p:sp>
          <p:nvSpPr>
            <p:cNvPr id="12" name="object 12"/>
            <p:cNvSpPr/>
            <p:nvPr/>
          </p:nvSpPr>
          <p:spPr>
            <a:xfrm>
              <a:off x="3848618" y="457718"/>
              <a:ext cx="1341755" cy="372745"/>
            </a:xfrm>
            <a:custGeom>
              <a:avLst/>
              <a:gdLst/>
              <a:ahLst/>
              <a:cxnLst/>
              <a:rect l="l" t="t" r="r" b="b"/>
              <a:pathLst>
                <a:path w="1341754" h="372744">
                  <a:moveTo>
                    <a:pt x="1279519" y="0"/>
                  </a:moveTo>
                  <a:lnTo>
                    <a:pt x="62087" y="0"/>
                  </a:lnTo>
                  <a:lnTo>
                    <a:pt x="37920" y="4879"/>
                  </a:lnTo>
                  <a:lnTo>
                    <a:pt x="18185" y="18185"/>
                  </a:lnTo>
                  <a:lnTo>
                    <a:pt x="4879" y="37920"/>
                  </a:lnTo>
                  <a:lnTo>
                    <a:pt x="0" y="62087"/>
                  </a:lnTo>
                  <a:lnTo>
                    <a:pt x="0" y="310377"/>
                  </a:lnTo>
                  <a:lnTo>
                    <a:pt x="4879" y="334526"/>
                  </a:lnTo>
                  <a:lnTo>
                    <a:pt x="18185" y="354219"/>
                  </a:lnTo>
                  <a:lnTo>
                    <a:pt x="37920" y="367483"/>
                  </a:lnTo>
                  <a:lnTo>
                    <a:pt x="62087" y="372343"/>
                  </a:lnTo>
                  <a:lnTo>
                    <a:pt x="1279519" y="372343"/>
                  </a:lnTo>
                  <a:lnTo>
                    <a:pt x="1303687" y="367483"/>
                  </a:lnTo>
                  <a:lnTo>
                    <a:pt x="1323422" y="354219"/>
                  </a:lnTo>
                  <a:lnTo>
                    <a:pt x="1336728" y="334526"/>
                  </a:lnTo>
                  <a:lnTo>
                    <a:pt x="1341607" y="310377"/>
                  </a:lnTo>
                  <a:lnTo>
                    <a:pt x="1341607" y="62087"/>
                  </a:lnTo>
                  <a:lnTo>
                    <a:pt x="1336728" y="37920"/>
                  </a:lnTo>
                  <a:lnTo>
                    <a:pt x="1323422" y="18185"/>
                  </a:lnTo>
                  <a:lnTo>
                    <a:pt x="1303687" y="4879"/>
                  </a:lnTo>
                  <a:lnTo>
                    <a:pt x="1279519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48618" y="457718"/>
              <a:ext cx="1341755" cy="372745"/>
            </a:xfrm>
            <a:custGeom>
              <a:avLst/>
              <a:gdLst/>
              <a:ahLst/>
              <a:cxnLst/>
              <a:rect l="l" t="t" r="r" b="b"/>
              <a:pathLst>
                <a:path w="1341754" h="372744">
                  <a:moveTo>
                    <a:pt x="0" y="62087"/>
                  </a:moveTo>
                  <a:lnTo>
                    <a:pt x="4879" y="37920"/>
                  </a:lnTo>
                  <a:lnTo>
                    <a:pt x="18185" y="18185"/>
                  </a:lnTo>
                  <a:lnTo>
                    <a:pt x="37920" y="4879"/>
                  </a:lnTo>
                  <a:lnTo>
                    <a:pt x="62087" y="0"/>
                  </a:lnTo>
                  <a:lnTo>
                    <a:pt x="1279519" y="0"/>
                  </a:lnTo>
                  <a:lnTo>
                    <a:pt x="1303687" y="4879"/>
                  </a:lnTo>
                  <a:lnTo>
                    <a:pt x="1323422" y="18185"/>
                  </a:lnTo>
                  <a:lnTo>
                    <a:pt x="1336728" y="37920"/>
                  </a:lnTo>
                  <a:lnTo>
                    <a:pt x="1341607" y="62087"/>
                  </a:lnTo>
                  <a:lnTo>
                    <a:pt x="1341607" y="310377"/>
                  </a:lnTo>
                  <a:lnTo>
                    <a:pt x="1336728" y="334526"/>
                  </a:lnTo>
                  <a:lnTo>
                    <a:pt x="1323422" y="354219"/>
                  </a:lnTo>
                  <a:lnTo>
                    <a:pt x="1303687" y="367483"/>
                  </a:lnTo>
                  <a:lnTo>
                    <a:pt x="1279519" y="372343"/>
                  </a:lnTo>
                  <a:lnTo>
                    <a:pt x="62087" y="372343"/>
                  </a:lnTo>
                  <a:lnTo>
                    <a:pt x="37920" y="367483"/>
                  </a:lnTo>
                  <a:lnTo>
                    <a:pt x="18185" y="354219"/>
                  </a:lnTo>
                  <a:lnTo>
                    <a:pt x="4879" y="334526"/>
                  </a:lnTo>
                  <a:lnTo>
                    <a:pt x="0" y="310377"/>
                  </a:lnTo>
                  <a:lnTo>
                    <a:pt x="0" y="62087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092324" y="475673"/>
            <a:ext cx="8604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DELETED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5494" y="2213669"/>
            <a:ext cx="2904490" cy="112585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666750">
              <a:lnSpc>
                <a:spcPts val="2850"/>
              </a:lnSpc>
              <a:spcBef>
                <a:spcPts val="220"/>
              </a:spcBef>
            </a:pPr>
            <a:r>
              <a:rPr sz="2400" b="1" dirty="0">
                <a:latin typeface="Calibri"/>
                <a:cs typeface="Calibri"/>
              </a:rPr>
              <a:t>INSERT(18) : 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h0(18)</a:t>
            </a:r>
            <a:r>
              <a:rPr sz="2400" b="1" spc="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18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mod</a:t>
            </a:r>
            <a:r>
              <a:rPr sz="2400" b="1" spc="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11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  <a:p>
            <a:pPr marL="460375">
              <a:lnSpc>
                <a:spcPts val="2840"/>
              </a:lnSpc>
            </a:pPr>
            <a:r>
              <a:rPr sz="2400" b="1" spc="-10" dirty="0">
                <a:latin typeface="Calibri"/>
                <a:cs typeface="Calibri"/>
              </a:rPr>
              <a:t>(Already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45" dirty="0">
                <a:latin typeface="Calibri"/>
                <a:cs typeface="Calibri"/>
              </a:rPr>
              <a:t>Taken)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0367" y="3682426"/>
            <a:ext cx="3502025" cy="75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65"/>
              </a:lnSpc>
              <a:spcBef>
                <a:spcPts val="100"/>
              </a:spcBef>
            </a:pPr>
            <a:r>
              <a:rPr sz="2400" b="1" spc="-15" dirty="0">
                <a:latin typeface="Calibri"/>
                <a:cs typeface="Calibri"/>
              </a:rPr>
              <a:t>h1(18)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((18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+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1)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11)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  <a:p>
            <a:pPr marL="12700" algn="ctr">
              <a:lnSpc>
                <a:spcPts val="2865"/>
              </a:lnSpc>
            </a:pPr>
            <a:r>
              <a:rPr sz="2400" b="1" spc="-10" dirty="0">
                <a:latin typeface="Calibri"/>
                <a:cs typeface="Calibri"/>
              </a:rPr>
              <a:t>19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mod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11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8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33781" y="2070799"/>
            <a:ext cx="2903220" cy="75438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666750">
              <a:lnSpc>
                <a:spcPts val="2850"/>
              </a:lnSpc>
              <a:spcBef>
                <a:spcPts val="220"/>
              </a:spcBef>
            </a:pPr>
            <a:r>
              <a:rPr sz="2400" b="1" spc="-5" dirty="0">
                <a:latin typeface="Calibri"/>
                <a:cs typeface="Calibri"/>
              </a:rPr>
              <a:t>INSERT(62) </a:t>
            </a:r>
            <a:r>
              <a:rPr sz="2400" b="1" dirty="0">
                <a:latin typeface="Calibri"/>
                <a:cs typeface="Calibri"/>
              </a:rPr>
              <a:t>: 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h0(62)</a:t>
            </a:r>
            <a:r>
              <a:rPr sz="2400" b="1" spc="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62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mod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11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3027" y="3167699"/>
            <a:ext cx="3274695" cy="76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latin typeface="Calibri"/>
                <a:cs typeface="Calibri"/>
              </a:rPr>
              <a:t>h1(62)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((62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+</a:t>
            </a:r>
            <a:r>
              <a:rPr sz="2400" b="1" spc="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1)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mod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11)</a:t>
            </a:r>
            <a:endParaRPr sz="2400">
              <a:latin typeface="Calibri"/>
              <a:cs typeface="Calibri"/>
            </a:endParaRPr>
          </a:p>
          <a:p>
            <a:pPr marL="3810" algn="ctr">
              <a:lnSpc>
                <a:spcPct val="100000"/>
              </a:lnSpc>
              <a:spcBef>
                <a:spcPts val="50"/>
              </a:spcBef>
            </a:pP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63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mod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11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8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28756" y="4264718"/>
            <a:ext cx="3115310" cy="7639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27025" marR="5080" indent="-314960">
              <a:lnSpc>
                <a:spcPct val="101600"/>
              </a:lnSpc>
              <a:spcBef>
                <a:spcPts val="55"/>
              </a:spcBef>
            </a:pPr>
            <a:r>
              <a:rPr sz="2400" b="1" spc="-15" dirty="0">
                <a:latin typeface="Calibri"/>
                <a:cs typeface="Calibri"/>
              </a:rPr>
              <a:t>h3(18)</a:t>
            </a:r>
            <a:r>
              <a:rPr sz="2400" b="1" spc="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((62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+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2^2)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mod </a:t>
            </a:r>
            <a:r>
              <a:rPr sz="2400" b="1" spc="-53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11)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66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mod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11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873490" y="2718937"/>
            <a:ext cx="1438275" cy="2599055"/>
          </a:xfrm>
          <a:custGeom>
            <a:avLst/>
            <a:gdLst/>
            <a:ahLst/>
            <a:cxnLst/>
            <a:rect l="l" t="t" r="r" b="b"/>
            <a:pathLst>
              <a:path w="1438275" h="2599054">
                <a:moveTo>
                  <a:pt x="1354837" y="133063"/>
                </a:moveTo>
                <a:lnTo>
                  <a:pt x="1290365" y="172388"/>
                </a:lnTo>
                <a:lnTo>
                  <a:pt x="0" y="2562234"/>
                </a:lnTo>
                <a:lnTo>
                  <a:pt x="67056" y="2598429"/>
                </a:lnTo>
                <a:lnTo>
                  <a:pt x="1357347" y="208705"/>
                </a:lnTo>
                <a:lnTo>
                  <a:pt x="1354837" y="133063"/>
                </a:lnTo>
                <a:close/>
              </a:path>
              <a:path w="1438275" h="2599054">
                <a:moveTo>
                  <a:pt x="1428317" y="48524"/>
                </a:moveTo>
                <a:lnTo>
                  <a:pt x="1357243" y="48524"/>
                </a:lnTo>
                <a:lnTo>
                  <a:pt x="1424299" y="84703"/>
                </a:lnTo>
                <a:lnTo>
                  <a:pt x="1357347" y="208705"/>
                </a:lnTo>
                <a:lnTo>
                  <a:pt x="1361450" y="332353"/>
                </a:lnTo>
                <a:lnTo>
                  <a:pt x="1385873" y="366652"/>
                </a:lnTo>
                <a:lnTo>
                  <a:pt x="1400799" y="369204"/>
                </a:lnTo>
                <a:lnTo>
                  <a:pt x="1415494" y="365695"/>
                </a:lnTo>
                <a:lnTo>
                  <a:pt x="1427328" y="357137"/>
                </a:lnTo>
                <a:lnTo>
                  <a:pt x="1435111" y="344768"/>
                </a:lnTo>
                <a:lnTo>
                  <a:pt x="1437650" y="329824"/>
                </a:lnTo>
                <a:lnTo>
                  <a:pt x="1428317" y="48524"/>
                </a:lnTo>
                <a:close/>
              </a:path>
              <a:path w="1438275" h="2599054">
                <a:moveTo>
                  <a:pt x="1426707" y="0"/>
                </a:moveTo>
                <a:lnTo>
                  <a:pt x="1145042" y="171846"/>
                </a:lnTo>
                <a:lnTo>
                  <a:pt x="1133909" y="182106"/>
                </a:lnTo>
                <a:lnTo>
                  <a:pt x="1127828" y="195380"/>
                </a:lnTo>
                <a:lnTo>
                  <a:pt x="1127177" y="209963"/>
                </a:lnTo>
                <a:lnTo>
                  <a:pt x="1132332" y="224149"/>
                </a:lnTo>
                <a:lnTo>
                  <a:pt x="1142592" y="235299"/>
                </a:lnTo>
                <a:lnTo>
                  <a:pt x="1155870" y="241409"/>
                </a:lnTo>
                <a:lnTo>
                  <a:pt x="1170462" y="242066"/>
                </a:lnTo>
                <a:lnTo>
                  <a:pt x="1184666" y="236860"/>
                </a:lnTo>
                <a:lnTo>
                  <a:pt x="1290365" y="172388"/>
                </a:lnTo>
                <a:lnTo>
                  <a:pt x="1357243" y="48524"/>
                </a:lnTo>
                <a:lnTo>
                  <a:pt x="1428317" y="48524"/>
                </a:lnTo>
                <a:lnTo>
                  <a:pt x="1426707" y="0"/>
                </a:lnTo>
                <a:close/>
              </a:path>
              <a:path w="1438275" h="2599054">
                <a:moveTo>
                  <a:pt x="1393003" y="67818"/>
                </a:moveTo>
                <a:lnTo>
                  <a:pt x="1352671" y="67818"/>
                </a:lnTo>
                <a:lnTo>
                  <a:pt x="1410583" y="99060"/>
                </a:lnTo>
                <a:lnTo>
                  <a:pt x="1354837" y="133063"/>
                </a:lnTo>
                <a:lnTo>
                  <a:pt x="1357347" y="208705"/>
                </a:lnTo>
                <a:lnTo>
                  <a:pt x="1424299" y="84703"/>
                </a:lnTo>
                <a:lnTo>
                  <a:pt x="1393003" y="67818"/>
                </a:lnTo>
                <a:close/>
              </a:path>
              <a:path w="1438275" h="2599054">
                <a:moveTo>
                  <a:pt x="1357243" y="48524"/>
                </a:moveTo>
                <a:lnTo>
                  <a:pt x="1290365" y="172388"/>
                </a:lnTo>
                <a:lnTo>
                  <a:pt x="1354837" y="133063"/>
                </a:lnTo>
                <a:lnTo>
                  <a:pt x="1352671" y="67818"/>
                </a:lnTo>
                <a:lnTo>
                  <a:pt x="1393003" y="67818"/>
                </a:lnTo>
                <a:lnTo>
                  <a:pt x="1357243" y="48524"/>
                </a:lnTo>
                <a:close/>
              </a:path>
              <a:path w="1438275" h="2599054">
                <a:moveTo>
                  <a:pt x="1352671" y="67818"/>
                </a:moveTo>
                <a:lnTo>
                  <a:pt x="1354837" y="133063"/>
                </a:lnTo>
                <a:lnTo>
                  <a:pt x="1410583" y="99060"/>
                </a:lnTo>
                <a:lnTo>
                  <a:pt x="1352671" y="678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760098" y="1331064"/>
            <a:ext cx="3553460" cy="462280"/>
          </a:xfrm>
          <a:prstGeom prst="rect">
            <a:avLst/>
          </a:prstGeom>
          <a:solidFill>
            <a:srgbClr val="00AFF0"/>
          </a:solidFill>
        </p:spPr>
        <p:txBody>
          <a:bodyPr vert="horz" wrap="square" lIns="0" tIns="28575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225"/>
              </a:spcBef>
            </a:pPr>
            <a:r>
              <a:rPr sz="2400" b="1" spc="2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r>
              <a:rPr sz="2400" b="1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7,36,18</a:t>
            </a:r>
            <a:r>
              <a:rPr sz="2400" b="1" spc="-20" dirty="0">
                <a:latin typeface="Calibri"/>
                <a:cs typeface="Calibri"/>
              </a:rPr>
              <a:t>,62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506213" y="2334392"/>
          <a:ext cx="1355089" cy="40792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9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36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1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901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0306679" y="2458720"/>
          <a:ext cx="1355089" cy="40792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5" dirty="0">
                          <a:latin typeface="Calibri"/>
                          <a:cs typeface="Calibri"/>
                        </a:rPr>
                        <a:t>62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9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36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1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31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2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91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64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3168792" y="4287523"/>
            <a:ext cx="1351280" cy="1199515"/>
          </a:xfrm>
          <a:custGeom>
            <a:avLst/>
            <a:gdLst/>
            <a:ahLst/>
            <a:cxnLst/>
            <a:rect l="l" t="t" r="r" b="b"/>
            <a:pathLst>
              <a:path w="1351279" h="1199514">
                <a:moveTo>
                  <a:pt x="1041897" y="1060191"/>
                </a:moveTo>
                <a:lnTo>
                  <a:pt x="1026731" y="1060268"/>
                </a:lnTo>
                <a:lnTo>
                  <a:pt x="1013239" y="1065938"/>
                </a:lnTo>
                <a:lnTo>
                  <a:pt x="1002867" y="1076226"/>
                </a:lnTo>
                <a:lnTo>
                  <a:pt x="997061" y="1090159"/>
                </a:lnTo>
                <a:lnTo>
                  <a:pt x="997139" y="1105328"/>
                </a:lnTo>
                <a:lnTo>
                  <a:pt x="1002807" y="1118816"/>
                </a:lnTo>
                <a:lnTo>
                  <a:pt x="1013092" y="1129186"/>
                </a:lnTo>
                <a:lnTo>
                  <a:pt x="1027023" y="1134999"/>
                </a:lnTo>
                <a:lnTo>
                  <a:pt x="1350751" y="1199007"/>
                </a:lnTo>
                <a:lnTo>
                  <a:pt x="1343651" y="1177539"/>
                </a:lnTo>
                <a:lnTo>
                  <a:pt x="1268851" y="1177539"/>
                </a:lnTo>
                <a:lnTo>
                  <a:pt x="1163165" y="1084219"/>
                </a:lnTo>
                <a:lnTo>
                  <a:pt x="1041897" y="1060191"/>
                </a:lnTo>
                <a:close/>
              </a:path>
              <a:path w="1351279" h="1199514">
                <a:moveTo>
                  <a:pt x="1163165" y="1084219"/>
                </a:moveTo>
                <a:lnTo>
                  <a:pt x="1268851" y="1177539"/>
                </a:lnTo>
                <a:lnTo>
                  <a:pt x="1283524" y="1160907"/>
                </a:lnTo>
                <a:lnTo>
                  <a:pt x="1257909" y="1160907"/>
                </a:lnTo>
                <a:lnTo>
                  <a:pt x="1237386" y="1098924"/>
                </a:lnTo>
                <a:lnTo>
                  <a:pt x="1163165" y="1084219"/>
                </a:lnTo>
                <a:close/>
              </a:path>
              <a:path w="1351279" h="1199514">
                <a:moveTo>
                  <a:pt x="1213995" y="859743"/>
                </a:moveTo>
                <a:lnTo>
                  <a:pt x="1198991" y="861559"/>
                </a:lnTo>
                <a:lnTo>
                  <a:pt x="1185865" y="869047"/>
                </a:lnTo>
                <a:lnTo>
                  <a:pt x="1176916" y="880583"/>
                </a:lnTo>
                <a:lnTo>
                  <a:pt x="1172939" y="894641"/>
                </a:lnTo>
                <a:lnTo>
                  <a:pt x="1174729" y="909696"/>
                </a:lnTo>
                <a:lnTo>
                  <a:pt x="1213599" y="1027087"/>
                </a:lnTo>
                <a:lnTo>
                  <a:pt x="1319265" y="1120389"/>
                </a:lnTo>
                <a:lnTo>
                  <a:pt x="1268851" y="1177539"/>
                </a:lnTo>
                <a:lnTo>
                  <a:pt x="1343651" y="1177539"/>
                </a:lnTo>
                <a:lnTo>
                  <a:pt x="1247119" y="885693"/>
                </a:lnTo>
                <a:lnTo>
                  <a:pt x="1239625" y="872581"/>
                </a:lnTo>
                <a:lnTo>
                  <a:pt x="1228062" y="863674"/>
                </a:lnTo>
                <a:lnTo>
                  <a:pt x="1213995" y="859743"/>
                </a:lnTo>
                <a:close/>
              </a:path>
              <a:path w="1351279" h="1199514">
                <a:moveTo>
                  <a:pt x="1237386" y="1098924"/>
                </a:moveTo>
                <a:lnTo>
                  <a:pt x="1257909" y="1160907"/>
                </a:lnTo>
                <a:lnTo>
                  <a:pt x="1301496" y="1111626"/>
                </a:lnTo>
                <a:lnTo>
                  <a:pt x="1237386" y="1098924"/>
                </a:lnTo>
                <a:close/>
              </a:path>
              <a:path w="1351279" h="1199514">
                <a:moveTo>
                  <a:pt x="1213599" y="1027087"/>
                </a:moveTo>
                <a:lnTo>
                  <a:pt x="1237386" y="1098924"/>
                </a:lnTo>
                <a:lnTo>
                  <a:pt x="1301496" y="1111626"/>
                </a:lnTo>
                <a:lnTo>
                  <a:pt x="1257909" y="1160907"/>
                </a:lnTo>
                <a:lnTo>
                  <a:pt x="1283524" y="1160907"/>
                </a:lnTo>
                <a:lnTo>
                  <a:pt x="1319265" y="1120389"/>
                </a:lnTo>
                <a:lnTo>
                  <a:pt x="1213599" y="1027087"/>
                </a:lnTo>
                <a:close/>
              </a:path>
              <a:path w="1351279" h="1199514">
                <a:moveTo>
                  <a:pt x="50413" y="0"/>
                </a:moveTo>
                <a:lnTo>
                  <a:pt x="0" y="57150"/>
                </a:lnTo>
                <a:lnTo>
                  <a:pt x="1163165" y="1084219"/>
                </a:lnTo>
                <a:lnTo>
                  <a:pt x="1237386" y="1098924"/>
                </a:lnTo>
                <a:lnTo>
                  <a:pt x="1213599" y="1027087"/>
                </a:lnTo>
                <a:lnTo>
                  <a:pt x="5041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465"/>
              </a:spcBef>
            </a:pPr>
            <a:r>
              <a:rPr spc="-20" dirty="0"/>
              <a:t>Double</a:t>
            </a:r>
            <a:r>
              <a:rPr spc="-350" dirty="0"/>
              <a:t> </a:t>
            </a:r>
            <a:r>
              <a:rPr spc="-10" dirty="0"/>
              <a:t>Hashing</a:t>
            </a:r>
            <a:r>
              <a:rPr spc="-335" dirty="0"/>
              <a:t> </a:t>
            </a:r>
            <a:r>
              <a:rPr dirty="0"/>
              <a:t>: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825544"/>
            <a:ext cx="10515600" cy="4351655"/>
          </a:xfrm>
          <a:custGeom>
            <a:avLst/>
            <a:gdLst/>
            <a:ahLst/>
            <a:cxnLst/>
            <a:rect l="l" t="t" r="r" b="b"/>
            <a:pathLst>
              <a:path w="10515600" h="4351655">
                <a:moveTo>
                  <a:pt x="0" y="4351416"/>
                </a:moveTo>
                <a:lnTo>
                  <a:pt x="10515599" y="4351416"/>
                </a:lnTo>
                <a:lnTo>
                  <a:pt x="10515599" y="0"/>
                </a:lnTo>
                <a:lnTo>
                  <a:pt x="0" y="0"/>
                </a:lnTo>
                <a:lnTo>
                  <a:pt x="0" y="4351416"/>
                </a:lnTo>
                <a:close/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7568" y="1674621"/>
            <a:ext cx="10182860" cy="38690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389120">
              <a:lnSpc>
                <a:spcPct val="152400"/>
              </a:lnSpc>
              <a:spcBef>
                <a:spcPts val="95"/>
              </a:spcBef>
            </a:pPr>
            <a:r>
              <a:rPr sz="2750" dirty="0">
                <a:latin typeface="Calibri"/>
                <a:cs typeface="Calibri"/>
              </a:rPr>
              <a:t>Here </a:t>
            </a:r>
            <a:r>
              <a:rPr sz="2750" spc="5" dirty="0">
                <a:latin typeface="Calibri"/>
                <a:cs typeface="Calibri"/>
              </a:rPr>
              <a:t>, </a:t>
            </a:r>
            <a:r>
              <a:rPr sz="2750" spc="-5" dirty="0">
                <a:latin typeface="Calibri"/>
                <a:cs typeface="Calibri"/>
              </a:rPr>
              <a:t>we </a:t>
            </a:r>
            <a:r>
              <a:rPr sz="2750" spc="15" dirty="0">
                <a:latin typeface="Calibri"/>
                <a:cs typeface="Calibri"/>
              </a:rPr>
              <a:t>are </a:t>
            </a:r>
            <a:r>
              <a:rPr sz="2750" spc="-20" dirty="0">
                <a:latin typeface="Calibri"/>
                <a:cs typeface="Calibri"/>
              </a:rPr>
              <a:t>using</a:t>
            </a:r>
            <a:r>
              <a:rPr sz="2750" spc="-1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2 </a:t>
            </a:r>
            <a:r>
              <a:rPr sz="2750" dirty="0">
                <a:latin typeface="Calibri"/>
                <a:cs typeface="Calibri"/>
              </a:rPr>
              <a:t>hash </a:t>
            </a:r>
            <a:r>
              <a:rPr sz="2750" spc="-5" dirty="0">
                <a:latin typeface="Calibri"/>
                <a:cs typeface="Calibri"/>
              </a:rPr>
              <a:t>function. </a:t>
            </a:r>
            <a:r>
              <a:rPr sz="275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Hash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2(x)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=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i </a:t>
            </a:r>
            <a:r>
              <a:rPr sz="2750" spc="10" dirty="0">
                <a:latin typeface="Calibri"/>
                <a:cs typeface="Calibri"/>
              </a:rPr>
              <a:t>*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hash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2(x)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for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i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th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iteration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  <a:tabLst>
                <a:tab pos="4914265" algn="l"/>
              </a:tabLst>
            </a:pPr>
            <a:r>
              <a:rPr sz="2750" spc="-5" dirty="0">
                <a:latin typeface="Calibri"/>
                <a:cs typeface="Calibri"/>
              </a:rPr>
              <a:t>Hi(x)</a:t>
            </a:r>
            <a:r>
              <a:rPr sz="2750" spc="10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=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(Hash(x)</a:t>
            </a:r>
            <a:r>
              <a:rPr sz="2750" spc="19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+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I</a:t>
            </a:r>
            <a:r>
              <a:rPr sz="2750" spc="-4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*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hash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2(x))</a:t>
            </a:r>
            <a:r>
              <a:rPr sz="2750" spc="11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%</a:t>
            </a:r>
            <a:r>
              <a:rPr sz="2750" spc="20" dirty="0">
                <a:latin typeface="Times New Roman"/>
                <a:cs typeface="Times New Roman"/>
              </a:rPr>
              <a:t>	</a:t>
            </a:r>
            <a:r>
              <a:rPr sz="2750" spc="5" dirty="0">
                <a:latin typeface="Calibri"/>
                <a:cs typeface="Calibri"/>
              </a:rPr>
              <a:t>Hash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spc="-45" dirty="0">
                <a:latin typeface="Calibri"/>
                <a:cs typeface="Calibri"/>
              </a:rPr>
              <a:t>Table</a:t>
            </a:r>
            <a:r>
              <a:rPr sz="2750" spc="14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Size.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750" spc="-5" dirty="0">
                <a:latin typeface="Calibri"/>
                <a:cs typeface="Calibri"/>
              </a:rPr>
              <a:t>If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h0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=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(Hash(x)</a:t>
            </a:r>
            <a:r>
              <a:rPr sz="2750" spc="26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+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0)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%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Hash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50" dirty="0">
                <a:latin typeface="Calibri"/>
                <a:cs typeface="Calibri"/>
              </a:rPr>
              <a:t>Table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size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if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full</a:t>
            </a:r>
            <a:r>
              <a:rPr sz="2750" spc="16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we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try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for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h1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2750" spc="-5" dirty="0">
                <a:latin typeface="Calibri"/>
                <a:cs typeface="Calibri"/>
              </a:rPr>
              <a:t>If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h1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=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(Hash(x)</a:t>
            </a:r>
            <a:r>
              <a:rPr sz="2750" spc="26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+ 1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*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Hash2(x))</a:t>
            </a:r>
            <a:r>
              <a:rPr sz="2750" spc="26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% </a:t>
            </a:r>
            <a:r>
              <a:rPr sz="2750" spc="5" dirty="0">
                <a:latin typeface="Calibri"/>
                <a:cs typeface="Calibri"/>
              </a:rPr>
              <a:t>Hash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50" dirty="0">
                <a:latin typeface="Calibri"/>
                <a:cs typeface="Calibri"/>
              </a:rPr>
              <a:t>Table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size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if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full</a:t>
            </a:r>
            <a:r>
              <a:rPr sz="2750" spc="16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we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try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for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h2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2750" spc="-5" dirty="0">
                <a:latin typeface="Calibri"/>
                <a:cs typeface="Calibri"/>
              </a:rPr>
              <a:t>If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h2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=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(Hash(x)</a:t>
            </a:r>
            <a:r>
              <a:rPr sz="2750" spc="25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+2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*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Hash2(x))</a:t>
            </a:r>
            <a:r>
              <a:rPr sz="2750" spc="185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%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Hash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45" dirty="0">
                <a:latin typeface="Calibri"/>
                <a:cs typeface="Calibri"/>
              </a:rPr>
              <a:t>Table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size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if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full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we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try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for</a:t>
            </a:r>
            <a:r>
              <a:rPr sz="2750" spc="-3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h3……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6038" y="368436"/>
            <a:ext cx="4749800" cy="2308860"/>
          </a:xfrm>
          <a:prstGeom prst="rect">
            <a:avLst/>
          </a:prstGeom>
          <a:ln w="9534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1440" marR="225425">
              <a:lnSpc>
                <a:spcPct val="100800"/>
              </a:lnSpc>
              <a:spcBef>
                <a:spcPts val="195"/>
              </a:spcBef>
            </a:pPr>
            <a:r>
              <a:rPr sz="1800" b="1" dirty="0">
                <a:latin typeface="Calibri"/>
                <a:cs typeface="Calibri"/>
              </a:rPr>
              <a:t>When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collision</a:t>
            </a:r>
            <a:r>
              <a:rPr sz="1800" b="1" spc="-9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occurs,</a:t>
            </a:r>
            <a:r>
              <a:rPr sz="1800" b="1" spc="-120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apply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15" dirty="0">
                <a:latin typeface="Calibri"/>
                <a:cs typeface="Calibri"/>
              </a:rPr>
              <a:t>2</a:t>
            </a:r>
            <a:r>
              <a:rPr sz="1800" b="1" spc="22" baseline="23148" dirty="0">
                <a:latin typeface="Calibri"/>
                <a:cs typeface="Calibri"/>
              </a:rPr>
              <a:t>nd</a:t>
            </a:r>
            <a:r>
              <a:rPr sz="1800" b="1" spc="202" baseline="23148" dirty="0">
                <a:latin typeface="Calibri"/>
                <a:cs typeface="Calibri"/>
              </a:rPr>
              <a:t> </a:t>
            </a:r>
            <a:r>
              <a:rPr sz="1800" b="1" spc="10" dirty="0">
                <a:latin typeface="Calibri"/>
                <a:cs typeface="Calibri"/>
              </a:rPr>
              <a:t>hash</a:t>
            </a:r>
            <a:r>
              <a:rPr sz="1800" b="1" spc="-10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function. </a:t>
            </a:r>
            <a:r>
              <a:rPr sz="1800" b="1" spc="-39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Conditions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(2</a:t>
            </a:r>
            <a:r>
              <a:rPr sz="1800" b="1" spc="-7" baseline="23148" dirty="0">
                <a:latin typeface="Calibri"/>
                <a:cs typeface="Calibri"/>
              </a:rPr>
              <a:t>nd</a:t>
            </a:r>
            <a:r>
              <a:rPr sz="1800" b="1" spc="202" baseline="23148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function)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434975" indent="-34417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434975" algn="l"/>
                <a:tab pos="435609" algn="l"/>
              </a:tabLst>
            </a:pPr>
            <a:r>
              <a:rPr sz="1800" b="1" spc="10" dirty="0">
                <a:latin typeface="Calibri"/>
                <a:cs typeface="Calibri"/>
              </a:rPr>
              <a:t>N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30" dirty="0">
                <a:latin typeface="Calibri"/>
                <a:cs typeface="Calibri"/>
              </a:rPr>
              <a:t>v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30" dirty="0">
                <a:latin typeface="Calibri"/>
                <a:cs typeface="Calibri"/>
              </a:rPr>
              <a:t>v</a:t>
            </a:r>
            <a:r>
              <a:rPr sz="1800" b="1" spc="5" dirty="0">
                <a:latin typeface="Calibri"/>
                <a:cs typeface="Calibri"/>
              </a:rPr>
              <a:t>alua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16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0</a:t>
            </a:r>
            <a:r>
              <a:rPr sz="1800" b="1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  <a:p>
            <a:pPr marL="434975" indent="-34417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434975" algn="l"/>
                <a:tab pos="435609" algn="l"/>
              </a:tabLst>
            </a:pPr>
            <a:r>
              <a:rPr sz="1800" b="1" spc="10" dirty="0">
                <a:latin typeface="Calibri"/>
                <a:cs typeface="Calibri"/>
              </a:rPr>
              <a:t>All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cells</a:t>
            </a:r>
            <a:r>
              <a:rPr sz="1800" b="1" spc="-9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can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be</a:t>
            </a:r>
            <a:r>
              <a:rPr sz="1800" b="1" spc="2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probed.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 dirty="0">
              <a:latin typeface="Calibri"/>
              <a:cs typeface="Calibri"/>
            </a:endParaRPr>
          </a:p>
          <a:p>
            <a:pPr marL="91440" marR="2119630">
              <a:lnSpc>
                <a:spcPct val="100800"/>
              </a:lnSpc>
              <a:spcBef>
                <a:spcPts val="5"/>
              </a:spcBef>
            </a:pPr>
            <a:r>
              <a:rPr sz="1800" b="1" spc="-15" dirty="0">
                <a:latin typeface="Calibri"/>
                <a:cs typeface="Calibri"/>
              </a:rPr>
              <a:t>2</a:t>
            </a:r>
            <a:r>
              <a:rPr sz="1800" b="1" spc="37" baseline="23148" dirty="0">
                <a:latin typeface="Calibri"/>
                <a:cs typeface="Calibri"/>
              </a:rPr>
              <a:t>n</a:t>
            </a:r>
            <a:r>
              <a:rPr sz="1800" b="1" baseline="23148" dirty="0">
                <a:latin typeface="Calibri"/>
                <a:cs typeface="Calibri"/>
              </a:rPr>
              <a:t>d</a:t>
            </a:r>
            <a:r>
              <a:rPr sz="1800" spc="157" baseline="23148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ha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dirty="0">
                <a:latin typeface="Calibri"/>
                <a:cs typeface="Calibri"/>
              </a:rPr>
              <a:t>h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libri"/>
                <a:cs typeface="Calibri"/>
              </a:rPr>
              <a:t>f</a:t>
            </a:r>
            <a:r>
              <a:rPr sz="1800" b="1" spc="5" dirty="0">
                <a:latin typeface="Calibri"/>
                <a:cs typeface="Calibri"/>
              </a:rPr>
              <a:t>un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30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i</a:t>
            </a:r>
            <a:r>
              <a:rPr sz="1800" b="1" dirty="0">
                <a:latin typeface="Calibri"/>
                <a:cs typeface="Calibri"/>
              </a:rPr>
              <a:t>on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i</a:t>
            </a:r>
            <a:r>
              <a:rPr sz="1800" b="1" dirty="0">
                <a:latin typeface="Calibri"/>
                <a:cs typeface="Calibri"/>
              </a:rPr>
              <a:t>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: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Hash2(Key)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–</a:t>
            </a:r>
            <a:r>
              <a:rPr sz="1800" b="1" spc="3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(Key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%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15" dirty="0">
                <a:latin typeface="Calibri"/>
                <a:cs typeface="Calibri"/>
              </a:rPr>
              <a:t>R)</a:t>
            </a:r>
            <a:endParaRPr sz="18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20"/>
              </a:spcBef>
            </a:pPr>
            <a:r>
              <a:rPr sz="1800" b="1" spc="30" dirty="0">
                <a:latin typeface="Calibri"/>
                <a:cs typeface="Calibri"/>
              </a:rPr>
              <a:t>R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b="1" spc="10" dirty="0">
                <a:latin typeface="Calibri"/>
                <a:cs typeface="Calibri"/>
              </a:rPr>
              <a:t>P</a:t>
            </a:r>
            <a:r>
              <a:rPr sz="1800" b="1" spc="30" dirty="0">
                <a:latin typeface="Calibri"/>
                <a:cs typeface="Calibri"/>
              </a:rPr>
              <a:t>r</a:t>
            </a:r>
            <a:r>
              <a:rPr sz="1800" b="1" spc="5" dirty="0">
                <a:latin typeface="Calibri"/>
                <a:cs typeface="Calibri"/>
              </a:rPr>
              <a:t>i</a:t>
            </a:r>
            <a:r>
              <a:rPr sz="1800" b="1" spc="35" dirty="0">
                <a:latin typeface="Calibri"/>
                <a:cs typeface="Calibri"/>
              </a:rPr>
              <a:t>m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16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nu</a:t>
            </a:r>
            <a:r>
              <a:rPr sz="1800" b="1" spc="35" dirty="0">
                <a:latin typeface="Calibri"/>
                <a:cs typeface="Calibri"/>
              </a:rPr>
              <a:t>m</a:t>
            </a:r>
            <a:r>
              <a:rPr sz="1800" b="1" spc="5" dirty="0">
                <a:latin typeface="Calibri"/>
                <a:cs typeface="Calibri"/>
              </a:rPr>
              <a:t>b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&lt;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5" dirty="0">
                <a:latin typeface="Calibri"/>
                <a:cs typeface="Calibri"/>
              </a:rPr>
              <a:t>i</a:t>
            </a:r>
            <a:r>
              <a:rPr sz="1800" b="1" spc="30" dirty="0">
                <a:latin typeface="Calibri"/>
                <a:cs typeface="Calibri"/>
              </a:rPr>
              <a:t>z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1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abl</a:t>
            </a:r>
            <a:r>
              <a:rPr sz="1800" b="1" dirty="0">
                <a:latin typeface="Calibri"/>
                <a:cs typeface="Calibri"/>
              </a:rPr>
              <a:t>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881" y="368421"/>
            <a:ext cx="4422140" cy="1477645"/>
          </a:xfrm>
          <a:prstGeom prst="rect">
            <a:avLst/>
          </a:prstGeom>
          <a:ln w="9534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5885" marR="1163955">
              <a:lnSpc>
                <a:spcPct val="100800"/>
              </a:lnSpc>
              <a:spcBef>
                <a:spcPts val="195"/>
              </a:spcBef>
            </a:pPr>
            <a:r>
              <a:rPr sz="1800" b="1" spc="20" dirty="0">
                <a:latin typeface="Calibri"/>
                <a:cs typeface="Calibri"/>
              </a:rPr>
              <a:t>C</a:t>
            </a:r>
            <a:r>
              <a:rPr sz="1800" b="1" spc="5" dirty="0">
                <a:latin typeface="Calibri"/>
                <a:cs typeface="Calibri"/>
              </a:rPr>
              <a:t>on</a:t>
            </a:r>
            <a:r>
              <a:rPr sz="1800" b="1" spc="30" dirty="0">
                <a:latin typeface="Calibri"/>
                <a:cs typeface="Calibri"/>
              </a:rPr>
              <a:t>s</a:t>
            </a:r>
            <a:r>
              <a:rPr sz="1800" b="1" spc="5" dirty="0">
                <a:latin typeface="Calibri"/>
                <a:cs typeface="Calibri"/>
              </a:rPr>
              <a:t>id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spc="-19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10" dirty="0">
                <a:latin typeface="Calibri"/>
                <a:cs typeface="Calibri"/>
              </a:rPr>
              <a:t>a</a:t>
            </a:r>
            <a:r>
              <a:rPr sz="1800" b="1" spc="5" dirty="0">
                <a:latin typeface="Calibri"/>
                <a:cs typeface="Calibri"/>
              </a:rPr>
              <a:t>bl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b="1" spc="30" dirty="0">
                <a:latin typeface="Calibri"/>
                <a:cs typeface="Calibri"/>
              </a:rPr>
              <a:t>s</a:t>
            </a:r>
            <a:r>
              <a:rPr sz="1800" b="1" spc="5" dirty="0">
                <a:latin typeface="Calibri"/>
                <a:cs typeface="Calibri"/>
              </a:rPr>
              <a:t>i</a:t>
            </a:r>
            <a:r>
              <a:rPr sz="1800" b="1" spc="30" dirty="0">
                <a:latin typeface="Calibri"/>
                <a:cs typeface="Calibri"/>
              </a:rPr>
              <a:t>z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229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1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ele</a:t>
            </a:r>
            <a:r>
              <a:rPr sz="1800" b="1" spc="35" dirty="0">
                <a:latin typeface="Calibri"/>
                <a:cs typeface="Calibri"/>
              </a:rPr>
              <a:t>m</a:t>
            </a:r>
            <a:r>
              <a:rPr sz="1800" b="1" spc="-5" dirty="0">
                <a:latin typeface="Calibri"/>
                <a:cs typeface="Calibri"/>
              </a:rPr>
              <a:t>en</a:t>
            </a:r>
            <a:r>
              <a:rPr sz="1800" b="1" spc="-20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s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Hash(Key)</a:t>
            </a:r>
            <a:r>
              <a:rPr sz="1800" b="1" dirty="0">
                <a:latin typeface="Calibri"/>
                <a:cs typeface="Calibri"/>
              </a:rPr>
              <a:t> =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Key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% </a:t>
            </a:r>
            <a:r>
              <a:rPr sz="1800" b="1" spc="-10" dirty="0">
                <a:latin typeface="Calibri"/>
                <a:cs typeface="Calibri"/>
              </a:rPr>
              <a:t>10</a:t>
            </a:r>
            <a:endParaRPr sz="1800" dirty="0">
              <a:latin typeface="Calibri"/>
              <a:cs typeface="Calibri"/>
            </a:endParaRPr>
          </a:p>
          <a:p>
            <a:pPr marL="95885">
              <a:lnSpc>
                <a:spcPct val="100000"/>
              </a:lnSpc>
              <a:spcBef>
                <a:spcPts val="20"/>
              </a:spcBef>
            </a:pPr>
            <a:r>
              <a:rPr sz="1800" b="1" spc="-10" dirty="0">
                <a:latin typeface="Calibri"/>
                <a:cs typeface="Calibri"/>
              </a:rPr>
              <a:t>Hash2(Key)</a:t>
            </a:r>
            <a:r>
              <a:rPr sz="1800" b="1" dirty="0">
                <a:latin typeface="Calibri"/>
                <a:cs typeface="Calibri"/>
              </a:rPr>
              <a:t> =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7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–</a:t>
            </a:r>
            <a:r>
              <a:rPr sz="1800" b="1" spc="4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(Key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%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7)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 marL="95885">
              <a:lnSpc>
                <a:spcPct val="100000"/>
              </a:lnSpc>
            </a:pPr>
            <a:r>
              <a:rPr sz="1800" b="1" spc="5" dirty="0">
                <a:latin typeface="Calibri"/>
                <a:cs typeface="Calibri"/>
              </a:rPr>
              <a:t>Insert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Keys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: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89,18,49,58,69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6038" y="3120700"/>
            <a:ext cx="4531360" cy="3139440"/>
          </a:xfrm>
          <a:prstGeom prst="rect">
            <a:avLst/>
          </a:prstGeom>
          <a:ln w="953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91440" marR="1857375">
              <a:lnSpc>
                <a:spcPct val="100800"/>
              </a:lnSpc>
              <a:spcBef>
                <a:spcPts val="229"/>
              </a:spcBef>
            </a:pPr>
            <a:r>
              <a:rPr sz="1800" b="1" dirty="0">
                <a:latin typeface="Calibri"/>
                <a:cs typeface="Calibri"/>
              </a:rPr>
              <a:t>Insert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Keys </a:t>
            </a:r>
            <a:r>
              <a:rPr sz="1800" b="1" dirty="0">
                <a:latin typeface="Calibri"/>
                <a:cs typeface="Calibri"/>
              </a:rPr>
              <a:t>: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89,18,49,58,69 </a:t>
            </a:r>
            <a:r>
              <a:rPr sz="1800" b="1" spc="-39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Hash(89)</a:t>
            </a:r>
            <a:r>
              <a:rPr sz="1800" b="1" dirty="0">
                <a:latin typeface="Calibri"/>
                <a:cs typeface="Calibri"/>
              </a:rPr>
              <a:t> =</a:t>
            </a:r>
            <a:r>
              <a:rPr sz="1800" b="1" spc="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89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% </a:t>
            </a:r>
            <a:r>
              <a:rPr sz="1800" b="1" spc="-10" dirty="0">
                <a:latin typeface="Calibri"/>
                <a:cs typeface="Calibri"/>
              </a:rPr>
              <a:t>10</a:t>
            </a:r>
            <a:r>
              <a:rPr sz="1800" b="1" spc="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9</a:t>
            </a:r>
            <a:endParaRPr sz="18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5"/>
              </a:spcBef>
            </a:pPr>
            <a:r>
              <a:rPr sz="1800" b="1" spc="-10" dirty="0">
                <a:latin typeface="Calibri"/>
                <a:cs typeface="Calibri"/>
              </a:rPr>
              <a:t>Hash(18)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18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% </a:t>
            </a:r>
            <a:r>
              <a:rPr sz="1800" b="1" spc="-10" dirty="0">
                <a:latin typeface="Calibri"/>
                <a:cs typeface="Calibri"/>
              </a:rPr>
              <a:t>10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8</a:t>
            </a:r>
            <a:endParaRPr sz="18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20"/>
              </a:spcBef>
            </a:pPr>
            <a:r>
              <a:rPr sz="1800" b="1" spc="-10" dirty="0">
                <a:latin typeface="Calibri"/>
                <a:cs typeface="Calibri"/>
              </a:rPr>
              <a:t>Hash(49)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49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% </a:t>
            </a:r>
            <a:r>
              <a:rPr sz="1800" b="1" spc="-10" dirty="0">
                <a:latin typeface="Calibri"/>
                <a:cs typeface="Calibri"/>
              </a:rPr>
              <a:t>10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9</a:t>
            </a:r>
            <a:endParaRPr sz="18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5"/>
              </a:spcBef>
            </a:pPr>
            <a:r>
              <a:rPr sz="1800" b="1" spc="15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10" dirty="0">
                <a:latin typeface="Calibri"/>
                <a:cs typeface="Calibri"/>
              </a:rPr>
              <a:t>l</a:t>
            </a:r>
            <a:r>
              <a:rPr sz="1800" b="1" spc="5" dirty="0">
                <a:latin typeface="Calibri"/>
                <a:cs typeface="Calibri"/>
              </a:rPr>
              <a:t>li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spc="5" dirty="0">
                <a:latin typeface="Calibri"/>
                <a:cs typeface="Calibri"/>
              </a:rPr>
              <a:t>i</a:t>
            </a:r>
            <a:r>
              <a:rPr sz="1800" b="1" dirty="0">
                <a:latin typeface="Calibri"/>
                <a:cs typeface="Calibri"/>
              </a:rPr>
              <a:t>on</a:t>
            </a:r>
            <a:r>
              <a:rPr sz="1800" spc="-2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!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Calibri"/>
                <a:cs typeface="Calibri"/>
              </a:rPr>
              <a:t>Hash(49)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7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–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(49%7)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7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positions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15" dirty="0">
                <a:latin typeface="Calibri"/>
                <a:cs typeface="Calibri"/>
              </a:rPr>
              <a:t>from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[9]</a:t>
            </a:r>
            <a:endParaRPr sz="18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5"/>
              </a:spcBef>
            </a:pPr>
            <a:r>
              <a:rPr sz="1800" b="1" spc="-10" dirty="0">
                <a:latin typeface="Calibri"/>
                <a:cs typeface="Calibri"/>
              </a:rPr>
              <a:t>Hash(58)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3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58%10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8</a:t>
            </a:r>
            <a:endParaRPr sz="18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20"/>
              </a:spcBef>
            </a:pPr>
            <a:r>
              <a:rPr sz="1800" b="1" spc="-10" dirty="0">
                <a:latin typeface="Calibri"/>
                <a:cs typeface="Calibri"/>
              </a:rPr>
              <a:t>Hash(58)</a:t>
            </a:r>
            <a:r>
              <a:rPr sz="1800" b="1" dirty="0">
                <a:latin typeface="Calibri"/>
                <a:cs typeface="Calibri"/>
              </a:rPr>
              <a:t> =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7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–</a:t>
            </a:r>
            <a:r>
              <a:rPr sz="1800" b="1" spc="5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(58</a:t>
            </a:r>
            <a:r>
              <a:rPr sz="1800" b="1" spc="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%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7)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5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positions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15" dirty="0">
                <a:latin typeface="Calibri"/>
                <a:cs typeface="Calibri"/>
              </a:rPr>
              <a:t>from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[8]</a:t>
            </a:r>
            <a:endParaRPr sz="1800" dirty="0">
              <a:latin typeface="Calibri"/>
              <a:cs typeface="Calibri"/>
            </a:endParaRPr>
          </a:p>
          <a:p>
            <a:pPr marL="91440">
              <a:lnSpc>
                <a:spcPts val="2130"/>
              </a:lnSpc>
              <a:spcBef>
                <a:spcPts val="15"/>
              </a:spcBef>
            </a:pPr>
            <a:r>
              <a:rPr sz="1800" b="1" spc="-10" dirty="0">
                <a:latin typeface="Calibri"/>
                <a:cs typeface="Calibri"/>
              </a:rPr>
              <a:t>Hash(69)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69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% </a:t>
            </a:r>
            <a:r>
              <a:rPr sz="1800" b="1" spc="-10" dirty="0">
                <a:latin typeface="Calibri"/>
                <a:cs typeface="Calibri"/>
              </a:rPr>
              <a:t>10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9</a:t>
            </a:r>
            <a:endParaRPr sz="1800" dirty="0">
              <a:latin typeface="Calibri"/>
              <a:cs typeface="Calibri"/>
            </a:endParaRPr>
          </a:p>
          <a:p>
            <a:pPr marL="91440">
              <a:lnSpc>
                <a:spcPts val="2130"/>
              </a:lnSpc>
            </a:pPr>
            <a:r>
              <a:rPr sz="1800" b="1" spc="-10" dirty="0">
                <a:latin typeface="Calibri"/>
                <a:cs typeface="Calibri"/>
              </a:rPr>
              <a:t>Hash(69)</a:t>
            </a:r>
            <a:r>
              <a:rPr sz="1800" b="1" dirty="0">
                <a:latin typeface="Calibri"/>
                <a:cs typeface="Calibri"/>
              </a:rPr>
              <a:t> =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7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–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(69</a:t>
            </a:r>
            <a:r>
              <a:rPr sz="1800" b="1" spc="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% </a:t>
            </a:r>
            <a:r>
              <a:rPr sz="1800" b="1" spc="-10" dirty="0">
                <a:latin typeface="Calibri"/>
                <a:cs typeface="Calibri"/>
              </a:rPr>
              <a:t>7)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position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15" dirty="0">
                <a:latin typeface="Calibri"/>
                <a:cs typeface="Calibri"/>
              </a:rPr>
              <a:t>from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[9]</a:t>
            </a:r>
            <a:endParaRPr sz="1800" dirty="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650103" y="2365359"/>
          <a:ext cx="682625" cy="41109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1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69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0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098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58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0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0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098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49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0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086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098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89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085589" y="2339863"/>
            <a:ext cx="141605" cy="415544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80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800" dirty="0"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80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800" dirty="0"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800" dirty="0"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800" dirty="0">
                <a:latin typeface="Calibri"/>
                <a:cs typeface="Calibri"/>
              </a:rPr>
              <a:t>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23929" y="238912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38145" y="3628966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02034" y="4811341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88699" y="5654751"/>
            <a:ext cx="175895" cy="76517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46990">
              <a:lnSpc>
                <a:spcPct val="100000"/>
              </a:lnSpc>
              <a:spcBef>
                <a:spcPts val="755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51741" y="3120639"/>
            <a:ext cx="2347595" cy="1323975"/>
          </a:xfrm>
          <a:prstGeom prst="rect">
            <a:avLst/>
          </a:prstGeom>
          <a:ln w="9534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93675" marR="182880" indent="114300">
              <a:lnSpc>
                <a:spcPct val="101400"/>
              </a:lnSpc>
              <a:spcBef>
                <a:spcPts val="135"/>
              </a:spcBef>
            </a:pPr>
            <a:r>
              <a:rPr sz="3950" b="1" u="heavy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DOUBLE </a:t>
            </a:r>
            <a:r>
              <a:rPr sz="3950" b="1" spc="-8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950" b="1"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H</a:t>
            </a:r>
            <a:r>
              <a:rPr sz="3950" b="1" u="heavy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A</a:t>
            </a:r>
            <a:r>
              <a:rPr sz="395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S</a:t>
            </a:r>
            <a:r>
              <a:rPr sz="3950" b="1"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H</a:t>
            </a:r>
            <a:r>
              <a:rPr sz="3950" b="1" u="heavy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ING</a:t>
            </a:r>
            <a:endParaRPr sz="3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788670">
              <a:lnSpc>
                <a:spcPct val="100000"/>
              </a:lnSpc>
              <a:spcBef>
                <a:spcPts val="1340"/>
              </a:spcBef>
            </a:pPr>
            <a:r>
              <a:rPr sz="5400" spc="-120" dirty="0"/>
              <a:t>P</a:t>
            </a:r>
            <a:r>
              <a:rPr sz="5400" spc="25" dirty="0"/>
              <a:t>e</a:t>
            </a:r>
            <a:r>
              <a:rPr sz="5400" dirty="0"/>
              <a:t>r</a:t>
            </a:r>
            <a:r>
              <a:rPr sz="5400" spc="-105" dirty="0"/>
              <a:t>f</a:t>
            </a:r>
            <a:r>
              <a:rPr sz="5400" spc="-45" dirty="0"/>
              <a:t>o</a:t>
            </a:r>
            <a:r>
              <a:rPr sz="5400" spc="-65" dirty="0"/>
              <a:t>r</a:t>
            </a:r>
            <a:r>
              <a:rPr sz="5400" spc="-70" dirty="0"/>
              <a:t>ma</a:t>
            </a:r>
            <a:r>
              <a:rPr sz="5400" spc="-30" dirty="0"/>
              <a:t>n</a:t>
            </a:r>
            <a:r>
              <a:rPr sz="5400" spc="-45" dirty="0"/>
              <a:t>c</a:t>
            </a:r>
            <a:r>
              <a:rPr sz="5400" dirty="0"/>
              <a:t>e</a:t>
            </a:r>
            <a:r>
              <a:rPr sz="5400" spc="-420" dirty="0">
                <a:latin typeface="Times New Roman"/>
                <a:cs typeface="Times New Roman"/>
              </a:rPr>
              <a:t> </a:t>
            </a:r>
            <a:r>
              <a:rPr sz="5400" spc="25" dirty="0"/>
              <a:t>o</a:t>
            </a:r>
            <a:r>
              <a:rPr sz="5400" dirty="0"/>
              <a:t>f</a:t>
            </a:r>
            <a:r>
              <a:rPr sz="5400" spc="-265" dirty="0">
                <a:latin typeface="Times New Roman"/>
                <a:cs typeface="Times New Roman"/>
              </a:rPr>
              <a:t> </a:t>
            </a:r>
            <a:r>
              <a:rPr sz="5400" spc="-5" dirty="0"/>
              <a:t>O</a:t>
            </a:r>
            <a:r>
              <a:rPr sz="5400" spc="25" dirty="0"/>
              <a:t>p</a:t>
            </a:r>
            <a:r>
              <a:rPr sz="5400" spc="-45" dirty="0"/>
              <a:t>e</a:t>
            </a:r>
            <a:r>
              <a:rPr sz="5400" dirty="0"/>
              <a:t>n</a:t>
            </a:r>
            <a:r>
              <a:rPr sz="5400" spc="-405" dirty="0">
                <a:latin typeface="Times New Roman"/>
                <a:cs typeface="Times New Roman"/>
              </a:rPr>
              <a:t> </a:t>
            </a:r>
            <a:r>
              <a:rPr sz="5400" spc="20" dirty="0"/>
              <a:t>A</a:t>
            </a:r>
            <a:r>
              <a:rPr sz="5400" spc="40" dirty="0"/>
              <a:t>d</a:t>
            </a:r>
            <a:r>
              <a:rPr sz="5400" spc="-30" dirty="0"/>
              <a:t>d</a:t>
            </a:r>
            <a:r>
              <a:rPr sz="5400" spc="-140" dirty="0"/>
              <a:t>r</a:t>
            </a:r>
            <a:r>
              <a:rPr sz="5400" spc="-45" dirty="0"/>
              <a:t>e</a:t>
            </a:r>
            <a:r>
              <a:rPr sz="5400" dirty="0"/>
              <a:t>s</a:t>
            </a:r>
            <a:r>
              <a:rPr sz="5400" spc="-55" dirty="0"/>
              <a:t>s</a:t>
            </a:r>
            <a:r>
              <a:rPr sz="5400" dirty="0"/>
              <a:t>i</a:t>
            </a:r>
            <a:r>
              <a:rPr sz="5400" spc="-105" dirty="0"/>
              <a:t>n</a:t>
            </a:r>
            <a:r>
              <a:rPr sz="5400" dirty="0"/>
              <a:t>g</a:t>
            </a:r>
            <a:endParaRPr sz="5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00100" y="1787444"/>
          <a:ext cx="10516233" cy="44100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0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1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35089">
                <a:tc gridSpan="3">
                  <a:txBody>
                    <a:bodyPr/>
                    <a:lstStyle/>
                    <a:p>
                      <a:pPr marL="91440" marR="313055">
                        <a:lnSpc>
                          <a:spcPts val="4060"/>
                        </a:lnSpc>
                        <a:spcBef>
                          <a:spcPts val="135"/>
                        </a:spcBef>
                      </a:pPr>
                      <a:r>
                        <a:rPr sz="2750" spc="-10" dirty="0">
                          <a:latin typeface="Calibri"/>
                          <a:cs typeface="Calibri"/>
                        </a:rPr>
                        <a:t>Like</a:t>
                      </a:r>
                      <a:r>
                        <a:rPr sz="27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spc="-10" dirty="0">
                          <a:latin typeface="Calibri"/>
                          <a:cs typeface="Calibri"/>
                        </a:rPr>
                        <a:t>Chaining,</a:t>
                      </a:r>
                      <a:r>
                        <a:rPr sz="2750" spc="2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spc="-1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750" spc="1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spc="5" dirty="0"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275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spc="2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7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spc="-15" dirty="0">
                          <a:latin typeface="Calibri"/>
                          <a:cs typeface="Calibri"/>
                        </a:rPr>
                        <a:t>hashing</a:t>
                      </a:r>
                      <a:r>
                        <a:rPr sz="2750" spc="2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spc="25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75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spc="-5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75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spc="-10" dirty="0">
                          <a:latin typeface="Calibri"/>
                          <a:cs typeface="Calibri"/>
                        </a:rPr>
                        <a:t>evaluated</a:t>
                      </a:r>
                      <a:r>
                        <a:rPr sz="275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spc="-15" dirty="0">
                          <a:latin typeface="Calibri"/>
                          <a:cs typeface="Calibri"/>
                        </a:rPr>
                        <a:t>under</a:t>
                      </a:r>
                      <a:r>
                        <a:rPr sz="2750" spc="2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spc="-1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750" spc="-6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dirty="0">
                          <a:latin typeface="Calibri"/>
                          <a:cs typeface="Calibri"/>
                        </a:rPr>
                        <a:t>assumption</a:t>
                      </a:r>
                      <a:r>
                        <a:rPr sz="2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dirty="0">
                          <a:latin typeface="Calibri"/>
                          <a:cs typeface="Calibri"/>
                        </a:rPr>
                        <a:t>that </a:t>
                      </a:r>
                      <a:r>
                        <a:rPr sz="2750" spc="15" dirty="0">
                          <a:latin typeface="Calibri"/>
                          <a:cs typeface="Calibri"/>
                        </a:rPr>
                        <a:t>each </a:t>
                      </a:r>
                      <a:r>
                        <a:rPr sz="2750" spc="-20" dirty="0">
                          <a:latin typeface="Calibri"/>
                          <a:cs typeface="Calibri"/>
                        </a:rPr>
                        <a:t>key </a:t>
                      </a:r>
                      <a:r>
                        <a:rPr sz="2750" spc="-15" dirty="0">
                          <a:latin typeface="Calibri"/>
                          <a:cs typeface="Calibri"/>
                        </a:rPr>
                        <a:t>is equally</a:t>
                      </a:r>
                      <a:r>
                        <a:rPr sz="27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spc="-25" dirty="0">
                          <a:latin typeface="Calibri"/>
                          <a:cs typeface="Calibri"/>
                        </a:rPr>
                        <a:t>likely </a:t>
                      </a:r>
                      <a:r>
                        <a:rPr sz="2750" spc="-5" dirty="0">
                          <a:latin typeface="Calibri"/>
                          <a:cs typeface="Calibri"/>
                        </a:rPr>
                        <a:t>to be </a:t>
                      </a:r>
                      <a:r>
                        <a:rPr sz="2750" spc="-10" dirty="0">
                          <a:latin typeface="Calibri"/>
                          <a:cs typeface="Calibri"/>
                        </a:rPr>
                        <a:t>hashed</a:t>
                      </a:r>
                      <a:r>
                        <a:rPr sz="2750" spc="-5" dirty="0">
                          <a:latin typeface="Calibri"/>
                          <a:cs typeface="Calibri"/>
                        </a:rPr>
                        <a:t> to </a:t>
                      </a:r>
                      <a:r>
                        <a:rPr sz="2750" spc="-20" dirty="0">
                          <a:latin typeface="Calibri"/>
                          <a:cs typeface="Calibri"/>
                        </a:rPr>
                        <a:t>any </a:t>
                      </a:r>
                      <a:r>
                        <a:rPr sz="2750" spc="-5" dirty="0">
                          <a:latin typeface="Calibri"/>
                          <a:cs typeface="Calibri"/>
                        </a:rPr>
                        <a:t>slot </a:t>
                      </a:r>
                      <a:r>
                        <a:rPr sz="2750" spc="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27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spc="-1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75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spc="-10" dirty="0">
                          <a:latin typeface="Calibri"/>
                          <a:cs typeface="Calibri"/>
                        </a:rPr>
                        <a:t>table</a:t>
                      </a:r>
                      <a:r>
                        <a:rPr sz="275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spc="-10" dirty="0">
                          <a:latin typeface="Calibri"/>
                          <a:cs typeface="Calibri"/>
                        </a:rPr>
                        <a:t>(simple</a:t>
                      </a:r>
                      <a:r>
                        <a:rPr sz="2750" spc="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spc="-15" dirty="0">
                          <a:latin typeface="Calibri"/>
                          <a:cs typeface="Calibri"/>
                        </a:rPr>
                        <a:t>uniform</a:t>
                      </a:r>
                      <a:r>
                        <a:rPr sz="275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spc="-15" dirty="0">
                          <a:latin typeface="Calibri"/>
                          <a:cs typeface="Calibri"/>
                        </a:rPr>
                        <a:t>hashing)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76200">
                      <a:solidFill>
                        <a:srgbClr val="FF0000"/>
                      </a:solidFill>
                      <a:prstDash val="solid"/>
                    </a:lnL>
                    <a:lnR w="76200">
                      <a:solidFill>
                        <a:srgbClr val="FF0000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5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2000" spc="2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0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slots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hash</a:t>
                      </a:r>
                      <a:r>
                        <a:rPr sz="20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table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59690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2000" spc="1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keys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inserted</a:t>
                      </a:r>
                      <a:r>
                        <a:rPr sz="20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hash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table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Load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factor</a:t>
                      </a:r>
                      <a:r>
                        <a:rPr sz="20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α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n/m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&lt;</a:t>
                      </a:r>
                      <a:r>
                        <a:rPr sz="20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20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)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Expected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search/insert/delete</a:t>
                      </a:r>
                      <a:r>
                        <a:rPr sz="20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&lt;</a:t>
                      </a:r>
                      <a:r>
                        <a:rPr sz="20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1/(1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α)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So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Search,</a:t>
                      </a:r>
                      <a:r>
                        <a:rPr sz="200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Insert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Delete</a:t>
                      </a:r>
                      <a:r>
                        <a:rPr sz="20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take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(1/(1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α))</a:t>
                      </a:r>
                      <a:r>
                        <a:rPr sz="20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time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76200">
                      <a:solidFill>
                        <a:srgbClr val="FF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465"/>
              </a:spcBef>
            </a:pPr>
            <a:r>
              <a:rPr spc="20" dirty="0"/>
              <a:t>DH</a:t>
            </a:r>
            <a:r>
              <a:rPr spc="-275" dirty="0"/>
              <a:t> </a:t>
            </a:r>
            <a:r>
              <a:rPr spc="5" dirty="0"/>
              <a:t>&lt;</a:t>
            </a:r>
            <a:r>
              <a:rPr spc="-65" dirty="0"/>
              <a:t> </a:t>
            </a:r>
            <a:r>
              <a:rPr spc="10" dirty="0"/>
              <a:t>QP</a:t>
            </a:r>
            <a:r>
              <a:rPr spc="-210" dirty="0"/>
              <a:t> </a:t>
            </a:r>
            <a:r>
              <a:rPr spc="5" dirty="0"/>
              <a:t>&lt;</a:t>
            </a:r>
            <a:r>
              <a:rPr spc="-150" dirty="0"/>
              <a:t> </a:t>
            </a:r>
            <a:r>
              <a:rPr dirty="0"/>
              <a:t>LP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825544"/>
            <a:ext cx="10515600" cy="4351655"/>
          </a:xfrm>
          <a:custGeom>
            <a:avLst/>
            <a:gdLst/>
            <a:ahLst/>
            <a:cxnLst/>
            <a:rect l="l" t="t" r="r" b="b"/>
            <a:pathLst>
              <a:path w="10515600" h="4351655">
                <a:moveTo>
                  <a:pt x="0" y="4351416"/>
                </a:moveTo>
                <a:lnTo>
                  <a:pt x="10515599" y="4351416"/>
                </a:lnTo>
                <a:lnTo>
                  <a:pt x="10515599" y="0"/>
                </a:lnTo>
                <a:lnTo>
                  <a:pt x="0" y="0"/>
                </a:lnTo>
                <a:lnTo>
                  <a:pt x="0" y="4351416"/>
                </a:lnTo>
                <a:close/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7571" y="1795035"/>
            <a:ext cx="10346055" cy="41643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95885" indent="-229235">
              <a:lnSpc>
                <a:spcPct val="139600"/>
              </a:lnSpc>
              <a:spcBef>
                <a:spcPts val="90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Linear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probing</a:t>
            </a:r>
            <a:r>
              <a:rPr sz="2600" spc="125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has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best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10" dirty="0">
                <a:latin typeface="Calibri"/>
                <a:cs typeface="Calibri"/>
              </a:rPr>
              <a:t>cache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performance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but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suffers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from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clustering.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more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advantage</a:t>
            </a:r>
            <a:r>
              <a:rPr sz="2600" spc="-1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of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Linear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probing</a:t>
            </a:r>
            <a:r>
              <a:rPr sz="2600" spc="45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easy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20" dirty="0">
                <a:latin typeface="Calibri"/>
                <a:cs typeface="Calibri"/>
              </a:rPr>
              <a:t>to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compute.</a:t>
            </a:r>
            <a:endParaRPr sz="2600">
              <a:latin typeface="Calibri"/>
              <a:cs typeface="Calibri"/>
            </a:endParaRPr>
          </a:p>
          <a:p>
            <a:pPr marL="241300" marR="5080" indent="-229235">
              <a:lnSpc>
                <a:spcPct val="142000"/>
              </a:lnSpc>
              <a:spcBef>
                <a:spcPts val="900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Quadratic</a:t>
            </a:r>
            <a:r>
              <a:rPr sz="2600" spc="-1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probing</a:t>
            </a:r>
            <a:r>
              <a:rPr sz="2600" spc="1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lies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between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10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20" dirty="0">
                <a:latin typeface="Calibri"/>
                <a:cs typeface="Calibri"/>
              </a:rPr>
              <a:t>two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10" dirty="0">
                <a:latin typeface="Calibri"/>
                <a:cs typeface="Calibri"/>
              </a:rPr>
              <a:t>in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terms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of</a:t>
            </a:r>
            <a:r>
              <a:rPr sz="2600" spc="30" dirty="0">
                <a:latin typeface="Calibri"/>
                <a:cs typeface="Calibri"/>
              </a:rPr>
              <a:t> </a:t>
            </a:r>
            <a:r>
              <a:rPr sz="2600" spc="10" dirty="0">
                <a:latin typeface="Calibri"/>
                <a:cs typeface="Calibri"/>
              </a:rPr>
              <a:t>cache</a:t>
            </a:r>
            <a:r>
              <a:rPr sz="2600" spc="-17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performance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10" dirty="0">
                <a:latin typeface="Calibri"/>
                <a:cs typeface="Calibri"/>
              </a:rPr>
              <a:t>and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clustering.</a:t>
            </a:r>
            <a:endParaRPr sz="2600">
              <a:latin typeface="Calibri"/>
              <a:cs typeface="Calibri"/>
            </a:endParaRPr>
          </a:p>
          <a:p>
            <a:pPr marL="241300" marR="98425" indent="-229235">
              <a:lnSpc>
                <a:spcPct val="140800"/>
              </a:lnSpc>
              <a:spcBef>
                <a:spcPts val="940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Double hashing </a:t>
            </a:r>
            <a:r>
              <a:rPr sz="2600" spc="10" dirty="0">
                <a:latin typeface="Calibri"/>
                <a:cs typeface="Calibri"/>
              </a:rPr>
              <a:t>has </a:t>
            </a:r>
            <a:r>
              <a:rPr sz="2600" spc="-15" dirty="0">
                <a:latin typeface="Calibri"/>
                <a:cs typeface="Calibri"/>
              </a:rPr>
              <a:t>poor </a:t>
            </a:r>
            <a:r>
              <a:rPr sz="2600" spc="15" dirty="0">
                <a:latin typeface="Calibri"/>
                <a:cs typeface="Calibri"/>
              </a:rPr>
              <a:t>cache </a:t>
            </a:r>
            <a:r>
              <a:rPr sz="2600" spc="-5" dirty="0">
                <a:latin typeface="Calibri"/>
                <a:cs typeface="Calibri"/>
              </a:rPr>
              <a:t>performance but </a:t>
            </a:r>
            <a:r>
              <a:rPr sz="2600" dirty="0">
                <a:latin typeface="Calibri"/>
                <a:cs typeface="Calibri"/>
              </a:rPr>
              <a:t>no clustering. Double 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hashing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requires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more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computation</a:t>
            </a:r>
            <a:r>
              <a:rPr sz="2600" spc="-160" dirty="0">
                <a:latin typeface="Calibri"/>
                <a:cs typeface="Calibri"/>
              </a:rPr>
              <a:t> </a:t>
            </a:r>
            <a:r>
              <a:rPr sz="2600" spc="15" dirty="0">
                <a:latin typeface="Calibri"/>
                <a:cs typeface="Calibri"/>
              </a:rPr>
              <a:t>time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20" dirty="0">
                <a:latin typeface="Calibri"/>
                <a:cs typeface="Calibri"/>
              </a:rPr>
              <a:t>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15" dirty="0">
                <a:latin typeface="Calibri"/>
                <a:cs typeface="Calibri"/>
              </a:rPr>
              <a:t>two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10" dirty="0">
                <a:latin typeface="Calibri"/>
                <a:cs typeface="Calibri"/>
              </a:rPr>
              <a:t>hash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need</a:t>
            </a:r>
            <a:r>
              <a:rPr sz="2600" spc="65" dirty="0">
                <a:latin typeface="Calibri"/>
                <a:cs typeface="Calibri"/>
              </a:rPr>
              <a:t> </a:t>
            </a:r>
            <a:r>
              <a:rPr sz="2600" spc="15" dirty="0">
                <a:latin typeface="Calibri"/>
                <a:cs typeface="Calibri"/>
              </a:rPr>
              <a:t>to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be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computed.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2000" y="304800"/>
            <a:ext cx="10515600" cy="4351655"/>
          </a:xfrm>
          <a:prstGeom prst="rect">
            <a:avLst/>
          </a:prstGeom>
          <a:ln w="76199">
            <a:solidFill>
              <a:srgbClr val="FF0000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235"/>
              </a:spcBef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a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hash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table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with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25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slots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that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stores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2000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elements,</a:t>
            </a:r>
          </a:p>
          <a:p>
            <a:pPr marL="91440">
              <a:lnSpc>
                <a:spcPct val="100000"/>
              </a:lnSpc>
              <a:spcBef>
                <a:spcPts val="1490"/>
              </a:spcBef>
              <a:tabLst>
                <a:tab pos="6236970" algn="l"/>
              </a:tabLst>
            </a:pPr>
            <a:r>
              <a:rPr sz="3200" spc="10" dirty="0">
                <a:latin typeface="Calibri"/>
                <a:cs typeface="Calibri"/>
              </a:rPr>
              <a:t>the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load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factor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α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T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is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3200" dirty="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1570"/>
              </a:spcBef>
            </a:pPr>
            <a:r>
              <a:rPr sz="3200" b="1" dirty="0">
                <a:latin typeface="Calibri"/>
                <a:cs typeface="Calibri"/>
              </a:rPr>
              <a:t>(A)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spc="30" dirty="0">
                <a:latin typeface="Calibri"/>
                <a:cs typeface="Calibri"/>
              </a:rPr>
              <a:t>80</a:t>
            </a:r>
            <a:endParaRPr sz="32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565"/>
              </a:spcBef>
            </a:pPr>
            <a:r>
              <a:rPr sz="3200" b="1" dirty="0">
                <a:latin typeface="Calibri"/>
                <a:cs typeface="Calibri"/>
              </a:rPr>
              <a:t>(B)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0.0125</a:t>
            </a:r>
            <a:endParaRPr sz="32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495"/>
              </a:spcBef>
            </a:pPr>
            <a:r>
              <a:rPr sz="3200" b="1" spc="5" dirty="0">
                <a:latin typeface="Calibri"/>
                <a:cs typeface="Calibri"/>
              </a:rPr>
              <a:t>(C)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spc="30" dirty="0">
                <a:latin typeface="Calibri"/>
                <a:cs typeface="Calibri"/>
              </a:rPr>
              <a:t>8000</a:t>
            </a:r>
            <a:endParaRPr sz="3200" dirty="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1565"/>
              </a:spcBef>
            </a:pPr>
            <a:r>
              <a:rPr sz="3200" b="1" spc="-5" dirty="0">
                <a:latin typeface="Calibri"/>
                <a:cs typeface="Calibri"/>
              </a:rPr>
              <a:t>(D)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1.25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465"/>
              </a:spcBef>
            </a:pPr>
            <a:r>
              <a:rPr spc="25" dirty="0"/>
              <a:t>A</a:t>
            </a:r>
            <a:r>
              <a:rPr spc="60" dirty="0"/>
              <a:t>N</a:t>
            </a:r>
            <a:r>
              <a:rPr spc="-140" dirty="0"/>
              <a:t>S</a:t>
            </a:r>
            <a:r>
              <a:rPr spc="-114" dirty="0"/>
              <a:t>W</a:t>
            </a:r>
            <a:r>
              <a:rPr spc="5" dirty="0"/>
              <a:t>ER</a:t>
            </a:r>
            <a:r>
              <a:rPr spc="-515" dirty="0">
                <a:latin typeface="Times New Roman"/>
                <a:cs typeface="Times New Roman"/>
              </a:rPr>
              <a:t> </a:t>
            </a:r>
            <a:r>
              <a:rPr spc="45" dirty="0"/>
              <a:t>(</a:t>
            </a:r>
            <a:r>
              <a:rPr spc="25" dirty="0"/>
              <a:t>A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825544"/>
            <a:ext cx="10515600" cy="4351655"/>
          </a:xfrm>
          <a:prstGeom prst="rect">
            <a:avLst/>
          </a:prstGeom>
          <a:ln w="76199">
            <a:solidFill>
              <a:srgbClr val="FF0000"/>
            </a:solidFill>
          </a:ln>
        </p:spPr>
        <p:txBody>
          <a:bodyPr vert="horz" wrap="square" lIns="0" tIns="1949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35"/>
              </a:spcBef>
            </a:pPr>
            <a:r>
              <a:rPr sz="3200" spc="25" dirty="0">
                <a:latin typeface="Calibri"/>
                <a:cs typeface="Calibri"/>
              </a:rPr>
              <a:t>load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factor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=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(no.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elements)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/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(no.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table </a:t>
            </a:r>
            <a:r>
              <a:rPr sz="3200" spc="10" dirty="0">
                <a:latin typeface="Calibri"/>
                <a:cs typeface="Calibri"/>
              </a:rPr>
              <a:t>slots)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=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2000/25</a:t>
            </a:r>
            <a:endParaRPr sz="32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870"/>
              </a:spcBef>
            </a:pPr>
            <a:r>
              <a:rPr sz="3200" spc="10" dirty="0">
                <a:latin typeface="Calibri"/>
                <a:cs typeface="Calibri"/>
              </a:rPr>
              <a:t>=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80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838200" y="1825544"/>
            <a:ext cx="10515600" cy="4351655"/>
          </a:xfrm>
          <a:custGeom>
            <a:avLst/>
            <a:gdLst/>
            <a:ahLst/>
            <a:cxnLst/>
            <a:rect l="l" t="t" r="r" b="b"/>
            <a:pathLst>
              <a:path w="10515600" h="4351655">
                <a:moveTo>
                  <a:pt x="0" y="4351416"/>
                </a:moveTo>
                <a:lnTo>
                  <a:pt x="10515599" y="4351416"/>
                </a:lnTo>
                <a:lnTo>
                  <a:pt x="10515599" y="0"/>
                </a:lnTo>
                <a:lnTo>
                  <a:pt x="0" y="0"/>
                </a:lnTo>
                <a:lnTo>
                  <a:pt x="0" y="4351416"/>
                </a:lnTo>
                <a:close/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7571" y="1762542"/>
            <a:ext cx="10309860" cy="4250523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36195">
              <a:lnSpc>
                <a:spcPts val="3450"/>
              </a:lnSpc>
              <a:spcBef>
                <a:spcPts val="745"/>
              </a:spcBef>
            </a:pPr>
            <a:r>
              <a:rPr sz="3200" spc="15" dirty="0">
                <a:latin typeface="Calibri"/>
                <a:cs typeface="Calibri"/>
              </a:rPr>
              <a:t>Consider </a:t>
            </a:r>
            <a:r>
              <a:rPr sz="3200" spc="10" dirty="0">
                <a:latin typeface="Calibri"/>
                <a:cs typeface="Calibri"/>
              </a:rPr>
              <a:t>a </a:t>
            </a:r>
            <a:r>
              <a:rPr sz="3200" spc="25" dirty="0">
                <a:latin typeface="Calibri"/>
                <a:cs typeface="Calibri"/>
              </a:rPr>
              <a:t>hash </a:t>
            </a:r>
            <a:r>
              <a:rPr sz="3200" dirty="0">
                <a:latin typeface="Calibri"/>
                <a:cs typeface="Calibri"/>
              </a:rPr>
              <a:t>table </a:t>
            </a:r>
            <a:r>
              <a:rPr sz="3200" spc="10" dirty="0">
                <a:latin typeface="Calibri"/>
                <a:cs typeface="Calibri"/>
              </a:rPr>
              <a:t>with </a:t>
            </a:r>
            <a:r>
              <a:rPr sz="3200" spc="15" dirty="0">
                <a:latin typeface="Calibri"/>
                <a:cs typeface="Calibri"/>
              </a:rPr>
              <a:t>9 </a:t>
            </a:r>
            <a:r>
              <a:rPr sz="3200" spc="10" dirty="0">
                <a:latin typeface="Calibri"/>
                <a:cs typeface="Calibri"/>
              </a:rPr>
              <a:t>slots. </a:t>
            </a:r>
            <a:r>
              <a:rPr sz="3200" spc="20" dirty="0">
                <a:latin typeface="Calibri"/>
                <a:cs typeface="Calibri"/>
              </a:rPr>
              <a:t>The </a:t>
            </a:r>
            <a:r>
              <a:rPr sz="3200" spc="25" dirty="0">
                <a:latin typeface="Calibri"/>
                <a:cs typeface="Calibri"/>
              </a:rPr>
              <a:t>hash </a:t>
            </a:r>
            <a:r>
              <a:rPr sz="3200" spc="10" dirty="0">
                <a:latin typeface="Calibri"/>
                <a:cs typeface="Calibri"/>
              </a:rPr>
              <a:t>function </a:t>
            </a:r>
            <a:r>
              <a:rPr sz="3200" spc="5" dirty="0">
                <a:latin typeface="Calibri"/>
                <a:cs typeface="Calibri"/>
              </a:rPr>
              <a:t>is </a:t>
            </a:r>
            <a:r>
              <a:rPr sz="3400" spc="-10" dirty="0">
                <a:latin typeface="Cambria Math"/>
                <a:cs typeface="Cambria Math"/>
              </a:rPr>
              <a:t>ℎ</a:t>
            </a:r>
            <a:r>
              <a:rPr sz="3200" i="1" spc="-10" dirty="0">
                <a:latin typeface="Calibri"/>
                <a:cs typeface="Calibri"/>
              </a:rPr>
              <a:t>(k) </a:t>
            </a:r>
            <a:r>
              <a:rPr sz="3200" i="1" spc="10" dirty="0">
                <a:latin typeface="Calibri"/>
                <a:cs typeface="Calibri"/>
              </a:rPr>
              <a:t>= </a:t>
            </a:r>
            <a:r>
              <a:rPr sz="3200" i="1" spc="-710" dirty="0">
                <a:latin typeface="Calibri"/>
                <a:cs typeface="Calibri"/>
              </a:rPr>
              <a:t> </a:t>
            </a:r>
            <a:r>
              <a:rPr sz="3200" i="1" spc="10" dirty="0">
                <a:latin typeface="Calibri"/>
                <a:cs typeface="Calibri"/>
              </a:rPr>
              <a:t>k</a:t>
            </a:r>
            <a:r>
              <a:rPr sz="3200" i="1" spc="-15" dirty="0">
                <a:latin typeface="Calibri"/>
                <a:cs typeface="Calibri"/>
              </a:rPr>
              <a:t> </a:t>
            </a:r>
            <a:r>
              <a:rPr sz="3200" i="1" spc="10" dirty="0">
                <a:latin typeface="Calibri"/>
                <a:cs typeface="Calibri"/>
              </a:rPr>
              <a:t>mod</a:t>
            </a:r>
            <a:r>
              <a:rPr sz="3200" i="1" spc="-65" dirty="0">
                <a:latin typeface="Calibri"/>
                <a:cs typeface="Calibri"/>
              </a:rPr>
              <a:t> </a:t>
            </a:r>
            <a:r>
              <a:rPr sz="3200" i="1" spc="15" dirty="0">
                <a:latin typeface="Calibri"/>
                <a:cs typeface="Calibri"/>
              </a:rPr>
              <a:t>9</a:t>
            </a:r>
            <a:r>
              <a:rPr sz="3200" spc="15" dirty="0">
                <a:latin typeface="Calibri"/>
                <a:cs typeface="Calibri"/>
              </a:rPr>
              <a:t>.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The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collisions</a:t>
            </a:r>
            <a:r>
              <a:rPr sz="3200" spc="-2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are resolved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by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chaining.</a:t>
            </a:r>
            <a:r>
              <a:rPr sz="3200" spc="-190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The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following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9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keys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are </a:t>
            </a:r>
            <a:r>
              <a:rPr sz="3200" spc="5" dirty="0">
                <a:latin typeface="Calibri"/>
                <a:cs typeface="Calibri"/>
              </a:rPr>
              <a:t>inserted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in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the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order: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5,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28,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19,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15,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20,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33,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12,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17,</a:t>
            </a:r>
            <a:endParaRPr sz="3200" dirty="0">
              <a:latin typeface="Calibri"/>
              <a:cs typeface="Calibri"/>
            </a:endParaRPr>
          </a:p>
          <a:p>
            <a:pPr marL="12700" marR="5080">
              <a:lnSpc>
                <a:spcPts val="3450"/>
              </a:lnSpc>
              <a:spcBef>
                <a:spcPts val="15"/>
              </a:spcBef>
            </a:pPr>
            <a:r>
              <a:rPr sz="3200" spc="15" dirty="0">
                <a:latin typeface="Calibri"/>
                <a:cs typeface="Calibri"/>
              </a:rPr>
              <a:t>10.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The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maximum,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minimum,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30" dirty="0">
                <a:latin typeface="Calibri"/>
                <a:cs typeface="Calibri"/>
              </a:rPr>
              <a:t>and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average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chain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lengths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in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the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hash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table,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respectively,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are</a:t>
            </a:r>
            <a:endParaRPr sz="3200" dirty="0">
              <a:latin typeface="Calibri"/>
              <a:cs typeface="Calibri"/>
            </a:endParaRPr>
          </a:p>
          <a:p>
            <a:pPr marL="603885" indent="-591820">
              <a:lnSpc>
                <a:spcPts val="3645"/>
              </a:lnSpc>
              <a:spcBef>
                <a:spcPts val="620"/>
              </a:spcBef>
              <a:buFont typeface="Calibri"/>
              <a:buAutoNum type="alphaUcParenBoth"/>
              <a:tabLst>
                <a:tab pos="604520" algn="l"/>
              </a:tabLst>
            </a:pPr>
            <a:r>
              <a:rPr sz="3200" spc="15" dirty="0">
                <a:latin typeface="Calibri"/>
                <a:cs typeface="Calibri"/>
              </a:rPr>
              <a:t>3,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0,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30" dirty="0">
                <a:latin typeface="Calibri"/>
                <a:cs typeface="Calibri"/>
              </a:rPr>
              <a:t>and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1</a:t>
            </a:r>
            <a:endParaRPr sz="3200" dirty="0">
              <a:latin typeface="Calibri"/>
              <a:cs typeface="Calibri"/>
            </a:endParaRPr>
          </a:p>
          <a:p>
            <a:pPr marL="584835" indent="-572770">
              <a:lnSpc>
                <a:spcPts val="3454"/>
              </a:lnSpc>
              <a:buFont typeface="Calibri"/>
              <a:buAutoNum type="alphaUcParenBoth"/>
              <a:tabLst>
                <a:tab pos="585470" algn="l"/>
              </a:tabLst>
            </a:pPr>
            <a:r>
              <a:rPr sz="3200" spc="15" dirty="0">
                <a:latin typeface="Calibri"/>
                <a:cs typeface="Calibri"/>
              </a:rPr>
              <a:t>3,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3,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30" dirty="0">
                <a:latin typeface="Calibri"/>
                <a:cs typeface="Calibri"/>
              </a:rPr>
              <a:t>and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3</a:t>
            </a:r>
            <a:endParaRPr sz="3200" dirty="0">
              <a:latin typeface="Calibri"/>
              <a:cs typeface="Calibri"/>
            </a:endParaRPr>
          </a:p>
          <a:p>
            <a:pPr marL="575310" indent="-563245">
              <a:lnSpc>
                <a:spcPts val="3454"/>
              </a:lnSpc>
              <a:buFont typeface="Calibri"/>
              <a:buAutoNum type="alphaUcParenBoth"/>
              <a:tabLst>
                <a:tab pos="575945" algn="l"/>
              </a:tabLst>
            </a:pPr>
            <a:r>
              <a:rPr sz="3200" spc="15" dirty="0">
                <a:latin typeface="Calibri"/>
                <a:cs typeface="Calibri"/>
              </a:rPr>
              <a:t>4,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0,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30" dirty="0">
                <a:latin typeface="Calibri"/>
                <a:cs typeface="Calibri"/>
              </a:rPr>
              <a:t>and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1</a:t>
            </a:r>
            <a:endParaRPr sz="3200" dirty="0">
              <a:latin typeface="Calibri"/>
              <a:cs typeface="Calibri"/>
            </a:endParaRPr>
          </a:p>
          <a:p>
            <a:pPr marL="613410" indent="-601345">
              <a:lnSpc>
                <a:spcPts val="3650"/>
              </a:lnSpc>
              <a:buFont typeface="Calibri"/>
              <a:buAutoNum type="alphaUcParenBoth"/>
              <a:tabLst>
                <a:tab pos="614045" algn="l"/>
              </a:tabLst>
            </a:pPr>
            <a:r>
              <a:rPr sz="3200" spc="15" dirty="0">
                <a:latin typeface="Calibri"/>
                <a:cs typeface="Calibri"/>
              </a:rPr>
              <a:t>3,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0,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30" dirty="0">
                <a:latin typeface="Calibri"/>
                <a:cs typeface="Calibri"/>
              </a:rPr>
              <a:t>and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2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465"/>
              </a:spcBef>
            </a:pPr>
            <a:r>
              <a:rPr spc="25" dirty="0"/>
              <a:t>A</a:t>
            </a:r>
            <a:r>
              <a:rPr spc="60" dirty="0"/>
              <a:t>N</a:t>
            </a:r>
            <a:r>
              <a:rPr spc="-140" dirty="0"/>
              <a:t>S</a:t>
            </a:r>
            <a:r>
              <a:rPr spc="-114" dirty="0"/>
              <a:t>W</a:t>
            </a:r>
            <a:r>
              <a:rPr spc="5" dirty="0"/>
              <a:t>ER</a:t>
            </a:r>
            <a:r>
              <a:rPr spc="-515" dirty="0">
                <a:latin typeface="Times New Roman"/>
                <a:cs typeface="Times New Roman"/>
              </a:rPr>
              <a:t> </a:t>
            </a:r>
            <a:r>
              <a:rPr spc="45" dirty="0"/>
              <a:t>(</a:t>
            </a:r>
            <a:r>
              <a:rPr spc="25" dirty="0"/>
              <a:t>A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825544"/>
            <a:ext cx="10515600" cy="4351655"/>
          </a:xfrm>
          <a:prstGeom prst="rect">
            <a:avLst/>
          </a:prstGeom>
          <a:ln w="76199">
            <a:solidFill>
              <a:srgbClr val="FF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sz="2000" spc="10" dirty="0">
                <a:latin typeface="Calibri"/>
                <a:cs typeface="Calibri"/>
              </a:rPr>
              <a:t>5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--&gt;</a:t>
            </a:r>
            <a:r>
              <a:rPr sz="2000" spc="10" dirty="0">
                <a:latin typeface="Calibri"/>
                <a:cs typeface="Calibri"/>
              </a:rPr>
              <a:t> 5</a:t>
            </a:r>
            <a:endParaRPr sz="20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980"/>
              </a:spcBef>
            </a:pPr>
            <a:r>
              <a:rPr sz="2000" spc="25" dirty="0">
                <a:latin typeface="Calibri"/>
                <a:cs typeface="Calibri"/>
              </a:rPr>
              <a:t>28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--&gt;</a:t>
            </a:r>
            <a:r>
              <a:rPr sz="2000" spc="10" dirty="0">
                <a:latin typeface="Calibri"/>
                <a:cs typeface="Calibri"/>
              </a:rPr>
              <a:t> 1</a:t>
            </a:r>
            <a:endParaRPr sz="20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055"/>
              </a:spcBef>
            </a:pPr>
            <a:r>
              <a:rPr sz="2000" spc="25" dirty="0">
                <a:latin typeface="Calibri"/>
                <a:cs typeface="Calibri"/>
              </a:rPr>
              <a:t>19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--&gt;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1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[Chained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25" dirty="0">
                <a:latin typeface="Calibri"/>
                <a:cs typeface="Calibri"/>
              </a:rPr>
              <a:t>28]</a:t>
            </a:r>
            <a:endParaRPr sz="20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980"/>
              </a:spcBef>
            </a:pPr>
            <a:r>
              <a:rPr sz="2000" spc="25" dirty="0">
                <a:latin typeface="Calibri"/>
                <a:cs typeface="Calibri"/>
              </a:rPr>
              <a:t>15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--&gt; </a:t>
            </a:r>
            <a:r>
              <a:rPr sz="2000" spc="10" dirty="0">
                <a:latin typeface="Calibri"/>
                <a:cs typeface="Calibri"/>
              </a:rPr>
              <a:t>6</a:t>
            </a:r>
            <a:endParaRPr sz="20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980"/>
              </a:spcBef>
            </a:pPr>
            <a:r>
              <a:rPr sz="2000" spc="25" dirty="0">
                <a:latin typeface="Calibri"/>
                <a:cs typeface="Calibri"/>
              </a:rPr>
              <a:t>20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--&gt; </a:t>
            </a:r>
            <a:r>
              <a:rPr sz="2000" spc="10" dirty="0">
                <a:latin typeface="Calibri"/>
                <a:cs typeface="Calibri"/>
              </a:rPr>
              <a:t>2</a:t>
            </a:r>
            <a:endParaRPr sz="20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055"/>
              </a:spcBef>
            </a:pPr>
            <a:r>
              <a:rPr sz="2000" spc="25" dirty="0">
                <a:latin typeface="Calibri"/>
                <a:cs typeface="Calibri"/>
              </a:rPr>
              <a:t>33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--&gt;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6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[Chained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25" dirty="0">
                <a:latin typeface="Calibri"/>
                <a:cs typeface="Calibri"/>
              </a:rPr>
              <a:t>15]</a:t>
            </a:r>
            <a:endParaRPr sz="20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980"/>
              </a:spcBef>
            </a:pPr>
            <a:r>
              <a:rPr sz="2000" spc="25" dirty="0">
                <a:latin typeface="Calibri"/>
                <a:cs typeface="Calibri"/>
              </a:rPr>
              <a:t>12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--&gt; </a:t>
            </a:r>
            <a:r>
              <a:rPr sz="2000" spc="10" dirty="0">
                <a:latin typeface="Calibri"/>
                <a:cs typeface="Calibri"/>
              </a:rPr>
              <a:t>3</a:t>
            </a:r>
            <a:endParaRPr sz="20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980"/>
              </a:spcBef>
            </a:pPr>
            <a:r>
              <a:rPr sz="2000" spc="25" dirty="0">
                <a:latin typeface="Calibri"/>
                <a:cs typeface="Calibri"/>
              </a:rPr>
              <a:t>17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--&gt; </a:t>
            </a:r>
            <a:r>
              <a:rPr sz="2000" spc="10" dirty="0">
                <a:latin typeface="Calibri"/>
                <a:cs typeface="Calibri"/>
              </a:rPr>
              <a:t>8</a:t>
            </a:r>
            <a:endParaRPr sz="20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055"/>
              </a:spcBef>
            </a:pPr>
            <a:r>
              <a:rPr sz="2000" spc="25" dirty="0">
                <a:latin typeface="Calibri"/>
                <a:cs typeface="Calibri"/>
              </a:rPr>
              <a:t>10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--&gt;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1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[Chained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20" dirty="0">
                <a:latin typeface="Calibri"/>
                <a:cs typeface="Calibri"/>
              </a:rPr>
              <a:t>28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25" dirty="0">
                <a:latin typeface="Calibri"/>
                <a:cs typeface="Calibri"/>
              </a:rPr>
              <a:t>19]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77271" y="2609847"/>
            <a:ext cx="5885815" cy="3108960"/>
          </a:xfrm>
          <a:prstGeom prst="rect">
            <a:avLst/>
          </a:prstGeom>
          <a:ln w="9534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265"/>
              </a:spcBef>
            </a:pPr>
            <a:r>
              <a:rPr sz="2750" dirty="0">
                <a:latin typeface="Calibri"/>
                <a:cs typeface="Calibri"/>
              </a:rPr>
              <a:t>The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maximum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chain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-30" dirty="0">
                <a:latin typeface="Calibri"/>
                <a:cs typeface="Calibri"/>
              </a:rPr>
              <a:t>length</a:t>
            </a:r>
            <a:r>
              <a:rPr sz="2750" spc="23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3.</a:t>
            </a:r>
            <a:endParaRPr sz="2750">
              <a:latin typeface="Calibri"/>
              <a:cs typeface="Calibri"/>
            </a:endParaRPr>
          </a:p>
          <a:p>
            <a:pPr marL="95250" marR="232410">
              <a:lnSpc>
                <a:spcPct val="102400"/>
              </a:lnSpc>
            </a:pPr>
            <a:r>
              <a:rPr sz="2750" dirty="0">
                <a:latin typeface="Calibri"/>
                <a:cs typeface="Calibri"/>
              </a:rPr>
              <a:t>The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keys</a:t>
            </a:r>
            <a:r>
              <a:rPr sz="2750" spc="15" dirty="0">
                <a:latin typeface="Calibri"/>
                <a:cs typeface="Calibri"/>
              </a:rPr>
              <a:t> 28,</a:t>
            </a:r>
            <a:r>
              <a:rPr sz="2750" spc="-45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19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and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10</a:t>
            </a:r>
            <a:r>
              <a:rPr sz="2750" spc="-1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go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same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slot </a:t>
            </a:r>
            <a:r>
              <a:rPr sz="2750" spc="-61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1,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and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form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a</a:t>
            </a:r>
            <a:r>
              <a:rPr sz="2750" spc="-1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chain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-30" dirty="0">
                <a:latin typeface="Calibri"/>
                <a:cs typeface="Calibri"/>
              </a:rPr>
              <a:t>length</a:t>
            </a:r>
            <a:r>
              <a:rPr sz="2750" spc="24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3.</a:t>
            </a:r>
            <a:endParaRPr sz="2750">
              <a:latin typeface="Calibri"/>
              <a:cs typeface="Calibri"/>
            </a:endParaRPr>
          </a:p>
          <a:p>
            <a:pPr marL="95250" marR="164465">
              <a:lnSpc>
                <a:spcPts val="3379"/>
              </a:lnSpc>
              <a:spcBef>
                <a:spcPts val="50"/>
              </a:spcBef>
            </a:pPr>
            <a:r>
              <a:rPr sz="2750" dirty="0">
                <a:latin typeface="Calibri"/>
                <a:cs typeface="Calibri"/>
              </a:rPr>
              <a:t>The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minimum</a:t>
            </a:r>
            <a:r>
              <a:rPr sz="2750" spc="14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chain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30" dirty="0">
                <a:latin typeface="Calibri"/>
                <a:cs typeface="Calibri"/>
              </a:rPr>
              <a:t>length</a:t>
            </a:r>
            <a:r>
              <a:rPr sz="2750" spc="23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0,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there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are </a:t>
            </a:r>
            <a:r>
              <a:rPr sz="2750" spc="-60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empty</a:t>
            </a:r>
            <a:r>
              <a:rPr sz="2750" spc="13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slots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(0,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4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and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7).</a:t>
            </a:r>
            <a:endParaRPr sz="2750">
              <a:latin typeface="Calibri"/>
              <a:cs typeface="Calibri"/>
            </a:endParaRPr>
          </a:p>
          <a:p>
            <a:pPr marL="95250">
              <a:lnSpc>
                <a:spcPts val="3254"/>
              </a:lnSpc>
            </a:pPr>
            <a:r>
              <a:rPr sz="2750" spc="-20" dirty="0">
                <a:latin typeface="Calibri"/>
                <a:cs typeface="Calibri"/>
              </a:rPr>
              <a:t>Average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chain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30" dirty="0">
                <a:latin typeface="Calibri"/>
                <a:cs typeface="Calibri"/>
              </a:rPr>
              <a:t>length</a:t>
            </a:r>
            <a:r>
              <a:rPr sz="2750" spc="24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(0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+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3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+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1</a:t>
            </a:r>
            <a:r>
              <a:rPr sz="2750" spc="-1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+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1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+</a:t>
            </a:r>
            <a:endParaRPr sz="2750">
              <a:latin typeface="Calibri"/>
              <a:cs typeface="Calibri"/>
            </a:endParaRPr>
          </a:p>
          <a:p>
            <a:pPr marL="95250">
              <a:lnSpc>
                <a:spcPct val="100000"/>
              </a:lnSpc>
              <a:spcBef>
                <a:spcPts val="80"/>
              </a:spcBef>
            </a:pPr>
            <a:r>
              <a:rPr sz="2750" spc="10" dirty="0">
                <a:latin typeface="Calibri"/>
                <a:cs typeface="Calibri"/>
              </a:rPr>
              <a:t>0</a:t>
            </a:r>
            <a:r>
              <a:rPr sz="2750" spc="-1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+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1</a:t>
            </a:r>
            <a:r>
              <a:rPr sz="2750" spc="-1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+ 2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+ 0</a:t>
            </a:r>
            <a:r>
              <a:rPr sz="2750" spc="-1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+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1)/9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= 1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65138"/>
            <a:ext cx="10515600" cy="1075294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465"/>
              </a:spcBef>
            </a:pPr>
            <a:endParaRPr spc="5" dirty="0"/>
          </a:p>
        </p:txBody>
      </p:sp>
      <p:sp>
        <p:nvSpPr>
          <p:cNvPr id="3" name="object 3"/>
          <p:cNvSpPr/>
          <p:nvPr/>
        </p:nvSpPr>
        <p:spPr>
          <a:xfrm>
            <a:off x="838200" y="1825671"/>
            <a:ext cx="10515600" cy="4871720"/>
          </a:xfrm>
          <a:custGeom>
            <a:avLst/>
            <a:gdLst/>
            <a:ahLst/>
            <a:cxnLst/>
            <a:rect l="l" t="t" r="r" b="b"/>
            <a:pathLst>
              <a:path w="10515600" h="4871720">
                <a:moveTo>
                  <a:pt x="0" y="4871343"/>
                </a:moveTo>
                <a:lnTo>
                  <a:pt x="10515599" y="4871343"/>
                </a:lnTo>
                <a:lnTo>
                  <a:pt x="10515599" y="0"/>
                </a:lnTo>
                <a:lnTo>
                  <a:pt x="0" y="0"/>
                </a:lnTo>
                <a:lnTo>
                  <a:pt x="0" y="4871343"/>
                </a:lnTo>
                <a:close/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7571" y="1798764"/>
            <a:ext cx="9763760" cy="4526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95"/>
              </a:spcBef>
            </a:pPr>
            <a:r>
              <a:rPr sz="2000" b="1" spc="15" dirty="0">
                <a:latin typeface="Calibri"/>
                <a:cs typeface="Calibri"/>
              </a:rPr>
              <a:t>A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hash</a:t>
            </a:r>
            <a:r>
              <a:rPr sz="2000" b="1" spc="4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table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25" dirty="0">
                <a:latin typeface="Calibri"/>
                <a:cs typeface="Calibri"/>
              </a:rPr>
              <a:t>of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10" dirty="0">
                <a:latin typeface="Calibri"/>
                <a:cs typeface="Calibri"/>
              </a:rPr>
              <a:t>length</a:t>
            </a:r>
            <a:r>
              <a:rPr sz="2000" b="1" spc="-114" dirty="0">
                <a:latin typeface="Calibri"/>
                <a:cs typeface="Calibri"/>
              </a:rPr>
              <a:t> </a:t>
            </a:r>
            <a:r>
              <a:rPr sz="2000" b="1" spc="20" dirty="0">
                <a:latin typeface="Calibri"/>
                <a:cs typeface="Calibri"/>
              </a:rPr>
              <a:t>10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10" dirty="0">
                <a:latin typeface="Calibri"/>
                <a:cs typeface="Calibri"/>
              </a:rPr>
              <a:t>uses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15" dirty="0">
                <a:latin typeface="Calibri"/>
                <a:cs typeface="Calibri"/>
              </a:rPr>
              <a:t>open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5" dirty="0">
                <a:latin typeface="Calibri"/>
                <a:cs typeface="Calibri"/>
              </a:rPr>
              <a:t>addressing</a:t>
            </a:r>
            <a:r>
              <a:rPr sz="2000" b="1" spc="-140" dirty="0">
                <a:latin typeface="Calibri"/>
                <a:cs typeface="Calibri"/>
              </a:rPr>
              <a:t> </a:t>
            </a:r>
            <a:r>
              <a:rPr sz="2000" b="1" spc="5" dirty="0">
                <a:latin typeface="Calibri"/>
                <a:cs typeface="Calibri"/>
              </a:rPr>
              <a:t>with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hash</a:t>
            </a:r>
            <a:r>
              <a:rPr sz="2000" b="1" spc="40" dirty="0">
                <a:latin typeface="Calibri"/>
                <a:cs typeface="Calibri"/>
              </a:rPr>
              <a:t> </a:t>
            </a:r>
            <a:r>
              <a:rPr sz="2000" b="1" spc="5" dirty="0">
                <a:latin typeface="Calibri"/>
                <a:cs typeface="Calibri"/>
              </a:rPr>
              <a:t>function</a:t>
            </a:r>
            <a:r>
              <a:rPr sz="2000" b="1" spc="-114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h(k)=k</a:t>
            </a:r>
            <a:r>
              <a:rPr sz="2000" b="1" spc="80" dirty="0">
                <a:latin typeface="Calibri"/>
                <a:cs typeface="Calibri"/>
              </a:rPr>
              <a:t> </a:t>
            </a:r>
            <a:r>
              <a:rPr sz="2000" b="1" spc="25" dirty="0">
                <a:latin typeface="Calibri"/>
                <a:cs typeface="Calibri"/>
              </a:rPr>
              <a:t>mod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25" dirty="0">
                <a:latin typeface="Calibri"/>
                <a:cs typeface="Calibri"/>
              </a:rPr>
              <a:t>10,</a:t>
            </a:r>
            <a:r>
              <a:rPr sz="2000" b="1" spc="-1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and</a:t>
            </a:r>
            <a:r>
              <a:rPr sz="2000" b="1" spc="40" dirty="0">
                <a:latin typeface="Calibri"/>
                <a:cs typeface="Calibri"/>
              </a:rPr>
              <a:t> </a:t>
            </a:r>
            <a:r>
              <a:rPr sz="2000" b="1" spc="10" dirty="0">
                <a:latin typeface="Calibri"/>
                <a:cs typeface="Calibri"/>
              </a:rPr>
              <a:t>linear </a:t>
            </a:r>
            <a:r>
              <a:rPr sz="2000" b="1" spc="-440" dirty="0">
                <a:latin typeface="Calibri"/>
                <a:cs typeface="Calibri"/>
              </a:rPr>
              <a:t> </a:t>
            </a:r>
            <a:r>
              <a:rPr sz="2000" b="1" spc="5" dirty="0">
                <a:latin typeface="Calibri"/>
                <a:cs typeface="Calibri"/>
              </a:rPr>
              <a:t>probing.</a:t>
            </a:r>
            <a:r>
              <a:rPr sz="2000" b="1" spc="-100" dirty="0">
                <a:latin typeface="Calibri"/>
                <a:cs typeface="Calibri"/>
              </a:rPr>
              <a:t> </a:t>
            </a:r>
            <a:r>
              <a:rPr sz="2000" b="1" spc="10" dirty="0">
                <a:latin typeface="Calibri"/>
                <a:cs typeface="Calibri"/>
              </a:rPr>
              <a:t>After</a:t>
            </a:r>
            <a:r>
              <a:rPr sz="2000" b="1" spc="-125" dirty="0">
                <a:latin typeface="Calibri"/>
                <a:cs typeface="Calibri"/>
              </a:rPr>
              <a:t> </a:t>
            </a:r>
            <a:r>
              <a:rPr sz="2000" b="1" spc="10" dirty="0">
                <a:latin typeface="Calibri"/>
                <a:cs typeface="Calibri"/>
              </a:rPr>
              <a:t>inserting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10" dirty="0">
                <a:latin typeface="Calibri"/>
                <a:cs typeface="Calibri"/>
              </a:rPr>
              <a:t>6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10" dirty="0">
                <a:latin typeface="Calibri"/>
                <a:cs typeface="Calibri"/>
              </a:rPr>
              <a:t>values</a:t>
            </a:r>
            <a:r>
              <a:rPr sz="2000" b="1" spc="-1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into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</a:t>
            </a:r>
            <a:r>
              <a:rPr sz="2000" b="1" spc="35" dirty="0">
                <a:latin typeface="Calibri"/>
                <a:cs typeface="Calibri"/>
              </a:rPr>
              <a:t> </a:t>
            </a:r>
            <a:r>
              <a:rPr sz="2000" b="1" spc="5" dirty="0">
                <a:latin typeface="Calibri"/>
                <a:cs typeface="Calibri"/>
              </a:rPr>
              <a:t>empty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hash</a:t>
            </a:r>
            <a:r>
              <a:rPr sz="2000" b="1" spc="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table,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the</a:t>
            </a:r>
            <a:r>
              <a:rPr sz="2000" b="1" spc="2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table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20" dirty="0">
                <a:latin typeface="Calibri"/>
                <a:cs typeface="Calibri"/>
              </a:rPr>
              <a:t>is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as</a:t>
            </a:r>
            <a:r>
              <a:rPr sz="2000" b="1" spc="15" dirty="0">
                <a:latin typeface="Calibri"/>
                <a:cs typeface="Calibri"/>
              </a:rPr>
              <a:t> shown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below.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15" dirty="0">
                <a:latin typeface="Calibri"/>
                <a:cs typeface="Calibri"/>
              </a:rPr>
              <a:t>W</a:t>
            </a:r>
            <a:r>
              <a:rPr sz="2000" b="1" spc="-30" dirty="0">
                <a:latin typeface="Calibri"/>
                <a:cs typeface="Calibri"/>
              </a:rPr>
              <a:t>h</a:t>
            </a:r>
            <a:r>
              <a:rPr sz="2000" b="1" spc="30" dirty="0">
                <a:latin typeface="Calibri"/>
                <a:cs typeface="Calibri"/>
              </a:rPr>
              <a:t>i</a:t>
            </a:r>
            <a:r>
              <a:rPr sz="2000" b="1" spc="-15" dirty="0">
                <a:latin typeface="Calibri"/>
                <a:cs typeface="Calibri"/>
              </a:rPr>
              <a:t>c</a:t>
            </a:r>
            <a:r>
              <a:rPr sz="2000" b="1" spc="10" dirty="0">
                <a:latin typeface="Calibri"/>
                <a:cs typeface="Calibri"/>
              </a:rPr>
              <a:t>h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b="1" spc="45" dirty="0">
                <a:latin typeface="Calibri"/>
                <a:cs typeface="Calibri"/>
              </a:rPr>
              <a:t>o</a:t>
            </a:r>
            <a:r>
              <a:rPr sz="2000" b="1" spc="-30" dirty="0">
                <a:latin typeface="Calibri"/>
                <a:cs typeface="Calibri"/>
              </a:rPr>
              <a:t>n</a:t>
            </a:r>
            <a:r>
              <a:rPr sz="2000" b="1" spc="10" dirty="0">
                <a:latin typeface="Calibri"/>
                <a:cs typeface="Calibri"/>
              </a:rPr>
              <a:t>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b="1" spc="45" dirty="0">
                <a:latin typeface="Calibri"/>
                <a:cs typeface="Calibri"/>
              </a:rPr>
              <a:t>o</a:t>
            </a:r>
            <a:r>
              <a:rPr sz="2000" b="1" spc="5" dirty="0">
                <a:latin typeface="Calibri"/>
                <a:cs typeface="Calibri"/>
              </a:rPr>
              <a:t>f</a:t>
            </a:r>
            <a:r>
              <a:rPr sz="2000" spc="-17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t</a:t>
            </a:r>
            <a:r>
              <a:rPr sz="2000" b="1" spc="-30" dirty="0">
                <a:latin typeface="Calibri"/>
                <a:cs typeface="Calibri"/>
              </a:rPr>
              <a:t>h</a:t>
            </a:r>
            <a:r>
              <a:rPr sz="2000" b="1" spc="10" dirty="0">
                <a:latin typeface="Calibri"/>
                <a:cs typeface="Calibri"/>
              </a:rPr>
              <a:t>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b="1" spc="35" dirty="0">
                <a:latin typeface="Calibri"/>
                <a:cs typeface="Calibri"/>
              </a:rPr>
              <a:t>f</a:t>
            </a:r>
            <a:r>
              <a:rPr sz="2000" b="1" spc="45" dirty="0">
                <a:latin typeface="Calibri"/>
                <a:cs typeface="Calibri"/>
              </a:rPr>
              <a:t>o</a:t>
            </a:r>
            <a:r>
              <a:rPr sz="2000" b="1" spc="30" dirty="0">
                <a:latin typeface="Calibri"/>
                <a:cs typeface="Calibri"/>
              </a:rPr>
              <a:t>ll</a:t>
            </a:r>
            <a:r>
              <a:rPr sz="2000" b="1" spc="45" dirty="0">
                <a:latin typeface="Calibri"/>
                <a:cs typeface="Calibri"/>
              </a:rPr>
              <a:t>o</a:t>
            </a:r>
            <a:r>
              <a:rPr sz="2000" b="1" spc="10" dirty="0">
                <a:latin typeface="Calibri"/>
                <a:cs typeface="Calibri"/>
              </a:rPr>
              <a:t>w</a:t>
            </a:r>
            <a:r>
              <a:rPr sz="2000" b="1" spc="30" dirty="0">
                <a:latin typeface="Calibri"/>
                <a:cs typeface="Calibri"/>
              </a:rPr>
              <a:t>i</a:t>
            </a:r>
            <a:r>
              <a:rPr sz="2000" b="1" spc="-30" dirty="0">
                <a:latin typeface="Calibri"/>
                <a:cs typeface="Calibri"/>
              </a:rPr>
              <a:t>n</a:t>
            </a:r>
            <a:r>
              <a:rPr sz="2000" b="1" spc="10" dirty="0">
                <a:latin typeface="Calibri"/>
                <a:cs typeface="Calibri"/>
              </a:rPr>
              <a:t>g</a:t>
            </a:r>
            <a:r>
              <a:rPr sz="2000" spc="-190" dirty="0">
                <a:latin typeface="Times New Roman"/>
                <a:cs typeface="Times New Roman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c</a:t>
            </a:r>
            <a:r>
              <a:rPr sz="2000" b="1" spc="-30" dirty="0">
                <a:latin typeface="Calibri"/>
                <a:cs typeface="Calibri"/>
              </a:rPr>
              <a:t>h</a:t>
            </a:r>
            <a:r>
              <a:rPr sz="2000" b="1" spc="45" dirty="0">
                <a:latin typeface="Calibri"/>
                <a:cs typeface="Calibri"/>
              </a:rPr>
              <a:t>o</a:t>
            </a:r>
            <a:r>
              <a:rPr sz="2000" b="1" spc="30" dirty="0">
                <a:latin typeface="Calibri"/>
                <a:cs typeface="Calibri"/>
              </a:rPr>
              <a:t>i</a:t>
            </a:r>
            <a:r>
              <a:rPr sz="2000" b="1" spc="-15" dirty="0">
                <a:latin typeface="Calibri"/>
                <a:cs typeface="Calibri"/>
              </a:rPr>
              <a:t>c</a:t>
            </a:r>
            <a:r>
              <a:rPr sz="2000" b="1" spc="35" dirty="0">
                <a:latin typeface="Calibri"/>
                <a:cs typeface="Calibri"/>
              </a:rPr>
              <a:t>e</a:t>
            </a:r>
            <a:r>
              <a:rPr sz="2000" b="1" spc="10" dirty="0">
                <a:latin typeface="Calibri"/>
                <a:cs typeface="Calibri"/>
              </a:rPr>
              <a:t>s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b="1" spc="20" dirty="0">
                <a:latin typeface="Calibri"/>
                <a:cs typeface="Calibri"/>
              </a:rPr>
              <a:t>g</a:t>
            </a:r>
            <a:r>
              <a:rPr sz="2000" b="1" spc="30" dirty="0">
                <a:latin typeface="Calibri"/>
                <a:cs typeface="Calibri"/>
              </a:rPr>
              <a:t>i</a:t>
            </a:r>
            <a:r>
              <a:rPr sz="2000" b="1" spc="25" dirty="0">
                <a:latin typeface="Calibri"/>
                <a:cs typeface="Calibri"/>
              </a:rPr>
              <a:t>v</a:t>
            </a:r>
            <a:r>
              <a:rPr sz="2000" b="1" spc="35" dirty="0">
                <a:latin typeface="Calibri"/>
                <a:cs typeface="Calibri"/>
              </a:rPr>
              <a:t>e</a:t>
            </a:r>
            <a:r>
              <a:rPr sz="2000" b="1" spc="10" dirty="0">
                <a:latin typeface="Calibri"/>
                <a:cs typeface="Calibri"/>
              </a:rPr>
              <a:t>s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b="1" spc="10" dirty="0">
                <a:latin typeface="Calibri"/>
                <a:cs typeface="Calibri"/>
              </a:rPr>
              <a:t>a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b="1" spc="-30" dirty="0">
                <a:latin typeface="Calibri"/>
                <a:cs typeface="Calibri"/>
              </a:rPr>
              <a:t>p</a:t>
            </a:r>
            <a:r>
              <a:rPr sz="2000" b="1" spc="45" dirty="0">
                <a:latin typeface="Calibri"/>
                <a:cs typeface="Calibri"/>
              </a:rPr>
              <a:t>o</a:t>
            </a:r>
            <a:r>
              <a:rPr sz="2000" b="1" spc="25" dirty="0">
                <a:latin typeface="Calibri"/>
                <a:cs typeface="Calibri"/>
              </a:rPr>
              <a:t>ss</a:t>
            </a:r>
            <a:r>
              <a:rPr sz="2000" b="1" spc="30" dirty="0">
                <a:latin typeface="Calibri"/>
                <a:cs typeface="Calibri"/>
              </a:rPr>
              <a:t>i</a:t>
            </a:r>
            <a:r>
              <a:rPr sz="2000" b="1" spc="-30" dirty="0">
                <a:latin typeface="Calibri"/>
                <a:cs typeface="Calibri"/>
              </a:rPr>
              <a:t>b</a:t>
            </a:r>
            <a:r>
              <a:rPr sz="2000" b="1" spc="30" dirty="0">
                <a:latin typeface="Calibri"/>
                <a:cs typeface="Calibri"/>
              </a:rPr>
              <a:t>l</a:t>
            </a:r>
            <a:r>
              <a:rPr sz="2000" b="1" spc="10" dirty="0">
                <a:latin typeface="Calibri"/>
                <a:cs typeface="Calibri"/>
              </a:rPr>
              <a:t>e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45" dirty="0">
                <a:latin typeface="Calibri"/>
                <a:cs typeface="Calibri"/>
              </a:rPr>
              <a:t>o</a:t>
            </a:r>
            <a:r>
              <a:rPr sz="2000" b="1" spc="35" dirty="0">
                <a:latin typeface="Calibri"/>
                <a:cs typeface="Calibri"/>
              </a:rPr>
              <a:t>r</a:t>
            </a:r>
            <a:r>
              <a:rPr sz="2000" b="1" spc="-25" dirty="0">
                <a:latin typeface="Calibri"/>
                <a:cs typeface="Calibri"/>
              </a:rPr>
              <a:t>d</a:t>
            </a:r>
            <a:r>
              <a:rPr sz="2000" b="1" spc="40" dirty="0">
                <a:latin typeface="Calibri"/>
                <a:cs typeface="Calibri"/>
              </a:rPr>
              <a:t>e</a:t>
            </a:r>
            <a:r>
              <a:rPr sz="2000" b="1" spc="10" dirty="0">
                <a:latin typeface="Calibri"/>
                <a:cs typeface="Calibri"/>
              </a:rPr>
              <a:t>r</a:t>
            </a:r>
            <a:r>
              <a:rPr sz="2000" spc="-165" dirty="0">
                <a:latin typeface="Times New Roman"/>
                <a:cs typeface="Times New Roman"/>
              </a:rPr>
              <a:t> </a:t>
            </a:r>
            <a:r>
              <a:rPr sz="2000" b="1" spc="30" dirty="0">
                <a:latin typeface="Calibri"/>
                <a:cs typeface="Calibri"/>
              </a:rPr>
              <a:t>i</a:t>
            </a:r>
            <a:r>
              <a:rPr sz="2000" b="1" spc="15" dirty="0">
                <a:latin typeface="Calibri"/>
                <a:cs typeface="Calibri"/>
              </a:rPr>
              <a:t>n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b="1" spc="5" dirty="0">
                <a:latin typeface="Calibri"/>
                <a:cs typeface="Calibri"/>
              </a:rPr>
              <a:t>w</a:t>
            </a:r>
            <a:r>
              <a:rPr sz="2000" b="1" spc="-25" dirty="0">
                <a:latin typeface="Calibri"/>
                <a:cs typeface="Calibri"/>
              </a:rPr>
              <a:t>h</a:t>
            </a:r>
            <a:r>
              <a:rPr sz="2000" b="1" spc="30" dirty="0">
                <a:latin typeface="Calibri"/>
                <a:cs typeface="Calibri"/>
              </a:rPr>
              <a:t>i</a:t>
            </a:r>
            <a:r>
              <a:rPr sz="2000" b="1" spc="-15" dirty="0">
                <a:latin typeface="Calibri"/>
                <a:cs typeface="Calibri"/>
              </a:rPr>
              <a:t>c</a:t>
            </a:r>
            <a:r>
              <a:rPr sz="2000" b="1" spc="15" dirty="0">
                <a:latin typeface="Calibri"/>
                <a:cs typeface="Calibri"/>
              </a:rPr>
              <a:t>h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t</a:t>
            </a:r>
            <a:r>
              <a:rPr sz="2000" b="1" spc="-25" dirty="0">
                <a:latin typeface="Calibri"/>
                <a:cs typeface="Calibri"/>
              </a:rPr>
              <a:t>h</a:t>
            </a:r>
            <a:r>
              <a:rPr sz="2000" b="1" spc="15" dirty="0">
                <a:latin typeface="Calibri"/>
                <a:cs typeface="Calibri"/>
              </a:rPr>
              <a:t>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b="1" spc="-65" dirty="0">
                <a:latin typeface="Calibri"/>
                <a:cs typeface="Calibri"/>
              </a:rPr>
              <a:t>k</a:t>
            </a:r>
            <a:r>
              <a:rPr sz="2000" b="1" spc="40" dirty="0">
                <a:latin typeface="Calibri"/>
                <a:cs typeface="Calibri"/>
              </a:rPr>
              <a:t>e</a:t>
            </a:r>
            <a:r>
              <a:rPr sz="2000" b="1" spc="10" dirty="0">
                <a:latin typeface="Calibri"/>
                <a:cs typeface="Calibri"/>
              </a:rPr>
              <a:t>y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b="1" spc="25" dirty="0">
                <a:latin typeface="Calibri"/>
                <a:cs typeface="Calibri"/>
              </a:rPr>
              <a:t>v</a:t>
            </a:r>
            <a:r>
              <a:rPr sz="2000" b="1" spc="-15" dirty="0">
                <a:latin typeface="Calibri"/>
                <a:cs typeface="Calibri"/>
              </a:rPr>
              <a:t>a</a:t>
            </a:r>
            <a:r>
              <a:rPr sz="2000" b="1" spc="30" dirty="0">
                <a:latin typeface="Calibri"/>
                <a:cs typeface="Calibri"/>
              </a:rPr>
              <a:t>l</a:t>
            </a:r>
            <a:r>
              <a:rPr sz="2000" b="1" spc="-25" dirty="0">
                <a:latin typeface="Calibri"/>
                <a:cs typeface="Calibri"/>
              </a:rPr>
              <a:t>u</a:t>
            </a:r>
            <a:r>
              <a:rPr sz="2000" b="1" spc="40" dirty="0">
                <a:latin typeface="Calibri"/>
                <a:cs typeface="Calibri"/>
              </a:rPr>
              <a:t>e</a:t>
            </a:r>
            <a:r>
              <a:rPr sz="2000" b="1" spc="10" dirty="0">
                <a:latin typeface="Calibri"/>
                <a:cs typeface="Calibri"/>
              </a:rPr>
              <a:t>s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c</a:t>
            </a:r>
            <a:r>
              <a:rPr sz="2000" b="1" spc="45" dirty="0">
                <a:latin typeface="Calibri"/>
                <a:cs typeface="Calibri"/>
              </a:rPr>
              <a:t>o</a:t>
            </a:r>
            <a:r>
              <a:rPr sz="2000" b="1" spc="-25" dirty="0">
                <a:latin typeface="Calibri"/>
                <a:cs typeface="Calibri"/>
              </a:rPr>
              <a:t>u</a:t>
            </a:r>
            <a:r>
              <a:rPr sz="2000" b="1" spc="30" dirty="0">
                <a:latin typeface="Calibri"/>
                <a:cs typeface="Calibri"/>
              </a:rPr>
              <a:t>l</a:t>
            </a:r>
            <a:r>
              <a:rPr sz="2000" b="1" spc="15" dirty="0">
                <a:latin typeface="Calibri"/>
                <a:cs typeface="Calibri"/>
              </a:rPr>
              <a:t>d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h</a:t>
            </a:r>
            <a:r>
              <a:rPr sz="2000" b="1" spc="-15" dirty="0">
                <a:latin typeface="Calibri"/>
                <a:cs typeface="Calibri"/>
              </a:rPr>
              <a:t>a</a:t>
            </a:r>
            <a:r>
              <a:rPr sz="2000" b="1" spc="25" dirty="0">
                <a:latin typeface="Calibri"/>
                <a:cs typeface="Calibri"/>
              </a:rPr>
              <a:t>v</a:t>
            </a:r>
            <a:r>
              <a:rPr sz="2000" b="1" spc="15" dirty="0">
                <a:latin typeface="Calibri"/>
                <a:cs typeface="Calibri"/>
              </a:rPr>
              <a:t>e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b</a:t>
            </a:r>
            <a:r>
              <a:rPr sz="2000" b="1" spc="40" dirty="0">
                <a:latin typeface="Calibri"/>
                <a:cs typeface="Calibri"/>
              </a:rPr>
              <a:t>ee</a:t>
            </a:r>
            <a:r>
              <a:rPr sz="2000" b="1" spc="15" dirty="0">
                <a:latin typeface="Calibri"/>
                <a:cs typeface="Calibri"/>
              </a:rPr>
              <a:t>n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30" dirty="0">
                <a:latin typeface="Calibri"/>
                <a:cs typeface="Calibri"/>
              </a:rPr>
              <a:t>i</a:t>
            </a:r>
            <a:r>
              <a:rPr sz="2000" b="1" spc="-30" dirty="0">
                <a:latin typeface="Calibri"/>
                <a:cs typeface="Calibri"/>
              </a:rPr>
              <a:t>n</a:t>
            </a:r>
            <a:r>
              <a:rPr sz="2000" b="1" spc="25" dirty="0">
                <a:latin typeface="Calibri"/>
                <a:cs typeface="Calibri"/>
              </a:rPr>
              <a:t>s</a:t>
            </a:r>
            <a:r>
              <a:rPr sz="2000" b="1" spc="35" dirty="0">
                <a:latin typeface="Calibri"/>
                <a:cs typeface="Calibri"/>
              </a:rPr>
              <a:t>er</a:t>
            </a:r>
            <a:r>
              <a:rPr sz="2000" b="1" spc="-25" dirty="0">
                <a:latin typeface="Calibri"/>
                <a:cs typeface="Calibri"/>
              </a:rPr>
              <a:t>t</a:t>
            </a:r>
            <a:r>
              <a:rPr sz="2000" b="1" spc="35" dirty="0">
                <a:latin typeface="Calibri"/>
                <a:cs typeface="Calibri"/>
              </a:rPr>
              <a:t>e</a:t>
            </a:r>
            <a:r>
              <a:rPr sz="2000" b="1" spc="10" dirty="0">
                <a:latin typeface="Calibri"/>
                <a:cs typeface="Calibri"/>
              </a:rPr>
              <a:t>d</a:t>
            </a:r>
            <a:r>
              <a:rPr sz="2000" spc="-235" dirty="0">
                <a:latin typeface="Times New Roman"/>
                <a:cs typeface="Times New Roman"/>
              </a:rPr>
              <a:t> </a:t>
            </a:r>
            <a:r>
              <a:rPr sz="2000" b="1" spc="30" dirty="0">
                <a:latin typeface="Calibri"/>
                <a:cs typeface="Calibri"/>
              </a:rPr>
              <a:t>i</a:t>
            </a:r>
            <a:r>
              <a:rPr sz="2000" b="1" spc="10" dirty="0">
                <a:latin typeface="Calibri"/>
                <a:cs typeface="Calibri"/>
              </a:rPr>
              <a:t>n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t</a:t>
            </a:r>
            <a:r>
              <a:rPr sz="2000" b="1" spc="-30" dirty="0">
                <a:latin typeface="Calibri"/>
                <a:cs typeface="Calibri"/>
              </a:rPr>
              <a:t>h</a:t>
            </a:r>
            <a:r>
              <a:rPr sz="2000" b="1" spc="10" dirty="0">
                <a:latin typeface="Calibri"/>
                <a:cs typeface="Calibri"/>
              </a:rPr>
              <a:t>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t</a:t>
            </a:r>
            <a:r>
              <a:rPr sz="2000" b="1" spc="-15" dirty="0">
                <a:latin typeface="Calibri"/>
                <a:cs typeface="Calibri"/>
              </a:rPr>
              <a:t>a</a:t>
            </a:r>
            <a:r>
              <a:rPr sz="2000" b="1" spc="-30" dirty="0">
                <a:latin typeface="Calibri"/>
                <a:cs typeface="Calibri"/>
              </a:rPr>
              <a:t>b</a:t>
            </a:r>
            <a:r>
              <a:rPr sz="2000" b="1" spc="35" dirty="0">
                <a:latin typeface="Calibri"/>
                <a:cs typeface="Calibri"/>
              </a:rPr>
              <a:t>le</a:t>
            </a:r>
            <a:r>
              <a:rPr sz="2000" b="1" spc="10" dirty="0">
                <a:latin typeface="Calibri"/>
                <a:cs typeface="Calibri"/>
              </a:rPr>
              <a:t>?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4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)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Calibri"/>
                <a:cs typeface="Calibri"/>
              </a:rPr>
              <a:t>46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Calibri"/>
                <a:cs typeface="Calibri"/>
              </a:rPr>
              <a:t>42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Calibri"/>
                <a:cs typeface="Calibri"/>
              </a:rPr>
              <a:t>34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Calibri"/>
                <a:cs typeface="Calibri"/>
              </a:rPr>
              <a:t>52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Calibri"/>
                <a:cs typeface="Calibri"/>
              </a:rPr>
              <a:t>23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Calibri"/>
                <a:cs typeface="Calibri"/>
              </a:rPr>
              <a:t>3</a:t>
            </a:r>
            <a:r>
              <a:rPr sz="2000" spc="10" dirty="0">
                <a:latin typeface="Calibri"/>
                <a:cs typeface="Calibri"/>
              </a:rPr>
              <a:t>3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35" dirty="0">
                <a:latin typeface="Calibri"/>
                <a:cs typeface="Calibri"/>
              </a:rPr>
              <a:t>B</a:t>
            </a:r>
            <a:r>
              <a:rPr sz="2000" spc="5" dirty="0">
                <a:latin typeface="Calibri"/>
                <a:cs typeface="Calibri"/>
              </a:rPr>
              <a:t>)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Calibri"/>
                <a:cs typeface="Calibri"/>
              </a:rPr>
              <a:t>34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Calibri"/>
                <a:cs typeface="Calibri"/>
              </a:rPr>
              <a:t>42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Calibri"/>
                <a:cs typeface="Calibri"/>
              </a:rPr>
              <a:t>23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Calibri"/>
                <a:cs typeface="Calibri"/>
              </a:rPr>
              <a:t>52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Calibri"/>
                <a:cs typeface="Calibri"/>
              </a:rPr>
              <a:t>33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Calibri"/>
                <a:cs typeface="Calibri"/>
              </a:rPr>
              <a:t>4</a:t>
            </a:r>
            <a:r>
              <a:rPr sz="2000" spc="15" dirty="0">
                <a:latin typeface="Calibri"/>
                <a:cs typeface="Calibri"/>
              </a:rPr>
              <a:t>6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20" dirty="0">
                <a:latin typeface="Calibri"/>
                <a:cs typeface="Calibri"/>
              </a:rPr>
              <a:t>C</a:t>
            </a:r>
            <a:r>
              <a:rPr sz="2000" spc="5" dirty="0">
                <a:latin typeface="Calibri"/>
                <a:cs typeface="Calibri"/>
              </a:rPr>
              <a:t>)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Calibri"/>
                <a:cs typeface="Calibri"/>
              </a:rPr>
              <a:t>46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Calibri"/>
                <a:cs typeface="Calibri"/>
              </a:rPr>
              <a:t>34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Calibri"/>
                <a:cs typeface="Calibri"/>
              </a:rPr>
              <a:t>42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Calibri"/>
                <a:cs typeface="Calibri"/>
              </a:rPr>
              <a:t>23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Calibri"/>
                <a:cs typeface="Calibri"/>
              </a:rPr>
              <a:t>52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Calibri"/>
                <a:cs typeface="Calibri"/>
              </a:rPr>
              <a:t>3</a:t>
            </a:r>
            <a:r>
              <a:rPr sz="2000" spc="15" dirty="0">
                <a:latin typeface="Calibri"/>
                <a:cs typeface="Calibri"/>
              </a:rPr>
              <a:t>3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40" dirty="0">
                <a:latin typeface="Calibri"/>
                <a:cs typeface="Calibri"/>
              </a:rPr>
              <a:t>D</a:t>
            </a:r>
            <a:r>
              <a:rPr sz="2000" spc="5" dirty="0">
                <a:latin typeface="Calibri"/>
                <a:cs typeface="Calibri"/>
              </a:rPr>
              <a:t>)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Calibri"/>
                <a:cs typeface="Calibri"/>
              </a:rPr>
              <a:t>42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Calibri"/>
                <a:cs typeface="Calibri"/>
              </a:rPr>
              <a:t>46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Calibri"/>
                <a:cs typeface="Calibri"/>
              </a:rPr>
              <a:t>33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Calibri"/>
                <a:cs typeface="Calibri"/>
              </a:rPr>
              <a:t>23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Calibri"/>
                <a:cs typeface="Calibri"/>
              </a:rPr>
              <a:t>34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Calibri"/>
                <a:cs typeface="Calibri"/>
              </a:rPr>
              <a:t>5</a:t>
            </a:r>
            <a:r>
              <a:rPr sz="2000" spc="10" dirty="0">
                <a:latin typeface="Calibri"/>
                <a:cs typeface="Calibri"/>
              </a:rPr>
              <a:t>2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806331"/>
              </p:ext>
            </p:extLst>
          </p:nvPr>
        </p:nvGraphicFramePr>
        <p:xfrm>
          <a:off x="6755612" y="2803108"/>
          <a:ext cx="2939414" cy="33255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7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2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534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0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28575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28575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61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28575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28575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53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550" spc="35" dirty="0">
                          <a:latin typeface="Calibri"/>
                          <a:cs typeface="Calibri"/>
                        </a:rPr>
                        <a:t>42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56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508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550" spc="35" dirty="0">
                          <a:latin typeface="Calibri"/>
                          <a:cs typeface="Calibri"/>
                        </a:rPr>
                        <a:t>23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56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4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550" spc="35" dirty="0">
                          <a:latin typeface="Calibri"/>
                          <a:cs typeface="Calibri"/>
                        </a:rPr>
                        <a:t>34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44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5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550" spc="35" dirty="0">
                          <a:latin typeface="Calibri"/>
                          <a:cs typeface="Calibri"/>
                        </a:rPr>
                        <a:t>52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56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6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50" spc="35" dirty="0">
                          <a:latin typeface="Calibri"/>
                          <a:cs typeface="Calibri"/>
                        </a:rPr>
                        <a:t>46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8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7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50" spc="35" dirty="0">
                          <a:latin typeface="Calibri"/>
                          <a:cs typeface="Calibri"/>
                        </a:rPr>
                        <a:t>33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556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544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9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4A4A4"/>
                      </a:solidFill>
                      <a:prstDash val="solid"/>
                    </a:lnL>
                    <a:lnR w="19050">
                      <a:solidFill>
                        <a:srgbClr val="A4A4A4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465"/>
              </a:spcBef>
            </a:pPr>
            <a:r>
              <a:rPr spc="25" dirty="0"/>
              <a:t>A</a:t>
            </a:r>
            <a:r>
              <a:rPr spc="60" dirty="0"/>
              <a:t>N</a:t>
            </a:r>
            <a:r>
              <a:rPr spc="-140" dirty="0"/>
              <a:t>S</a:t>
            </a:r>
            <a:r>
              <a:rPr spc="-114" dirty="0"/>
              <a:t>W</a:t>
            </a:r>
            <a:r>
              <a:rPr spc="5" dirty="0"/>
              <a:t>ER</a:t>
            </a:r>
            <a:r>
              <a:rPr spc="-515" dirty="0">
                <a:latin typeface="Times New Roman"/>
                <a:cs typeface="Times New Roman"/>
              </a:rPr>
              <a:t> </a:t>
            </a:r>
            <a:r>
              <a:rPr spc="45" dirty="0"/>
              <a:t>(</a:t>
            </a:r>
            <a:r>
              <a:rPr spc="60" dirty="0"/>
              <a:t>C</a:t>
            </a:r>
            <a:r>
              <a:rPr dirty="0"/>
              <a:t>)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825544"/>
            <a:ext cx="10515600" cy="4351655"/>
          </a:xfrm>
          <a:custGeom>
            <a:avLst/>
            <a:gdLst/>
            <a:ahLst/>
            <a:cxnLst/>
            <a:rect l="l" t="t" r="r" b="b"/>
            <a:pathLst>
              <a:path w="10515600" h="4351655">
                <a:moveTo>
                  <a:pt x="0" y="4351416"/>
                </a:moveTo>
                <a:lnTo>
                  <a:pt x="10515599" y="4351416"/>
                </a:lnTo>
                <a:lnTo>
                  <a:pt x="10515599" y="0"/>
                </a:lnTo>
                <a:lnTo>
                  <a:pt x="0" y="0"/>
                </a:lnTo>
                <a:lnTo>
                  <a:pt x="0" y="4351416"/>
                </a:lnTo>
                <a:close/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7571" y="1800724"/>
            <a:ext cx="10170795" cy="3992879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450" dirty="0">
                <a:latin typeface="Calibri"/>
                <a:cs typeface="Calibri"/>
              </a:rPr>
              <a:t>The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sequence</a:t>
            </a:r>
            <a:r>
              <a:rPr sz="2450" spc="24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(A)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doesn’t</a:t>
            </a:r>
            <a:r>
              <a:rPr sz="2450" spc="19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create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hash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table</a:t>
            </a:r>
            <a:r>
              <a:rPr sz="2450" spc="15" dirty="0">
                <a:latin typeface="Calibri"/>
                <a:cs typeface="Calibri"/>
              </a:rPr>
              <a:t> as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element</a:t>
            </a:r>
            <a:r>
              <a:rPr sz="2450" spc="19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52</a:t>
            </a:r>
            <a:r>
              <a:rPr sz="2450" spc="-5" dirty="0">
                <a:latin typeface="Calibri"/>
                <a:cs typeface="Calibri"/>
              </a:rPr>
              <a:t> appears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450" spc="-15" dirty="0">
                <a:latin typeface="Calibri"/>
                <a:cs typeface="Calibri"/>
              </a:rPr>
              <a:t>before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23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in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this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sequence.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450" dirty="0">
                <a:latin typeface="Calibri"/>
                <a:cs typeface="Calibri"/>
              </a:rPr>
              <a:t>The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sequence</a:t>
            </a:r>
            <a:r>
              <a:rPr sz="2450" spc="25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(B)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doesn’t</a:t>
            </a:r>
            <a:r>
              <a:rPr sz="2450" spc="20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create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hash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table</a:t>
            </a:r>
            <a:r>
              <a:rPr sz="2450" spc="15" dirty="0">
                <a:latin typeface="Calibri"/>
                <a:cs typeface="Calibri"/>
              </a:rPr>
              <a:t> as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element</a:t>
            </a:r>
            <a:r>
              <a:rPr sz="2450" spc="19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33</a:t>
            </a:r>
            <a:r>
              <a:rPr sz="2450" spc="-5" dirty="0">
                <a:latin typeface="Calibri"/>
                <a:cs typeface="Calibri"/>
              </a:rPr>
              <a:t> appears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450" spc="-15" dirty="0">
                <a:latin typeface="Calibri"/>
                <a:cs typeface="Calibri"/>
              </a:rPr>
              <a:t>before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46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in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this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sequence.</a:t>
            </a:r>
            <a:endParaRPr sz="2450">
              <a:latin typeface="Calibri"/>
              <a:cs typeface="Calibri"/>
            </a:endParaRPr>
          </a:p>
          <a:p>
            <a:pPr marL="12700" marR="5080">
              <a:lnSpc>
                <a:spcPct val="132800"/>
              </a:lnSpc>
            </a:pPr>
            <a:r>
              <a:rPr sz="2450" dirty="0">
                <a:latin typeface="Calibri"/>
                <a:cs typeface="Calibri"/>
              </a:rPr>
              <a:t>The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sequence</a:t>
            </a:r>
            <a:r>
              <a:rPr sz="2450" spc="254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(C)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creates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hash</a:t>
            </a:r>
            <a:r>
              <a:rPr sz="2450" spc="10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table </a:t>
            </a:r>
            <a:r>
              <a:rPr sz="2450" spc="15" dirty="0">
                <a:latin typeface="Calibri"/>
                <a:cs typeface="Calibri"/>
              </a:rPr>
              <a:t>as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42,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23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and</a:t>
            </a:r>
            <a:r>
              <a:rPr sz="2450" spc="20" dirty="0">
                <a:latin typeface="Calibri"/>
                <a:cs typeface="Calibri"/>
              </a:rPr>
              <a:t> 34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appear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before</a:t>
            </a:r>
            <a:r>
              <a:rPr sz="2450" spc="16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52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and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33,</a:t>
            </a:r>
            <a:r>
              <a:rPr sz="2450" spc="-5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and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46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appears</a:t>
            </a:r>
            <a:r>
              <a:rPr sz="2450" spc="12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before</a:t>
            </a:r>
            <a:r>
              <a:rPr sz="2450" spc="16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33.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450" dirty="0">
                <a:latin typeface="Calibri"/>
                <a:cs typeface="Calibri"/>
              </a:rPr>
              <a:t>The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sequence</a:t>
            </a:r>
            <a:r>
              <a:rPr sz="2450" spc="24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(D)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doesn’t</a:t>
            </a:r>
            <a:r>
              <a:rPr sz="2450" spc="19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create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hash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table</a:t>
            </a:r>
            <a:r>
              <a:rPr sz="2450" spc="15" dirty="0">
                <a:latin typeface="Calibri"/>
                <a:cs typeface="Calibri"/>
              </a:rPr>
              <a:t> as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element</a:t>
            </a:r>
            <a:r>
              <a:rPr sz="2450" spc="19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33</a:t>
            </a:r>
            <a:r>
              <a:rPr sz="2450" spc="-5" dirty="0">
                <a:latin typeface="Calibri"/>
                <a:cs typeface="Calibri"/>
              </a:rPr>
              <a:t> appears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2450" spc="-15" dirty="0">
                <a:latin typeface="Calibri"/>
                <a:cs typeface="Calibri"/>
              </a:rPr>
              <a:t>before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23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in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this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sequence.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365177"/>
            <a:ext cx="10515600" cy="819785"/>
          </a:xfrm>
          <a:custGeom>
            <a:avLst/>
            <a:gdLst/>
            <a:ahLst/>
            <a:cxnLst/>
            <a:rect l="l" t="t" r="r" b="b"/>
            <a:pathLst>
              <a:path w="10515600" h="819785">
                <a:moveTo>
                  <a:pt x="10515599" y="0"/>
                </a:moveTo>
                <a:lnTo>
                  <a:pt x="0" y="0"/>
                </a:lnTo>
                <a:lnTo>
                  <a:pt x="0" y="819732"/>
                </a:lnTo>
                <a:lnTo>
                  <a:pt x="10515599" y="819732"/>
                </a:lnTo>
                <a:lnTo>
                  <a:pt x="1051559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" algn="ctr">
              <a:lnSpc>
                <a:spcPts val="6030"/>
              </a:lnSpc>
            </a:pPr>
            <a:endParaRPr sz="59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8200" y="1390887"/>
            <a:ext cx="10515600" cy="5100320"/>
          </a:xfrm>
          <a:custGeom>
            <a:avLst/>
            <a:gdLst/>
            <a:ahLst/>
            <a:cxnLst/>
            <a:rect l="l" t="t" r="r" b="b"/>
            <a:pathLst>
              <a:path w="10515600" h="5100320">
                <a:moveTo>
                  <a:pt x="0" y="5100065"/>
                </a:moveTo>
                <a:lnTo>
                  <a:pt x="10515599" y="5100065"/>
                </a:lnTo>
                <a:lnTo>
                  <a:pt x="10515599" y="0"/>
                </a:lnTo>
                <a:lnTo>
                  <a:pt x="0" y="0"/>
                </a:lnTo>
                <a:lnTo>
                  <a:pt x="0" y="5100065"/>
                </a:lnTo>
                <a:close/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7571" y="1357046"/>
            <a:ext cx="10271125" cy="127571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800" spc="15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keys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12,18,13,2,3,23,512,18,13,2,3,23,5</a:t>
            </a:r>
            <a:r>
              <a:rPr sz="1800" spc="229" dirty="0">
                <a:latin typeface="Calibri"/>
                <a:cs typeface="Calibri"/>
              </a:rPr>
              <a:t> </a:t>
            </a:r>
            <a:r>
              <a:rPr sz="1800" spc="20" dirty="0">
                <a:latin typeface="Calibri"/>
                <a:cs typeface="Calibri"/>
              </a:rPr>
              <a:t>and</a:t>
            </a:r>
            <a:r>
              <a:rPr sz="1800" spc="-10" dirty="0">
                <a:latin typeface="Calibri"/>
                <a:cs typeface="Calibri"/>
              </a:rPr>
              <a:t> 15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inserted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into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an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Insert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empty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hash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table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  <a:p>
            <a:pPr marL="12700" marR="5080" indent="-635">
              <a:lnSpc>
                <a:spcPct val="149500"/>
              </a:lnSpc>
              <a:spcBef>
                <a:spcPts val="75"/>
              </a:spcBef>
            </a:pPr>
            <a:r>
              <a:rPr sz="1800" spc="5" dirty="0">
                <a:latin typeface="Calibri"/>
                <a:cs typeface="Calibri"/>
              </a:rPr>
              <a:t>length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10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using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open</a:t>
            </a:r>
            <a:r>
              <a:rPr sz="1800" spc="5" dirty="0">
                <a:latin typeface="Calibri"/>
                <a:cs typeface="Calibri"/>
              </a:rPr>
              <a:t> addressing</a:t>
            </a:r>
            <a:r>
              <a:rPr sz="1800" spc="-13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with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hash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function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h(k)=kmod10h(k)=kmod10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20" dirty="0">
                <a:latin typeface="Calibri"/>
                <a:cs typeface="Calibri"/>
              </a:rPr>
              <a:t>and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20" dirty="0">
                <a:latin typeface="Calibri"/>
                <a:cs typeface="Calibri"/>
              </a:rPr>
              <a:t>linear</a:t>
            </a:r>
            <a:r>
              <a:rPr sz="1800" spc="-13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probing.</a:t>
            </a:r>
            <a:r>
              <a:rPr sz="1800" spc="-114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What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is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the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resultant</a:t>
            </a:r>
            <a:r>
              <a:rPr sz="1800" spc="-114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hash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table?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437127" y="2757546"/>
          <a:ext cx="1371600" cy="3505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19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9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459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41115" y="2806832"/>
          <a:ext cx="1371600" cy="3505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19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10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568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4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313921" y="2779004"/>
          <a:ext cx="1371600" cy="35051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19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6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471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003538" y="2789671"/>
          <a:ext cx="1898650" cy="3505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19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6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2,12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13,3,23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5,15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532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4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4"/>
                      </a:solidFill>
                      <a:prstDash val="solid"/>
                    </a:lnL>
                    <a:lnR w="19050">
                      <a:solidFill>
                        <a:srgbClr val="4471C4"/>
                      </a:solidFill>
                      <a:prstDash val="solid"/>
                    </a:lnR>
                    <a:lnT w="1905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465"/>
              </a:spcBef>
            </a:pPr>
            <a:r>
              <a:rPr spc="25" dirty="0"/>
              <a:t>A</a:t>
            </a:r>
            <a:r>
              <a:rPr spc="60" dirty="0"/>
              <a:t>N</a:t>
            </a:r>
            <a:r>
              <a:rPr spc="-140" dirty="0"/>
              <a:t>S</a:t>
            </a:r>
            <a:r>
              <a:rPr spc="-114" dirty="0"/>
              <a:t>W</a:t>
            </a:r>
            <a:r>
              <a:rPr spc="5" dirty="0"/>
              <a:t>ER</a:t>
            </a:r>
            <a:r>
              <a:rPr spc="-515" dirty="0">
                <a:latin typeface="Times New Roman"/>
                <a:cs typeface="Times New Roman"/>
              </a:rPr>
              <a:t> </a:t>
            </a:r>
            <a:r>
              <a:rPr spc="45" dirty="0"/>
              <a:t>(</a:t>
            </a:r>
            <a:r>
              <a:rPr spc="35" dirty="0"/>
              <a:t>c</a:t>
            </a:r>
            <a:r>
              <a:rPr dirty="0"/>
              <a:t>)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825544"/>
            <a:ext cx="10515600" cy="4351655"/>
          </a:xfrm>
          <a:custGeom>
            <a:avLst/>
            <a:gdLst/>
            <a:ahLst/>
            <a:cxnLst/>
            <a:rect l="l" t="t" r="r" b="b"/>
            <a:pathLst>
              <a:path w="10515600" h="4351655">
                <a:moveTo>
                  <a:pt x="0" y="4351416"/>
                </a:moveTo>
                <a:lnTo>
                  <a:pt x="10515599" y="4351416"/>
                </a:lnTo>
                <a:lnTo>
                  <a:pt x="10515599" y="0"/>
                </a:lnTo>
                <a:lnTo>
                  <a:pt x="0" y="0"/>
                </a:lnTo>
                <a:lnTo>
                  <a:pt x="0" y="4351416"/>
                </a:lnTo>
                <a:close/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7571" y="1804094"/>
            <a:ext cx="10358755" cy="394017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41300" marR="454025" indent="-229235">
              <a:lnSpc>
                <a:spcPts val="2630"/>
              </a:lnSpc>
              <a:spcBef>
                <a:spcPts val="39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dirty="0">
                <a:latin typeface="Calibri"/>
                <a:cs typeface="Calibri"/>
              </a:rPr>
              <a:t>Open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addressing,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closed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hashing,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method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</a:t>
            </a:r>
            <a:r>
              <a:rPr sz="2400" spc="-5" dirty="0">
                <a:latin typeface="Calibri"/>
                <a:cs typeface="Calibri"/>
              </a:rPr>
              <a:t>collision </a:t>
            </a:r>
            <a:r>
              <a:rPr sz="2400" dirty="0">
                <a:latin typeface="Calibri"/>
                <a:cs typeface="Calibri"/>
              </a:rPr>
              <a:t>resolution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hash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tables.</a:t>
            </a:r>
            <a:endParaRPr sz="2400">
              <a:latin typeface="Calibri"/>
              <a:cs typeface="Calibri"/>
            </a:endParaRPr>
          </a:p>
          <a:p>
            <a:pPr marL="241300" marR="201295" indent="-229235">
              <a:lnSpc>
                <a:spcPct val="89500"/>
              </a:lnSpc>
              <a:spcBef>
                <a:spcPts val="98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15" dirty="0">
                <a:latin typeface="Calibri"/>
                <a:cs typeface="Calibri"/>
              </a:rPr>
              <a:t>With </a:t>
            </a:r>
            <a:r>
              <a:rPr sz="2400" spc="-5" dirty="0">
                <a:latin typeface="Calibri"/>
                <a:cs typeface="Calibri"/>
              </a:rPr>
              <a:t>this </a:t>
            </a:r>
            <a:r>
              <a:rPr sz="2400" spc="10" dirty="0">
                <a:latin typeface="Calibri"/>
                <a:cs typeface="Calibri"/>
              </a:rPr>
              <a:t>method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5" dirty="0">
                <a:latin typeface="Calibri"/>
                <a:cs typeface="Calibri"/>
              </a:rPr>
              <a:t>hash </a:t>
            </a:r>
            <a:r>
              <a:rPr sz="2400" spc="-5" dirty="0">
                <a:latin typeface="Calibri"/>
                <a:cs typeface="Calibri"/>
              </a:rPr>
              <a:t>collision </a:t>
            </a:r>
            <a:r>
              <a:rPr sz="2400" spc="-15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resolved </a:t>
            </a:r>
            <a:r>
              <a:rPr sz="2400" spc="5" dirty="0">
                <a:latin typeface="Calibri"/>
                <a:cs typeface="Calibri"/>
              </a:rPr>
              <a:t>by </a:t>
            </a:r>
            <a:r>
              <a:rPr sz="2400" spc="-10" dirty="0">
                <a:latin typeface="Calibri"/>
                <a:cs typeface="Calibri"/>
              </a:rPr>
              <a:t>probing, </a:t>
            </a:r>
            <a:r>
              <a:rPr sz="2400" dirty="0">
                <a:latin typeface="Calibri"/>
                <a:cs typeface="Calibri"/>
              </a:rPr>
              <a:t>or searching </a:t>
            </a:r>
            <a:r>
              <a:rPr sz="2400" spc="-10" dirty="0">
                <a:latin typeface="Calibri"/>
                <a:cs typeface="Calibri"/>
              </a:rPr>
              <a:t>through </a:t>
            </a:r>
            <a:r>
              <a:rPr sz="2400" spc="-5" dirty="0">
                <a:latin typeface="Calibri"/>
                <a:cs typeface="Calibri"/>
              </a:rPr>
              <a:t> alternate locations </a:t>
            </a:r>
            <a:r>
              <a:rPr sz="2400" spc="-15" dirty="0">
                <a:latin typeface="Calibri"/>
                <a:cs typeface="Calibri"/>
              </a:rPr>
              <a:t>in </a:t>
            </a:r>
            <a:r>
              <a:rPr sz="2400" spc="5" dirty="0">
                <a:latin typeface="Calibri"/>
                <a:cs typeface="Calibri"/>
              </a:rPr>
              <a:t>the </a:t>
            </a:r>
            <a:r>
              <a:rPr sz="2400" spc="-45" dirty="0">
                <a:latin typeface="Calibri"/>
                <a:cs typeface="Calibri"/>
              </a:rPr>
              <a:t>array </a:t>
            </a:r>
            <a:r>
              <a:rPr sz="2400" spc="10" dirty="0">
                <a:latin typeface="Calibri"/>
                <a:cs typeface="Calibri"/>
              </a:rPr>
              <a:t>(the </a:t>
            </a:r>
            <a:r>
              <a:rPr sz="2400" spc="-15" dirty="0">
                <a:latin typeface="Calibri"/>
                <a:cs typeface="Calibri"/>
              </a:rPr>
              <a:t>probe </a:t>
            </a:r>
            <a:r>
              <a:rPr sz="2400" spc="10" dirty="0">
                <a:latin typeface="Calibri"/>
                <a:cs typeface="Calibri"/>
              </a:rPr>
              <a:t>sequence) </a:t>
            </a:r>
            <a:r>
              <a:rPr sz="2400" dirty="0">
                <a:latin typeface="Calibri"/>
                <a:cs typeface="Calibri"/>
              </a:rPr>
              <a:t>until either </a:t>
            </a:r>
            <a:r>
              <a:rPr sz="2400" spc="5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target </a:t>
            </a:r>
            <a:r>
              <a:rPr sz="2400" dirty="0">
                <a:latin typeface="Calibri"/>
                <a:cs typeface="Calibri"/>
              </a:rPr>
              <a:t> record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found,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unused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array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slot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found,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 </a:t>
            </a:r>
            <a:r>
              <a:rPr sz="2400" spc="-5" dirty="0">
                <a:latin typeface="Calibri"/>
                <a:cs typeface="Calibri"/>
              </a:rPr>
              <a:t>indicates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5" dirty="0">
                <a:latin typeface="Calibri"/>
                <a:cs typeface="Calibri"/>
              </a:rPr>
              <a:t> there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no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15" dirty="0">
                <a:latin typeface="Calibri"/>
                <a:cs typeface="Calibri"/>
              </a:rPr>
              <a:t>such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key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table.</a:t>
            </a:r>
            <a:endParaRPr sz="2400">
              <a:latin typeface="Calibri"/>
              <a:cs typeface="Calibri"/>
            </a:endParaRPr>
          </a:p>
          <a:p>
            <a:pPr marL="241300" indent="-229235">
              <a:lnSpc>
                <a:spcPts val="2755"/>
              </a:lnSpc>
              <a:spcBef>
                <a:spcPts val="73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i="1" spc="-25" dirty="0">
                <a:latin typeface="Calibri"/>
                <a:cs typeface="Calibri"/>
              </a:rPr>
              <a:t>linear</a:t>
            </a:r>
            <a:r>
              <a:rPr sz="2400" i="1" spc="135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probing</a:t>
            </a:r>
            <a:r>
              <a:rPr sz="2400" i="1" spc="15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interval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between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probes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fixed–often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1.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590"/>
              </a:lnSpc>
            </a:pPr>
            <a:r>
              <a:rPr sz="2400" i="1" spc="-20" dirty="0">
                <a:latin typeface="Calibri"/>
                <a:cs typeface="Calibri"/>
              </a:rPr>
              <a:t>quadratic</a:t>
            </a:r>
            <a:r>
              <a:rPr sz="2400" i="1" spc="185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probing</a:t>
            </a:r>
            <a:r>
              <a:rPr sz="2400" i="1" spc="1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 </a:t>
            </a:r>
            <a:r>
              <a:rPr sz="2400" spc="5" dirty="0">
                <a:latin typeface="Calibri"/>
                <a:cs typeface="Calibri"/>
              </a:rPr>
              <a:t>the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interval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between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probes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increases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linearly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(hence,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590"/>
              </a:lnSpc>
            </a:pPr>
            <a:r>
              <a:rPr sz="2400" spc="1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indices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described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by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quadratic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function).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590"/>
              </a:lnSpc>
            </a:pPr>
            <a:r>
              <a:rPr sz="2400" i="1" spc="-30" dirty="0">
                <a:latin typeface="Calibri"/>
                <a:cs typeface="Calibri"/>
              </a:rPr>
              <a:t>double</a:t>
            </a:r>
            <a:r>
              <a:rPr sz="2400" i="1" spc="190" dirty="0">
                <a:latin typeface="Calibri"/>
                <a:cs typeface="Calibri"/>
              </a:rPr>
              <a:t> </a:t>
            </a:r>
            <a:r>
              <a:rPr sz="2400" i="1" spc="-30" dirty="0">
                <a:latin typeface="Calibri"/>
                <a:cs typeface="Calibri"/>
              </a:rPr>
              <a:t>hashing</a:t>
            </a:r>
            <a:r>
              <a:rPr sz="2400" i="1" spc="1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interval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between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probes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fixed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record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but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15"/>
              </a:lnSpc>
            </a:pPr>
            <a:r>
              <a:rPr sz="2400" spc="-15" dirty="0">
                <a:latin typeface="Calibri"/>
                <a:cs typeface="Calibri"/>
              </a:rPr>
              <a:t>is</a:t>
            </a:r>
            <a:r>
              <a:rPr sz="2400" spc="10" dirty="0">
                <a:latin typeface="Calibri"/>
                <a:cs typeface="Calibri"/>
              </a:rPr>
              <a:t> computed</a:t>
            </a:r>
            <a:r>
              <a:rPr sz="2400" spc="-15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by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hash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function.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431" y="491224"/>
            <a:ext cx="4572000" cy="1477645"/>
          </a:xfrm>
          <a:prstGeom prst="rect">
            <a:avLst/>
          </a:prstGeom>
          <a:ln w="9534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91440" marR="2042160">
              <a:lnSpc>
                <a:spcPct val="100800"/>
              </a:lnSpc>
              <a:spcBef>
                <a:spcPts val="200"/>
              </a:spcBef>
            </a:pPr>
            <a:r>
              <a:rPr sz="1800" b="1" spc="30" dirty="0">
                <a:solidFill>
                  <a:srgbClr val="FF0000"/>
                </a:solidFill>
                <a:latin typeface="Calibri"/>
                <a:cs typeface="Calibri"/>
              </a:rPr>
              <a:t>Ar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800" b="1" spc="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r>
              <a:rPr sz="1800" spc="-1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8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L</a:t>
            </a:r>
            <a:r>
              <a:rPr sz="1800" b="1" spc="5" dirty="0">
                <a:latin typeface="Calibri"/>
                <a:cs typeface="Calibri"/>
              </a:rPr>
              <a:t>in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5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Ti</a:t>
            </a:r>
            <a:r>
              <a:rPr sz="1800" b="1" spc="30" dirty="0">
                <a:latin typeface="Calibri"/>
                <a:cs typeface="Calibri"/>
              </a:rPr>
              <a:t>m</a:t>
            </a:r>
            <a:r>
              <a:rPr sz="1800" b="1" dirty="0">
                <a:latin typeface="Calibri"/>
                <a:cs typeface="Calibri"/>
              </a:rPr>
              <a:t>e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Linked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List = </a:t>
            </a:r>
            <a:r>
              <a:rPr sz="1800" b="1" spc="-5" dirty="0">
                <a:latin typeface="Calibri"/>
                <a:cs typeface="Calibri"/>
              </a:rPr>
              <a:t>Linear </a:t>
            </a:r>
            <a:r>
              <a:rPr sz="1800" b="1" spc="10" dirty="0">
                <a:latin typeface="Calibri"/>
                <a:cs typeface="Calibri"/>
              </a:rPr>
              <a:t>Time 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Balanced</a:t>
            </a:r>
            <a:r>
              <a:rPr sz="1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BST</a:t>
            </a:r>
            <a:r>
              <a:rPr sz="1800" b="1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800" b="1" spc="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log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time</a:t>
            </a:r>
            <a:endParaRPr sz="18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20"/>
              </a:spcBef>
            </a:pPr>
            <a:r>
              <a:rPr sz="1800" b="1" spc="-90" dirty="0">
                <a:solidFill>
                  <a:srgbClr val="FF0000"/>
                </a:solidFill>
                <a:latin typeface="Calibri"/>
                <a:cs typeface="Calibri"/>
              </a:rPr>
              <a:t>D</a:t>
            </a:r>
            <a:r>
              <a:rPr sz="1800" b="1" spc="-12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8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10" dirty="0">
                <a:latin typeface="Calibri"/>
                <a:cs typeface="Calibri"/>
              </a:rPr>
              <a:t>n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an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spc="-18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i</a:t>
            </a:r>
            <a:r>
              <a:rPr sz="1800" b="1" spc="30" dirty="0">
                <a:latin typeface="Calibri"/>
                <a:cs typeface="Calibri"/>
              </a:rPr>
              <a:t>m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b="1" spc="-40" dirty="0">
                <a:latin typeface="Calibri"/>
                <a:cs typeface="Calibri"/>
              </a:rPr>
              <a:t>(</a:t>
            </a:r>
            <a:r>
              <a:rPr sz="1800" b="1" spc="-15" dirty="0">
                <a:latin typeface="Calibri"/>
                <a:cs typeface="Calibri"/>
              </a:rPr>
              <a:t>D</a:t>
            </a:r>
            <a:r>
              <a:rPr sz="1800" b="1" spc="-45" dirty="0">
                <a:latin typeface="Calibri"/>
                <a:cs typeface="Calibri"/>
              </a:rPr>
              <a:t>r</a:t>
            </a:r>
            <a:r>
              <a:rPr sz="1800" b="1" spc="5" dirty="0">
                <a:latin typeface="Calibri"/>
                <a:cs typeface="Calibri"/>
              </a:rPr>
              <a:t>awba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k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la</a:t>
            </a:r>
            <a:r>
              <a:rPr sz="1800" b="1" spc="30" dirty="0">
                <a:latin typeface="Calibri"/>
                <a:cs typeface="Calibri"/>
              </a:rPr>
              <a:t>r</a:t>
            </a:r>
            <a:r>
              <a:rPr sz="1800" b="1" spc="-30" dirty="0">
                <a:latin typeface="Calibri"/>
                <a:cs typeface="Calibri"/>
              </a:rPr>
              <a:t>g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16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abl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)</a:t>
            </a:r>
            <a:endParaRPr sz="18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5"/>
              </a:spcBef>
            </a:pPr>
            <a:r>
              <a:rPr sz="1800" b="1" spc="-30" dirty="0">
                <a:latin typeface="Calibri"/>
                <a:cs typeface="Calibri"/>
              </a:rPr>
              <a:t>I</a:t>
            </a:r>
            <a:r>
              <a:rPr sz="1800" b="1" spc="5" dirty="0">
                <a:latin typeface="Calibri"/>
                <a:cs typeface="Calibri"/>
              </a:rPr>
              <a:t>n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30" dirty="0">
                <a:latin typeface="Calibri"/>
                <a:cs typeface="Calibri"/>
              </a:rPr>
              <a:t>r</a:t>
            </a:r>
            <a:r>
              <a:rPr sz="1800" b="1" spc="5" dirty="0">
                <a:latin typeface="Calibri"/>
                <a:cs typeface="Calibri"/>
              </a:rPr>
              <a:t>odu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H</a:t>
            </a:r>
            <a:r>
              <a:rPr sz="1800" b="1" spc="5" dirty="0">
                <a:latin typeface="Calibri"/>
                <a:cs typeface="Calibri"/>
              </a:rPr>
              <a:t>a</a:t>
            </a:r>
            <a:r>
              <a:rPr sz="1800" b="1" spc="30" dirty="0">
                <a:latin typeface="Calibri"/>
                <a:cs typeface="Calibri"/>
              </a:rPr>
              <a:t>s</a:t>
            </a:r>
            <a:r>
              <a:rPr sz="1800" b="1" spc="5" dirty="0">
                <a:latin typeface="Calibri"/>
                <a:cs typeface="Calibri"/>
              </a:rPr>
              <a:t>hin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!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9431" y="2203045"/>
            <a:ext cx="4572000" cy="923925"/>
          </a:xfrm>
          <a:prstGeom prst="rect">
            <a:avLst/>
          </a:prstGeom>
          <a:ln w="9534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1440" marR="136525" algn="just">
              <a:lnSpc>
                <a:spcPct val="100899"/>
              </a:lnSpc>
              <a:spcBef>
                <a:spcPts val="215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H</a:t>
            </a:r>
            <a:r>
              <a:rPr sz="1800" b="1" spc="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b="1" spc="2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h</a:t>
            </a:r>
            <a:r>
              <a:rPr sz="18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Fu</a:t>
            </a:r>
            <a:r>
              <a:rPr sz="1800" b="1" spc="10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800" b="1" spc="5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18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30" dirty="0">
                <a:latin typeface="Calibri"/>
                <a:cs typeface="Calibri"/>
              </a:rPr>
              <a:t>m</a:t>
            </a:r>
            <a:r>
              <a:rPr sz="1800" b="1" spc="5" dirty="0">
                <a:latin typeface="Calibri"/>
                <a:cs typeface="Calibri"/>
              </a:rPr>
              <a:t>ap</a:t>
            </a:r>
            <a:r>
              <a:rPr sz="1800" b="1" dirty="0">
                <a:latin typeface="Calibri"/>
                <a:cs typeface="Calibri"/>
              </a:rPr>
              <a:t>s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bi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nu</a:t>
            </a:r>
            <a:r>
              <a:rPr sz="1800" b="1" spc="30" dirty="0">
                <a:latin typeface="Calibri"/>
                <a:cs typeface="Calibri"/>
              </a:rPr>
              <a:t>m</a:t>
            </a:r>
            <a:r>
              <a:rPr sz="1800" b="1" spc="5" dirty="0">
                <a:latin typeface="Calibri"/>
                <a:cs typeface="Calibri"/>
              </a:rPr>
              <a:t>b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30" dirty="0">
                <a:latin typeface="Calibri"/>
                <a:cs typeface="Calibri"/>
              </a:rPr>
              <a:t>r</a:t>
            </a:r>
            <a:r>
              <a:rPr sz="1800" b="1" spc="5" dirty="0">
                <a:latin typeface="Calibri"/>
                <a:cs typeface="Calibri"/>
              </a:rPr>
              <a:t>in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spc="-18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o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10" dirty="0">
                <a:latin typeface="Calibri"/>
                <a:cs typeface="Calibri"/>
              </a:rPr>
              <a:t>small</a:t>
            </a:r>
            <a:r>
              <a:rPr sz="1800" b="1" spc="-10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integer</a:t>
            </a:r>
            <a:r>
              <a:rPr sz="1800" b="1" spc="-5" dirty="0">
                <a:latin typeface="Calibri"/>
                <a:cs typeface="Calibri"/>
              </a:rPr>
              <a:t> that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can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used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as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</a:t>
            </a:r>
            <a:r>
              <a:rPr sz="1800" b="1" spc="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index</a:t>
            </a:r>
            <a:r>
              <a:rPr sz="1800" b="1" spc="-1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 </a:t>
            </a:r>
            <a:r>
              <a:rPr sz="1800" b="1" spc="-39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ha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dirty="0">
                <a:latin typeface="Calibri"/>
                <a:cs typeface="Calibri"/>
              </a:rPr>
              <a:t>h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abl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9431" y="3404860"/>
            <a:ext cx="6096000" cy="3361054"/>
          </a:xfrm>
          <a:prstGeom prst="rect">
            <a:avLst/>
          </a:prstGeom>
          <a:ln w="9534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1440" marR="116839">
              <a:lnSpc>
                <a:spcPct val="118100"/>
              </a:lnSpc>
              <a:spcBef>
                <a:spcPts val="16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Chaining:</a:t>
            </a:r>
            <a:r>
              <a:rPr sz="1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idea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to</a:t>
            </a:r>
            <a:r>
              <a:rPr sz="1800" b="1" spc="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make</a:t>
            </a:r>
            <a:r>
              <a:rPr sz="1800" b="1" spc="-12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each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cell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 </a:t>
            </a:r>
            <a:r>
              <a:rPr sz="1800" b="1" spc="10" dirty="0">
                <a:latin typeface="Calibri"/>
                <a:cs typeface="Calibri"/>
              </a:rPr>
              <a:t>hash</a:t>
            </a:r>
            <a:r>
              <a:rPr sz="1800" b="1" spc="-10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table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point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to</a:t>
            </a:r>
            <a:r>
              <a:rPr sz="1800" b="1" spc="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 </a:t>
            </a:r>
            <a:r>
              <a:rPr sz="1800" b="1" spc="-390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lin</a:t>
            </a:r>
            <a:r>
              <a:rPr sz="1800" b="1" spc="-40" dirty="0">
                <a:latin typeface="Calibri"/>
                <a:cs typeface="Calibri"/>
              </a:rPr>
              <a:t>k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li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spc="-1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b="1" spc="3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co</a:t>
            </a:r>
            <a:r>
              <a:rPr sz="1800" b="1" spc="30" dirty="0">
                <a:latin typeface="Calibri"/>
                <a:cs typeface="Calibri"/>
              </a:rPr>
              <a:t>r</a:t>
            </a:r>
            <a:r>
              <a:rPr sz="1800" b="1" spc="5" dirty="0">
                <a:latin typeface="Calibri"/>
                <a:cs typeface="Calibri"/>
              </a:rPr>
              <a:t>d</a:t>
            </a:r>
            <a:r>
              <a:rPr sz="1800" b="1" dirty="0">
                <a:latin typeface="Calibri"/>
                <a:cs typeface="Calibri"/>
              </a:rPr>
              <a:t>s</a:t>
            </a:r>
            <a:r>
              <a:rPr sz="1800" spc="-20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ha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ha</a:t>
            </a:r>
            <a:r>
              <a:rPr sz="1800" b="1" spc="-30" dirty="0">
                <a:latin typeface="Calibri"/>
                <a:cs typeface="Calibri"/>
              </a:rPr>
              <a:t>v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spc="5" dirty="0">
                <a:latin typeface="Calibri"/>
                <a:cs typeface="Calibri"/>
              </a:rPr>
              <a:t>a</a:t>
            </a:r>
            <a:r>
              <a:rPr sz="1800" b="1" spc="30" dirty="0">
                <a:latin typeface="Calibri"/>
                <a:cs typeface="Calibri"/>
              </a:rPr>
              <a:t>m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16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ha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dirty="0">
                <a:latin typeface="Calibri"/>
                <a:cs typeface="Calibri"/>
              </a:rPr>
              <a:t>h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libri"/>
                <a:cs typeface="Calibri"/>
              </a:rPr>
              <a:t>f</a:t>
            </a:r>
            <a:r>
              <a:rPr sz="1800" b="1" spc="5" dirty="0">
                <a:latin typeface="Calibri"/>
                <a:cs typeface="Calibri"/>
              </a:rPr>
              <a:t>un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30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i</a:t>
            </a:r>
            <a:r>
              <a:rPr sz="1800" b="1" dirty="0">
                <a:latin typeface="Calibri"/>
                <a:cs typeface="Calibri"/>
              </a:rPr>
              <a:t>on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v</a:t>
            </a:r>
            <a:r>
              <a:rPr sz="1800" b="1" spc="5" dirty="0">
                <a:latin typeface="Calibri"/>
                <a:cs typeface="Calibri"/>
              </a:rPr>
              <a:t>alu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  <a:p>
            <a:pPr marL="91440" marR="412750">
              <a:lnSpc>
                <a:spcPct val="121700"/>
              </a:lnSpc>
            </a:pPr>
            <a:r>
              <a:rPr sz="1800" b="1" spc="5" dirty="0">
                <a:latin typeface="Calibri"/>
                <a:cs typeface="Calibri"/>
              </a:rPr>
              <a:t>Chaining</a:t>
            </a:r>
            <a:r>
              <a:rPr sz="1800" b="1" spc="-1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 </a:t>
            </a:r>
            <a:r>
              <a:rPr sz="1800" b="1" spc="5" dirty="0">
                <a:latin typeface="Calibri"/>
                <a:cs typeface="Calibri"/>
              </a:rPr>
              <a:t>simple,</a:t>
            </a:r>
            <a:r>
              <a:rPr sz="1800" b="1" spc="-114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but</a:t>
            </a:r>
            <a:r>
              <a:rPr sz="1800" b="1" spc="20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requires</a:t>
            </a:r>
            <a:r>
              <a:rPr sz="1800" b="1" spc="-1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additional</a:t>
            </a:r>
            <a:r>
              <a:rPr sz="1800" b="1" spc="-95" dirty="0">
                <a:latin typeface="Calibri"/>
                <a:cs typeface="Calibri"/>
              </a:rPr>
              <a:t> </a:t>
            </a:r>
            <a:r>
              <a:rPr sz="1800" b="1" spc="15" dirty="0">
                <a:latin typeface="Calibri"/>
                <a:cs typeface="Calibri"/>
              </a:rPr>
              <a:t>memory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outside </a:t>
            </a:r>
            <a:r>
              <a:rPr sz="1800" b="1" spc="-39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the</a:t>
            </a:r>
            <a:r>
              <a:rPr sz="1800" b="1" spc="3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table.</a:t>
            </a:r>
            <a:endParaRPr sz="18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395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Open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5" dirty="0">
                <a:solidFill>
                  <a:srgbClr val="FF0000"/>
                </a:solidFill>
                <a:latin typeface="Calibri"/>
                <a:cs typeface="Calibri"/>
              </a:rPr>
              <a:t>Addressing:</a:t>
            </a:r>
            <a:r>
              <a:rPr sz="1800" b="1" spc="-1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all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elements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10" dirty="0">
                <a:latin typeface="Calibri"/>
                <a:cs typeface="Calibri"/>
              </a:rPr>
              <a:t>are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stored</a:t>
            </a:r>
            <a:r>
              <a:rPr sz="1800" b="1" spc="-1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</a:t>
            </a:r>
            <a:r>
              <a:rPr sz="1800" b="1" spc="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the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10" dirty="0">
                <a:latin typeface="Calibri"/>
                <a:cs typeface="Calibri"/>
              </a:rPr>
              <a:t>hash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table</a:t>
            </a:r>
            <a:endParaRPr sz="18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465"/>
              </a:spcBef>
            </a:pPr>
            <a:r>
              <a:rPr sz="1800" b="1" spc="-10" dirty="0">
                <a:latin typeface="Calibri"/>
                <a:cs typeface="Calibri"/>
              </a:rPr>
              <a:t>itself.</a:t>
            </a:r>
            <a:endParaRPr sz="1800" dirty="0">
              <a:latin typeface="Calibri"/>
              <a:cs typeface="Calibri"/>
            </a:endParaRPr>
          </a:p>
          <a:p>
            <a:pPr marL="549275" indent="-45847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49275" algn="l"/>
                <a:tab pos="549910" algn="l"/>
              </a:tabLst>
            </a:pPr>
            <a:r>
              <a:rPr sz="1800" b="1" spc="-15" dirty="0">
                <a:latin typeface="Calibri"/>
                <a:cs typeface="Calibri"/>
              </a:rPr>
              <a:t>L</a:t>
            </a:r>
            <a:r>
              <a:rPr sz="1800" b="1" spc="5" dirty="0">
                <a:latin typeface="Calibri"/>
                <a:cs typeface="Calibri"/>
              </a:rPr>
              <a:t>in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5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b="1" spc="10" dirty="0">
                <a:latin typeface="Calibri"/>
                <a:cs typeface="Calibri"/>
              </a:rPr>
              <a:t>P</a:t>
            </a:r>
            <a:r>
              <a:rPr sz="1800" b="1" spc="30" dirty="0">
                <a:latin typeface="Calibri"/>
                <a:cs typeface="Calibri"/>
              </a:rPr>
              <a:t>r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10" dirty="0">
                <a:latin typeface="Calibri"/>
                <a:cs typeface="Calibri"/>
              </a:rPr>
              <a:t>b</a:t>
            </a:r>
            <a:r>
              <a:rPr sz="1800" b="1" spc="5" dirty="0">
                <a:latin typeface="Calibri"/>
                <a:cs typeface="Calibri"/>
              </a:rPr>
              <a:t>in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spc="-1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b="1" spc="30" dirty="0">
                <a:latin typeface="Calibri"/>
                <a:cs typeface="Calibri"/>
              </a:rPr>
              <a:t>A</a:t>
            </a:r>
            <a:r>
              <a:rPr sz="1800" b="1" spc="5" dirty="0">
                <a:latin typeface="Calibri"/>
                <a:cs typeface="Calibri"/>
              </a:rPr>
              <a:t>d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i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i</a:t>
            </a:r>
            <a:r>
              <a:rPr sz="1800" b="1" dirty="0">
                <a:latin typeface="Calibri"/>
                <a:cs typeface="Calibri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n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x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p</a:t>
            </a:r>
            <a:r>
              <a:rPr sz="1800" b="1" spc="30" dirty="0">
                <a:latin typeface="Calibri"/>
                <a:cs typeface="Calibri"/>
              </a:rPr>
              <a:t>r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10" dirty="0">
                <a:latin typeface="Calibri"/>
                <a:cs typeface="Calibri"/>
              </a:rPr>
              <a:t>b</a:t>
            </a:r>
            <a:r>
              <a:rPr sz="1800" b="1" dirty="0">
                <a:latin typeface="Calibri"/>
                <a:cs typeface="Calibri"/>
              </a:rPr>
              <a:t>e</a:t>
            </a:r>
            <a:endParaRPr sz="1800" dirty="0">
              <a:latin typeface="Calibri"/>
              <a:cs typeface="Calibri"/>
            </a:endParaRPr>
          </a:p>
          <a:p>
            <a:pPr marL="549275" indent="-458470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549275" algn="l"/>
                <a:tab pos="549910" algn="l"/>
              </a:tabLst>
            </a:pPr>
            <a:r>
              <a:rPr sz="1800" b="1" spc="-40" dirty="0">
                <a:latin typeface="Calibri"/>
                <a:cs typeface="Calibri"/>
              </a:rPr>
              <a:t>Q</a:t>
            </a:r>
            <a:r>
              <a:rPr sz="1800" b="1" spc="5" dirty="0">
                <a:latin typeface="Calibri"/>
                <a:cs typeface="Calibri"/>
              </a:rPr>
              <a:t>uad</a:t>
            </a:r>
            <a:r>
              <a:rPr sz="1800" b="1" spc="-45" dirty="0">
                <a:latin typeface="Calibri"/>
                <a:cs typeface="Calibri"/>
              </a:rPr>
              <a:t>r</a:t>
            </a:r>
            <a:r>
              <a:rPr sz="1800" b="1" spc="5" dirty="0">
                <a:latin typeface="Calibri"/>
                <a:cs typeface="Calibri"/>
              </a:rPr>
              <a:t>a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i</a:t>
            </a:r>
            <a:r>
              <a:rPr sz="1800" b="1" dirty="0">
                <a:latin typeface="Calibri"/>
                <a:cs typeface="Calibri"/>
              </a:rPr>
              <a:t>c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b="1" spc="10" dirty="0">
                <a:latin typeface="Calibri"/>
                <a:cs typeface="Calibri"/>
              </a:rPr>
              <a:t>P</a:t>
            </a:r>
            <a:r>
              <a:rPr sz="1800" b="1" spc="30" dirty="0">
                <a:latin typeface="Calibri"/>
                <a:cs typeface="Calibri"/>
              </a:rPr>
              <a:t>r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10" dirty="0">
                <a:latin typeface="Calibri"/>
                <a:cs typeface="Calibri"/>
              </a:rPr>
              <a:t>b</a:t>
            </a:r>
            <a:r>
              <a:rPr sz="1800" b="1" spc="5" dirty="0">
                <a:latin typeface="Calibri"/>
                <a:cs typeface="Calibri"/>
              </a:rPr>
              <a:t>in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spc="-1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b="1" spc="30" dirty="0">
                <a:latin typeface="Calibri"/>
                <a:cs typeface="Calibri"/>
              </a:rPr>
              <a:t>A</a:t>
            </a:r>
            <a:r>
              <a:rPr sz="1800" b="1" spc="5" dirty="0">
                <a:latin typeface="Calibri"/>
                <a:cs typeface="Calibri"/>
              </a:rPr>
              <a:t>d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i</a:t>
            </a:r>
            <a:r>
              <a:rPr sz="1800" b="1" spc="-5" dirty="0">
                <a:latin typeface="Calibri"/>
                <a:cs typeface="Calibri"/>
              </a:rPr>
              <a:t>^</a:t>
            </a:r>
            <a:r>
              <a:rPr sz="1800" b="1" dirty="0">
                <a:latin typeface="Calibri"/>
                <a:cs typeface="Calibri"/>
              </a:rPr>
              <a:t>2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i</a:t>
            </a:r>
            <a:r>
              <a:rPr sz="1800" b="1" dirty="0">
                <a:latin typeface="Calibri"/>
                <a:cs typeface="Calibri"/>
              </a:rPr>
              <a:t>n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n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x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p</a:t>
            </a:r>
            <a:r>
              <a:rPr sz="1800" b="1" spc="30" dirty="0">
                <a:latin typeface="Calibri"/>
                <a:cs typeface="Calibri"/>
              </a:rPr>
              <a:t>r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10" dirty="0">
                <a:latin typeface="Calibri"/>
                <a:cs typeface="Calibri"/>
              </a:rPr>
              <a:t>b</a:t>
            </a:r>
            <a:r>
              <a:rPr sz="1800" b="1" dirty="0">
                <a:latin typeface="Calibri"/>
                <a:cs typeface="Calibri"/>
              </a:rPr>
              <a:t>e</a:t>
            </a:r>
            <a:endParaRPr sz="1800" dirty="0">
              <a:latin typeface="Calibri"/>
              <a:cs typeface="Calibri"/>
            </a:endParaRPr>
          </a:p>
          <a:p>
            <a:pPr marL="91440" marR="1797050">
              <a:lnSpc>
                <a:spcPct val="111300"/>
              </a:lnSpc>
              <a:spcBef>
                <a:spcPts val="145"/>
              </a:spcBef>
              <a:buAutoNum type="arabicPeriod"/>
              <a:tabLst>
                <a:tab pos="549275" algn="l"/>
                <a:tab pos="549910" algn="l"/>
              </a:tabLst>
            </a:pPr>
            <a:r>
              <a:rPr sz="1800" b="1" spc="-15" dirty="0">
                <a:latin typeface="Calibri"/>
                <a:cs typeface="Calibri"/>
              </a:rPr>
              <a:t>D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10" dirty="0">
                <a:latin typeface="Calibri"/>
                <a:cs typeface="Calibri"/>
              </a:rPr>
              <a:t>u</a:t>
            </a:r>
            <a:r>
              <a:rPr sz="1800" b="1" spc="5" dirty="0">
                <a:latin typeface="Calibri"/>
                <a:cs typeface="Calibri"/>
              </a:rPr>
              <a:t>bl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H</a:t>
            </a:r>
            <a:r>
              <a:rPr sz="1800" b="1" spc="5" dirty="0">
                <a:latin typeface="Calibri"/>
                <a:cs typeface="Calibri"/>
              </a:rPr>
              <a:t>a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spc="5" dirty="0">
                <a:latin typeface="Calibri"/>
                <a:cs typeface="Calibri"/>
              </a:rPr>
              <a:t>hin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libri"/>
                <a:cs typeface="Calibri"/>
              </a:rPr>
              <a:t>U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2</a:t>
            </a:r>
            <a:r>
              <a:rPr sz="1800" b="1" spc="37" baseline="25462" dirty="0">
                <a:latin typeface="Calibri"/>
                <a:cs typeface="Calibri"/>
              </a:rPr>
              <a:t>n</a:t>
            </a:r>
            <a:r>
              <a:rPr sz="1800" b="1" baseline="25462" dirty="0">
                <a:latin typeface="Calibri"/>
                <a:cs typeface="Calibri"/>
              </a:rPr>
              <a:t>d</a:t>
            </a:r>
            <a:r>
              <a:rPr sz="1800" spc="157" baseline="25462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ha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dirty="0">
                <a:latin typeface="Calibri"/>
                <a:cs typeface="Calibri"/>
              </a:rPr>
              <a:t>h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libri"/>
                <a:cs typeface="Calibri"/>
              </a:rPr>
              <a:t>f</a:t>
            </a:r>
            <a:r>
              <a:rPr sz="1800" b="1" spc="5" dirty="0">
                <a:latin typeface="Calibri"/>
                <a:cs typeface="Calibri"/>
              </a:rPr>
              <a:t>un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30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i</a:t>
            </a:r>
            <a:r>
              <a:rPr sz="1800" b="1" dirty="0">
                <a:latin typeface="Calibri"/>
                <a:cs typeface="Calibri"/>
              </a:rPr>
              <a:t>on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Hash2(Key)</a:t>
            </a:r>
            <a:r>
              <a:rPr sz="1800" b="1" dirty="0">
                <a:latin typeface="Calibri"/>
                <a:cs typeface="Calibri"/>
              </a:rPr>
              <a:t> =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–</a:t>
            </a:r>
            <a:r>
              <a:rPr sz="1800" b="1" spc="4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(Key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%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20" dirty="0">
                <a:latin typeface="Calibri"/>
                <a:cs typeface="Calibri"/>
              </a:rPr>
              <a:t>R)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6930" y="620262"/>
            <a:ext cx="5958840" cy="218313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3810">
              <a:lnSpc>
                <a:spcPts val="2105"/>
              </a:lnSpc>
            </a:pPr>
            <a:r>
              <a:rPr sz="1800" b="1" spc="15" dirty="0">
                <a:latin typeface="Calibri"/>
                <a:cs typeface="Calibri"/>
              </a:rPr>
              <a:t>P</a:t>
            </a:r>
            <a:r>
              <a:rPr sz="1800" b="1" spc="20" dirty="0">
                <a:latin typeface="Calibri"/>
                <a:cs typeface="Calibri"/>
              </a:rPr>
              <a:t>E</a:t>
            </a:r>
            <a:r>
              <a:rPr sz="1800" b="1" spc="35" dirty="0">
                <a:latin typeface="Calibri"/>
                <a:cs typeface="Calibri"/>
              </a:rPr>
              <a:t>R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35" dirty="0">
                <a:latin typeface="Calibri"/>
                <a:cs typeface="Calibri"/>
              </a:rPr>
              <a:t>R</a:t>
            </a:r>
            <a:r>
              <a:rPr sz="1800" b="1" dirty="0">
                <a:latin typeface="Calibri"/>
                <a:cs typeface="Calibri"/>
              </a:rPr>
              <a:t>M</a:t>
            </a:r>
            <a:r>
              <a:rPr sz="1800" b="1" spc="35" dirty="0">
                <a:latin typeface="Calibri"/>
                <a:cs typeface="Calibri"/>
              </a:rPr>
              <a:t>A</a:t>
            </a:r>
            <a:r>
              <a:rPr sz="1800" b="1" spc="10" dirty="0">
                <a:latin typeface="Calibri"/>
                <a:cs typeface="Calibri"/>
              </a:rPr>
              <a:t>N</a:t>
            </a:r>
            <a:r>
              <a:rPr sz="1800" b="1" spc="20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204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H</a:t>
            </a:r>
            <a:r>
              <a:rPr sz="1800" b="1" spc="30" dirty="0">
                <a:latin typeface="Calibri"/>
                <a:cs typeface="Calibri"/>
              </a:rPr>
              <a:t>A</a:t>
            </a:r>
            <a:r>
              <a:rPr sz="1800" b="1" spc="-30" dirty="0">
                <a:latin typeface="Calibri"/>
                <a:cs typeface="Calibri"/>
              </a:rPr>
              <a:t>I</a:t>
            </a:r>
            <a:r>
              <a:rPr sz="1800" b="1" spc="10" dirty="0">
                <a:latin typeface="Calibri"/>
                <a:cs typeface="Calibri"/>
              </a:rPr>
              <a:t>N</a:t>
            </a:r>
            <a:r>
              <a:rPr sz="1800" b="1" spc="-30" dirty="0">
                <a:latin typeface="Calibri"/>
                <a:cs typeface="Calibri"/>
              </a:rPr>
              <a:t>I</a:t>
            </a:r>
            <a:r>
              <a:rPr sz="1800" b="1" spc="1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G</a:t>
            </a:r>
            <a:endParaRPr sz="1800" dirty="0">
              <a:latin typeface="Calibri"/>
              <a:cs typeface="Calibri"/>
            </a:endParaRPr>
          </a:p>
          <a:p>
            <a:pPr marL="381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Calibri"/>
                <a:cs typeface="Calibri"/>
              </a:rPr>
              <a:t>m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Number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slots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10" dirty="0">
                <a:latin typeface="Calibri"/>
                <a:cs typeface="Calibri"/>
              </a:rPr>
              <a:t>hash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table</a:t>
            </a:r>
            <a:endParaRPr sz="1800" dirty="0">
              <a:latin typeface="Calibri"/>
              <a:cs typeface="Calibri"/>
            </a:endParaRPr>
          </a:p>
          <a:p>
            <a:pPr marL="3810">
              <a:lnSpc>
                <a:spcPct val="100000"/>
              </a:lnSpc>
              <a:spcBef>
                <a:spcPts val="20"/>
              </a:spcBef>
            </a:pPr>
            <a:r>
              <a:rPr sz="1800" b="1" dirty="0">
                <a:latin typeface="Calibri"/>
                <a:cs typeface="Calibri"/>
              </a:rPr>
              <a:t>n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Number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keys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to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inserted</a:t>
            </a:r>
            <a:r>
              <a:rPr sz="1800" b="1" spc="-1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</a:t>
            </a:r>
            <a:r>
              <a:rPr sz="1800" b="1" spc="50" dirty="0">
                <a:latin typeface="Calibri"/>
                <a:cs typeface="Calibri"/>
              </a:rPr>
              <a:t> </a:t>
            </a:r>
            <a:r>
              <a:rPr sz="1800" b="1" spc="10" dirty="0">
                <a:latin typeface="Calibri"/>
                <a:cs typeface="Calibri"/>
              </a:rPr>
              <a:t>hash</a:t>
            </a:r>
            <a:r>
              <a:rPr sz="1800" b="1" spc="-1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table</a:t>
            </a:r>
            <a:endParaRPr sz="1800" dirty="0">
              <a:latin typeface="Calibri"/>
              <a:cs typeface="Calibri"/>
            </a:endParaRPr>
          </a:p>
          <a:p>
            <a:pPr marL="381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Calibri"/>
                <a:cs typeface="Calibri"/>
              </a:rPr>
              <a:t>Load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factor</a:t>
            </a:r>
            <a:r>
              <a:rPr sz="1800" b="1" spc="-9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α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n/m</a:t>
            </a:r>
            <a:endParaRPr sz="1800" dirty="0">
              <a:latin typeface="Calibri"/>
              <a:cs typeface="Calibri"/>
            </a:endParaRPr>
          </a:p>
          <a:p>
            <a:pPr marL="3810">
              <a:lnSpc>
                <a:spcPts val="2130"/>
              </a:lnSpc>
              <a:spcBef>
                <a:spcPts val="20"/>
              </a:spcBef>
            </a:pPr>
            <a:r>
              <a:rPr sz="1800" b="1" spc="20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x</a:t>
            </a:r>
            <a:r>
              <a:rPr sz="1800" b="1" spc="5" dirty="0">
                <a:latin typeface="Calibri"/>
                <a:cs typeface="Calibri"/>
              </a:rPr>
              <a:t>p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spc="-10" dirty="0">
                <a:latin typeface="Calibri"/>
                <a:cs typeface="Calibri"/>
              </a:rPr>
              <a:t>c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i</a:t>
            </a:r>
            <a:r>
              <a:rPr sz="1800" b="1" spc="35" dirty="0">
                <a:latin typeface="Calibri"/>
                <a:cs typeface="Calibri"/>
              </a:rPr>
              <a:t>m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30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h</a:t>
            </a:r>
            <a:r>
              <a:rPr sz="1800" b="1" spc="-1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(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+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α</a:t>
            </a:r>
            <a:r>
              <a:rPr sz="1800" b="1" dirty="0">
                <a:latin typeface="Calibri"/>
                <a:cs typeface="Calibri"/>
              </a:rPr>
              <a:t>)</a:t>
            </a:r>
            <a:endParaRPr sz="1800" dirty="0">
              <a:latin typeface="Calibri"/>
              <a:cs typeface="Calibri"/>
            </a:endParaRPr>
          </a:p>
          <a:p>
            <a:pPr marL="3810">
              <a:lnSpc>
                <a:spcPts val="2130"/>
              </a:lnSpc>
            </a:pPr>
            <a:r>
              <a:rPr sz="1800" b="1" spc="-5" dirty="0">
                <a:latin typeface="Calibri"/>
                <a:cs typeface="Calibri"/>
              </a:rPr>
              <a:t>Expected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to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insert/delete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O(1</a:t>
            </a:r>
            <a:r>
              <a:rPr sz="1800" b="1" spc="10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+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α)</a:t>
            </a:r>
            <a:endParaRPr sz="1800" dirty="0">
              <a:latin typeface="Calibri"/>
              <a:cs typeface="Calibri"/>
            </a:endParaRPr>
          </a:p>
          <a:p>
            <a:pPr marL="3810">
              <a:lnSpc>
                <a:spcPct val="100000"/>
              </a:lnSpc>
              <a:spcBef>
                <a:spcPts val="994"/>
              </a:spcBef>
            </a:pPr>
            <a:r>
              <a:rPr sz="1800" b="1" spc="10" dirty="0">
                <a:latin typeface="Calibri"/>
                <a:cs typeface="Calibri"/>
              </a:rPr>
              <a:t>Time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complexity</a:t>
            </a:r>
            <a:r>
              <a:rPr sz="1800" b="1" spc="-1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search</a:t>
            </a:r>
            <a:r>
              <a:rPr sz="1800" b="1" spc="-105" dirty="0">
                <a:latin typeface="Calibri"/>
                <a:cs typeface="Calibri"/>
              </a:rPr>
              <a:t> </a:t>
            </a:r>
            <a:r>
              <a:rPr sz="1800" b="1" spc="10" dirty="0">
                <a:latin typeface="Calibri"/>
                <a:cs typeface="Calibri"/>
              </a:rPr>
              <a:t>insert</a:t>
            </a:r>
            <a:r>
              <a:rPr sz="1800" b="1" spc="-130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and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delete</a:t>
            </a:r>
            <a:r>
              <a:rPr sz="1800" b="1" spc="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O(1)</a:t>
            </a:r>
            <a:r>
              <a:rPr sz="1800" b="1" spc="8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if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α</a:t>
            </a:r>
            <a:r>
              <a:rPr sz="1800" b="1" spc="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 </a:t>
            </a:r>
            <a:r>
              <a:rPr sz="1800" b="1" spc="-20" dirty="0">
                <a:latin typeface="Calibri"/>
                <a:cs typeface="Calibri"/>
              </a:rPr>
              <a:t>O(1)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82958" y="3012698"/>
            <a:ext cx="4973320" cy="1354455"/>
          </a:xfrm>
          <a:prstGeom prst="rect">
            <a:avLst/>
          </a:prstGeom>
          <a:solidFill>
            <a:srgbClr val="A8D18D"/>
          </a:solidFill>
        </p:spPr>
        <p:txBody>
          <a:bodyPr vert="horz" wrap="square" lIns="0" tIns="28575" rIns="0" bIns="0" rtlCol="0">
            <a:spAutoFit/>
          </a:bodyPr>
          <a:lstStyle/>
          <a:p>
            <a:pPr marL="96520" marR="1376680">
              <a:lnSpc>
                <a:spcPct val="100800"/>
              </a:lnSpc>
              <a:spcBef>
                <a:spcPts val="225"/>
              </a:spcBef>
            </a:pPr>
            <a:r>
              <a:rPr sz="1800" b="1" spc="15" dirty="0">
                <a:latin typeface="Calibri"/>
                <a:cs typeface="Calibri"/>
              </a:rPr>
              <a:t>P</a:t>
            </a:r>
            <a:r>
              <a:rPr sz="1800" b="1" spc="20" dirty="0">
                <a:latin typeface="Calibri"/>
                <a:cs typeface="Calibri"/>
              </a:rPr>
              <a:t>E</a:t>
            </a:r>
            <a:r>
              <a:rPr sz="1800" b="1" spc="35" dirty="0">
                <a:latin typeface="Calibri"/>
                <a:cs typeface="Calibri"/>
              </a:rPr>
              <a:t>R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35" dirty="0">
                <a:latin typeface="Calibri"/>
                <a:cs typeface="Calibri"/>
              </a:rPr>
              <a:t>R</a:t>
            </a:r>
            <a:r>
              <a:rPr sz="1800" b="1" dirty="0">
                <a:latin typeface="Calibri"/>
                <a:cs typeface="Calibri"/>
              </a:rPr>
              <a:t>M</a:t>
            </a:r>
            <a:r>
              <a:rPr sz="1800" b="1" spc="35" dirty="0">
                <a:latin typeface="Calibri"/>
                <a:cs typeface="Calibri"/>
              </a:rPr>
              <a:t>A</a:t>
            </a:r>
            <a:r>
              <a:rPr sz="1800" b="1" spc="10" dirty="0">
                <a:latin typeface="Calibri"/>
                <a:cs typeface="Calibri"/>
              </a:rPr>
              <a:t>N</a:t>
            </a:r>
            <a:r>
              <a:rPr sz="1800" b="1" spc="20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204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15" dirty="0">
                <a:latin typeface="Calibri"/>
                <a:cs typeface="Calibri"/>
              </a:rPr>
              <a:t>P</a:t>
            </a:r>
            <a:r>
              <a:rPr sz="1800" b="1" spc="2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N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b="1" spc="30" dirty="0">
                <a:latin typeface="Calibri"/>
                <a:cs typeface="Calibri"/>
              </a:rPr>
              <a:t>A</a:t>
            </a:r>
            <a:r>
              <a:rPr sz="1800" b="1" spc="5" dirty="0">
                <a:latin typeface="Calibri"/>
                <a:cs typeface="Calibri"/>
              </a:rPr>
              <a:t>dd</a:t>
            </a:r>
            <a:r>
              <a:rPr sz="1800" b="1" spc="30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spc="20" dirty="0">
                <a:latin typeface="Calibri"/>
                <a:cs typeface="Calibri"/>
              </a:rPr>
              <a:t>s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spc="5" dirty="0">
                <a:latin typeface="Calibri"/>
                <a:cs typeface="Calibri"/>
              </a:rPr>
              <a:t>in</a:t>
            </a:r>
            <a:r>
              <a:rPr sz="1800" b="1" dirty="0">
                <a:latin typeface="Calibri"/>
                <a:cs typeface="Calibri"/>
              </a:rPr>
              <a:t>g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Load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factor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α</a:t>
            </a:r>
            <a:r>
              <a:rPr sz="1800" b="1" spc="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n/m</a:t>
            </a:r>
            <a:r>
              <a:rPr sz="1800" b="1" spc="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&lt;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)</a:t>
            </a:r>
            <a:endParaRPr sz="1800" dirty="0">
              <a:latin typeface="Calibri"/>
              <a:cs typeface="Calibri"/>
            </a:endParaRPr>
          </a:p>
          <a:p>
            <a:pPr marL="96520">
              <a:lnSpc>
                <a:spcPct val="100000"/>
              </a:lnSpc>
              <a:spcBef>
                <a:spcPts val="20"/>
              </a:spcBef>
            </a:pPr>
            <a:r>
              <a:rPr sz="1800" b="1" spc="20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x</a:t>
            </a:r>
            <a:r>
              <a:rPr sz="1800" b="1" spc="5" dirty="0">
                <a:latin typeface="Calibri"/>
                <a:cs typeface="Calibri"/>
              </a:rPr>
              <a:t>p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spc="-10" dirty="0">
                <a:latin typeface="Calibri"/>
                <a:cs typeface="Calibri"/>
              </a:rPr>
              <a:t>c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i</a:t>
            </a:r>
            <a:r>
              <a:rPr sz="1800" b="1" spc="35" dirty="0">
                <a:latin typeface="Calibri"/>
                <a:cs typeface="Calibri"/>
              </a:rPr>
              <a:t>m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30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h</a:t>
            </a:r>
            <a:r>
              <a:rPr sz="1800" b="1" spc="-25" dirty="0">
                <a:latin typeface="Calibri"/>
                <a:cs typeface="Calibri"/>
              </a:rPr>
              <a:t>/</a:t>
            </a:r>
            <a:r>
              <a:rPr sz="1800" b="1" spc="5" dirty="0">
                <a:latin typeface="Calibri"/>
                <a:cs typeface="Calibri"/>
              </a:rPr>
              <a:t>in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spc="25" dirty="0">
                <a:latin typeface="Calibri"/>
                <a:cs typeface="Calibri"/>
              </a:rPr>
              <a:t>r</a:t>
            </a:r>
            <a:r>
              <a:rPr sz="1800" b="1" spc="-25" dirty="0">
                <a:latin typeface="Calibri"/>
                <a:cs typeface="Calibri"/>
              </a:rPr>
              <a:t>t/</a:t>
            </a:r>
            <a:r>
              <a:rPr sz="1800" b="1" spc="5" dirty="0">
                <a:latin typeface="Calibri"/>
                <a:cs typeface="Calibri"/>
              </a:rPr>
              <a:t>d</a:t>
            </a:r>
            <a:r>
              <a:rPr sz="1800" b="1" spc="-5" dirty="0">
                <a:latin typeface="Calibri"/>
                <a:cs typeface="Calibri"/>
              </a:rPr>
              <a:t>ele</a:t>
            </a:r>
            <a:r>
              <a:rPr sz="1800" b="1" spc="-30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1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&lt;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1</a:t>
            </a:r>
            <a:r>
              <a:rPr sz="1800" b="1" spc="-25" dirty="0">
                <a:latin typeface="Calibri"/>
                <a:cs typeface="Calibri"/>
              </a:rPr>
              <a:t>/</a:t>
            </a:r>
            <a:r>
              <a:rPr sz="1800" b="1" spc="-40" dirty="0">
                <a:latin typeface="Calibri"/>
                <a:cs typeface="Calibri"/>
              </a:rPr>
              <a:t>(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-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α</a:t>
            </a:r>
            <a:r>
              <a:rPr sz="1800" b="1" dirty="0">
                <a:latin typeface="Calibri"/>
                <a:cs typeface="Calibri"/>
              </a:rPr>
              <a:t>)</a:t>
            </a:r>
            <a:endParaRPr sz="1800" dirty="0">
              <a:latin typeface="Calibri"/>
              <a:cs typeface="Calibri"/>
            </a:endParaRPr>
          </a:p>
          <a:p>
            <a:pPr marL="96520">
              <a:lnSpc>
                <a:spcPct val="100000"/>
              </a:lnSpc>
              <a:spcBef>
                <a:spcPts val="920"/>
              </a:spcBef>
            </a:pPr>
            <a:r>
              <a:rPr sz="1800" b="1" spc="-15" dirty="0">
                <a:latin typeface="Calibri"/>
                <a:cs typeface="Calibri"/>
              </a:rPr>
              <a:t>So</a:t>
            </a:r>
            <a:r>
              <a:rPr sz="1800" b="1" spc="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Search,</a:t>
            </a:r>
            <a:r>
              <a:rPr sz="1800" b="1" spc="-1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Insert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and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Delete</a:t>
            </a:r>
            <a:r>
              <a:rPr sz="1800" b="1" spc="35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take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(1/(1</a:t>
            </a:r>
            <a:r>
              <a:rPr sz="1800" b="1" spc="1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-</a:t>
            </a:r>
            <a:r>
              <a:rPr sz="1800" b="1" spc="2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α))</a:t>
            </a:r>
            <a:r>
              <a:rPr sz="1800" b="1" spc="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time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54636" y="4900671"/>
            <a:ext cx="4697095" cy="1108075"/>
          </a:xfrm>
          <a:prstGeom prst="rect">
            <a:avLst/>
          </a:prstGeom>
          <a:ln w="953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6520">
              <a:lnSpc>
                <a:spcPts val="7890"/>
              </a:lnSpc>
            </a:pPr>
            <a:r>
              <a:rPr sz="6600" b="1" spc="-20" dirty="0">
                <a:solidFill>
                  <a:srgbClr val="FF0000"/>
                </a:solidFill>
                <a:latin typeface="Calibri"/>
                <a:cs typeface="Calibri"/>
              </a:rPr>
              <a:t>DH</a:t>
            </a:r>
            <a:r>
              <a:rPr sz="66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6600" b="1" spc="5" dirty="0">
                <a:solidFill>
                  <a:srgbClr val="FF0000"/>
                </a:solidFill>
                <a:latin typeface="Calibri"/>
                <a:cs typeface="Calibri"/>
              </a:rPr>
              <a:t>&lt;</a:t>
            </a:r>
            <a:r>
              <a:rPr sz="66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6600" b="1" spc="-15" dirty="0">
                <a:solidFill>
                  <a:srgbClr val="FF0000"/>
                </a:solidFill>
                <a:latin typeface="Calibri"/>
                <a:cs typeface="Calibri"/>
              </a:rPr>
              <a:t>QP </a:t>
            </a:r>
            <a:r>
              <a:rPr sz="6600" b="1" spc="5" dirty="0">
                <a:solidFill>
                  <a:srgbClr val="FF0000"/>
                </a:solidFill>
                <a:latin typeface="Calibri"/>
                <a:cs typeface="Calibri"/>
              </a:rPr>
              <a:t>&lt;</a:t>
            </a:r>
            <a:r>
              <a:rPr sz="66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6600" b="1" dirty="0">
                <a:solidFill>
                  <a:srgbClr val="FF0000"/>
                </a:solidFill>
                <a:latin typeface="Calibri"/>
                <a:cs typeface="Calibri"/>
              </a:rPr>
              <a:t>LP</a:t>
            </a:r>
            <a:endParaRPr sz="6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48492" y="333380"/>
          <a:ext cx="11314430" cy="63073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7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7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750" b="1" dirty="0">
                          <a:latin typeface="Calibri"/>
                          <a:cs typeface="Calibri"/>
                        </a:rPr>
                        <a:t>Seperate</a:t>
                      </a:r>
                      <a:r>
                        <a:rPr sz="2750" b="1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b="1" spc="10" dirty="0">
                          <a:latin typeface="Calibri"/>
                          <a:cs typeface="Calibri"/>
                        </a:rPr>
                        <a:t>Chaining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750" b="1" spc="20" dirty="0">
                          <a:latin typeface="Calibri"/>
                          <a:cs typeface="Calibri"/>
                        </a:rPr>
                        <a:t>Open</a:t>
                      </a:r>
                      <a:r>
                        <a:rPr sz="275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50" b="1" spc="10" dirty="0">
                          <a:latin typeface="Calibri"/>
                          <a:cs typeface="Calibri"/>
                        </a:rPr>
                        <a:t>Addressing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931"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b="1" spc="1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hainin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800" spc="-1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pl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pl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dd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ss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800" spc="-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qui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3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co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pu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1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2124">
                <a:tc>
                  <a:txBody>
                    <a:bodyPr/>
                    <a:lstStyle/>
                    <a:p>
                      <a:pPr marL="53340" marR="307975">
                        <a:lnSpc>
                          <a:spcPct val="100800"/>
                        </a:lnSpc>
                        <a:spcBef>
                          <a:spcPts val="1125"/>
                        </a:spcBef>
                      </a:pPr>
                      <a:r>
                        <a:rPr sz="1800" b="1" spc="-1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b="1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chaining,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Hash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table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never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 fills</a:t>
                      </a:r>
                      <a:r>
                        <a:rPr sz="18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up,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we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always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add </a:t>
                      </a:r>
                      <a:r>
                        <a:rPr sz="1800" b="1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3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800" b="1" spc="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1800" b="1" spc="-1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b="1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open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addressing,</a:t>
                      </a:r>
                      <a:r>
                        <a:rPr sz="1800" b="1" spc="-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table</a:t>
                      </a:r>
                      <a:r>
                        <a:rPr sz="18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10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1800" b="1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become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full.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904">
                <a:tc>
                  <a:txBody>
                    <a:bodyPr/>
                    <a:lstStyle/>
                    <a:p>
                      <a:pPr marL="53340" marR="564515">
                        <a:lnSpc>
                          <a:spcPct val="100800"/>
                        </a:lnSpc>
                        <a:spcBef>
                          <a:spcPts val="860"/>
                        </a:spcBef>
                      </a:pPr>
                      <a:r>
                        <a:rPr sz="1800" b="1" spc="1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hainin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800" spc="-1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ha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800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un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factors.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marR="71120">
                        <a:lnSpc>
                          <a:spcPct val="100800"/>
                        </a:lnSpc>
                        <a:spcBef>
                          <a:spcPts val="86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Open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10" dirty="0">
                          <a:latin typeface="Calibri"/>
                          <a:cs typeface="Calibri"/>
                        </a:rPr>
                        <a:t>addressing</a:t>
                      </a:r>
                      <a:r>
                        <a:rPr sz="1800" b="1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requires</a:t>
                      </a:r>
                      <a:r>
                        <a:rPr sz="1800" b="1" spc="-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extra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care</a:t>
                      </a:r>
                      <a:r>
                        <a:rPr sz="1800" b="1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b="1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avoid</a:t>
                      </a:r>
                      <a:r>
                        <a:rPr sz="18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clustering </a:t>
                      </a:r>
                      <a:r>
                        <a:rPr sz="1800" b="1" spc="-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load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factor.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51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53340" marR="426720">
                        <a:lnSpc>
                          <a:spcPct val="100800"/>
                        </a:lnSpc>
                        <a:spcBef>
                          <a:spcPts val="5"/>
                        </a:spcBef>
                      </a:pPr>
                      <a:r>
                        <a:rPr sz="1800" b="1" spc="5" dirty="0">
                          <a:latin typeface="Calibri"/>
                          <a:cs typeface="Calibri"/>
                        </a:rPr>
                        <a:t>Chaining</a:t>
                      </a:r>
                      <a:r>
                        <a:rPr sz="1800" b="1" spc="-1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mostly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when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unknown</a:t>
                      </a:r>
                      <a:r>
                        <a:rPr sz="1800" b="1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how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10" dirty="0">
                          <a:latin typeface="Calibri"/>
                          <a:cs typeface="Calibri"/>
                        </a:rPr>
                        <a:t>many </a:t>
                      </a:r>
                      <a:r>
                        <a:rPr sz="1800" b="1" spc="-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how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frequently</a:t>
                      </a:r>
                      <a:r>
                        <a:rPr sz="1800" b="1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keys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10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inserted</a:t>
                      </a:r>
                      <a:r>
                        <a:rPr sz="18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deleted.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57150" marR="146050">
                        <a:lnSpc>
                          <a:spcPct val="100800"/>
                        </a:lnSpc>
                        <a:spcBef>
                          <a:spcPts val="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ss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800" spc="-1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wh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qu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800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nu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keys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known.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55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53340" marR="486409">
                        <a:lnSpc>
                          <a:spcPct val="1008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Cache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10" dirty="0"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1800" b="1" spc="-1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chaining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good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keys</a:t>
                      </a:r>
                      <a:r>
                        <a:rPr sz="18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10" dirty="0">
                          <a:latin typeface="Calibri"/>
                          <a:cs typeface="Calibri"/>
                        </a:rPr>
                        <a:t>are </a:t>
                      </a:r>
                      <a:r>
                        <a:rPr sz="1800" b="1" spc="-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3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800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lin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800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li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57150" marR="392430">
                        <a:lnSpc>
                          <a:spcPct val="100800"/>
                        </a:lnSpc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ss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800" spc="-1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id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tt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3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hin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3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abl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2837">
                <a:tc>
                  <a:txBody>
                    <a:bodyPr/>
                    <a:lstStyle/>
                    <a:p>
                      <a:pPr marL="53340" marR="378460">
                        <a:lnSpc>
                          <a:spcPct val="100800"/>
                        </a:lnSpc>
                        <a:spcBef>
                          <a:spcPts val="895"/>
                        </a:spcBef>
                      </a:pPr>
                      <a:r>
                        <a:rPr sz="1800" b="1" spc="-15" dirty="0">
                          <a:latin typeface="Calibri"/>
                          <a:cs typeface="Calibri"/>
                        </a:rPr>
                        <a:t>Wastage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Space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(Some</a:t>
                      </a:r>
                      <a:r>
                        <a:rPr sz="18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Parts</a:t>
                      </a:r>
                      <a:r>
                        <a:rPr sz="18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b="1" spc="10" dirty="0">
                          <a:latin typeface="Calibri"/>
                          <a:cs typeface="Calibri"/>
                        </a:rPr>
                        <a:t>hash</a:t>
                      </a:r>
                      <a:r>
                        <a:rPr sz="18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table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chaining </a:t>
                      </a:r>
                      <a:r>
                        <a:rPr sz="1800" b="1" spc="-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1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never</a:t>
                      </a:r>
                      <a:r>
                        <a:rPr sz="18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used).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36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800" b="1" spc="-3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ss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ot</a:t>
                      </a:r>
                      <a:r>
                        <a:rPr sz="18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inpu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t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doesn’t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10" dirty="0">
                          <a:latin typeface="Calibri"/>
                          <a:cs typeface="Calibri"/>
                        </a:rPr>
                        <a:t>map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it.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55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148"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800" b="1" spc="1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hainin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800" spc="-1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pa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lin</a:t>
                      </a:r>
                      <a:r>
                        <a:rPr sz="1800" b="1" spc="30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1800" b="1" spc="2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800" b="1" spc="5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10" dirty="0">
                          <a:latin typeface="Calibri"/>
                          <a:cs typeface="Calibri"/>
                        </a:rPr>
                        <a:t>links</a:t>
                      </a:r>
                      <a:r>
                        <a:rPr sz="1800" b="1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Open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10" dirty="0">
                          <a:latin typeface="Calibri"/>
                          <a:cs typeface="Calibri"/>
                        </a:rPr>
                        <a:t>addressing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29391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2290695"/>
            <a:ext cx="9184005" cy="2131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800" spc="-75" dirty="0">
                <a:solidFill>
                  <a:srgbClr val="000000"/>
                </a:solidFill>
              </a:rPr>
              <a:t>THANK</a:t>
            </a:r>
            <a:r>
              <a:rPr sz="13800" spc="-455" dirty="0">
                <a:solidFill>
                  <a:srgbClr val="000000"/>
                </a:solidFill>
              </a:rPr>
              <a:t> </a:t>
            </a:r>
            <a:r>
              <a:rPr sz="13800" spc="-165" dirty="0">
                <a:solidFill>
                  <a:srgbClr val="000000"/>
                </a:solidFill>
              </a:rPr>
              <a:t>YOU</a:t>
            </a:r>
            <a:r>
              <a:rPr sz="13800" spc="-459" dirty="0">
                <a:solidFill>
                  <a:srgbClr val="000000"/>
                </a:solidFill>
              </a:rPr>
              <a:t> </a:t>
            </a:r>
            <a:r>
              <a:rPr sz="13800" spc="5" dirty="0">
                <a:solidFill>
                  <a:srgbClr val="000000"/>
                </a:solidFill>
              </a:rPr>
              <a:t>!</a:t>
            </a:r>
            <a:endParaRPr sz="1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D712486F31C545BF1BD443A6908F59" ma:contentTypeVersion="0" ma:contentTypeDescription="Create a new document." ma:contentTypeScope="" ma:versionID="57d772e684ba603e8e7e9104aeac4fb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8B56AC1-BACD-4673-9E07-8EDAAA0A690B}"/>
</file>

<file path=customXml/itemProps2.xml><?xml version="1.0" encoding="utf-8"?>
<ds:datastoreItem xmlns:ds="http://schemas.openxmlformats.org/officeDocument/2006/customXml" ds:itemID="{E76FED9C-1C84-4B06-AACB-B0580C627990}"/>
</file>

<file path=customXml/itemProps3.xml><?xml version="1.0" encoding="utf-8"?>
<ds:datastoreItem xmlns:ds="http://schemas.openxmlformats.org/officeDocument/2006/customXml" ds:itemID="{B4C2E0EF-D368-4BCD-8087-B4CEBEA4797B}"/>
</file>

<file path=docProps/app.xml><?xml version="1.0" encoding="utf-8"?>
<Properties xmlns="http://schemas.openxmlformats.org/officeDocument/2006/extended-properties" xmlns:vt="http://schemas.openxmlformats.org/officeDocument/2006/docPropsVTypes">
  <TotalTime>15299</TotalTime>
  <Words>3423</Words>
  <Application>Microsoft Office PowerPoint</Application>
  <PresentationFormat>Widescreen</PresentationFormat>
  <Paragraphs>571</Paragraphs>
  <Slides>37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Arial MT</vt:lpstr>
      <vt:lpstr>Calibri</vt:lpstr>
      <vt:lpstr>Calibri Light</vt:lpstr>
      <vt:lpstr>Cambria Math</vt:lpstr>
      <vt:lpstr>Georgia</vt:lpstr>
      <vt:lpstr>Tahoma</vt:lpstr>
      <vt:lpstr>Times New Roman</vt:lpstr>
      <vt:lpstr>Office Theme</vt:lpstr>
      <vt:lpstr>PowerPoint Presentation</vt:lpstr>
      <vt:lpstr>HASHING</vt:lpstr>
      <vt:lpstr>EXAMPLE OF HASH FUNCTION</vt:lpstr>
      <vt:lpstr>Properties Of Good Hash Function</vt:lpstr>
      <vt:lpstr>Collision Due To Hash Function</vt:lpstr>
      <vt:lpstr>Types Of Collision Handling</vt:lpstr>
      <vt:lpstr>Separate Chaining:</vt:lpstr>
      <vt:lpstr>Advantages Of Separate Chaining</vt:lpstr>
      <vt:lpstr>Disadvantages Of Separate Chaining</vt:lpstr>
      <vt:lpstr>Performance of Chaining:</vt:lpstr>
      <vt:lpstr>Performance of Chaining:</vt:lpstr>
      <vt:lpstr>Open Addressing</vt:lpstr>
      <vt:lpstr>a) Linear Probing:</vt:lpstr>
      <vt:lpstr>PowerPoint Presentation</vt:lpstr>
      <vt:lpstr>PowerPoint Presentation</vt:lpstr>
      <vt:lpstr>PowerPoint Presentation</vt:lpstr>
      <vt:lpstr>PowerPoint Presentation</vt:lpstr>
      <vt:lpstr>Clustering:</vt:lpstr>
      <vt:lpstr>b) QUADRATIC PROBING</vt:lpstr>
      <vt:lpstr>PowerPoint Presentation</vt:lpstr>
      <vt:lpstr>EMPTY</vt:lpstr>
      <vt:lpstr>PowerPoint Presentation</vt:lpstr>
      <vt:lpstr>Double Hashing :</vt:lpstr>
      <vt:lpstr>PowerPoint Presentation</vt:lpstr>
      <vt:lpstr>Performance of Open Addressing</vt:lpstr>
      <vt:lpstr>DH &lt; QP &lt; LP</vt:lpstr>
      <vt:lpstr>PowerPoint Presentation</vt:lpstr>
      <vt:lpstr>ANSWER (A)</vt:lpstr>
      <vt:lpstr>PowerPoint Presentation</vt:lpstr>
      <vt:lpstr>ANSWER (A)</vt:lpstr>
      <vt:lpstr>PowerPoint Presentation</vt:lpstr>
      <vt:lpstr>ANSWER (C)</vt:lpstr>
      <vt:lpstr>PowerPoint Presentation</vt:lpstr>
      <vt:lpstr>ANSWER (c)</vt:lpstr>
      <vt:lpstr>PowerPoint Presentation</vt:lpstr>
      <vt:lpstr>PowerPoint Presentation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Manish Rai [MUJ]</dc:creator>
  <cp:lastModifiedBy>Dr. Manish Rai [MU - Jaipur]</cp:lastModifiedBy>
  <cp:revision>68</cp:revision>
  <dcterms:created xsi:type="dcterms:W3CDTF">2023-08-16T05:31:59Z</dcterms:created>
  <dcterms:modified xsi:type="dcterms:W3CDTF">2025-09-04T06:52:36Z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0x01010033D712486F31C545BF1BD443A6908F59</vt:lpwstr>
  </property>
</Properties>
</file>