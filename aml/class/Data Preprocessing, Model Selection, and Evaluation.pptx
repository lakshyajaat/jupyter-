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70" r:id="rId4"/>
    <p:sldId id="263" r:id="rId5"/>
    <p:sldId id="264" r:id="rId6"/>
    <p:sldId id="265" r:id="rId7"/>
    <p:sldId id="266" r:id="rId8"/>
    <p:sldId id="267" r:id="rId9"/>
    <p:sldId id="268"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p:scale>
          <a:sx n="66" d="100"/>
          <a:sy n="66" d="100"/>
        </p:scale>
        <p:origin x="708"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9A380-0DBF-49F2-8BB5-4AD11671F702}" type="datetimeFigureOut">
              <a:rPr lang="en-US" smtClean="0"/>
              <a:t>8/20/2025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1EB16-40F0-459C-A18D-3A2C014F1338}" type="slidenum">
              <a:rPr lang="en-US" smtClean="0"/>
              <a:t>‹#›</a:t>
            </a:fld>
            <a:endParaRPr lang="en-US"/>
          </a:p>
        </p:txBody>
      </p:sp>
    </p:spTree>
    <p:extLst>
      <p:ext uri="{BB962C8B-B14F-4D97-AF65-F5344CB8AC3E}">
        <p14:creationId xmlns:p14="http://schemas.microsoft.com/office/powerpoint/2010/main" val="346706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31EB16-40F0-459C-A18D-3A2C014F1338}" type="slidenum">
              <a:rPr lang="en-US" smtClean="0"/>
              <a:t>1</a:t>
            </a:fld>
            <a:endParaRPr lang="en-US"/>
          </a:p>
        </p:txBody>
      </p:sp>
    </p:spTree>
    <p:extLst>
      <p:ext uri="{BB962C8B-B14F-4D97-AF65-F5344CB8AC3E}">
        <p14:creationId xmlns:p14="http://schemas.microsoft.com/office/powerpoint/2010/main" val="193041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E306-67A8-0DF8-6B48-CDCBD5F47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2F4D1-1DDB-2319-4D91-917DBA182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EECB9-C6ED-5C82-35B6-112A069EB3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5EA0C6-1EB5-6D1B-1985-F3A587CB4A09}"/>
              </a:ext>
            </a:extLst>
          </p:cNvPr>
          <p:cNvSpPr>
            <a:spLocks noGrp="1"/>
          </p:cNvSpPr>
          <p:nvPr>
            <p:ph type="sldNum" sz="quarter" idx="5"/>
          </p:nvPr>
        </p:nvSpPr>
        <p:spPr/>
        <p:txBody>
          <a:bodyPr/>
          <a:lstStyle/>
          <a:p>
            <a:fld id="{8831EB16-40F0-459C-A18D-3A2C014F1338}" type="slidenum">
              <a:rPr lang="en-US" smtClean="0"/>
              <a:t>2</a:t>
            </a:fld>
            <a:endParaRPr lang="en-US"/>
          </a:p>
        </p:txBody>
      </p:sp>
    </p:spTree>
    <p:extLst>
      <p:ext uri="{BB962C8B-B14F-4D97-AF65-F5344CB8AC3E}">
        <p14:creationId xmlns:p14="http://schemas.microsoft.com/office/powerpoint/2010/main" val="3475269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AE7A-1C0D-ED84-CACC-8ECFD9338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21572-8A64-F148-FF22-750AF4DFC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4AC2A-34CB-4B11-B657-A6BB396AC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3E425D-B35F-08C8-6BB5-907E7D5EC9EE}"/>
              </a:ext>
            </a:extLst>
          </p:cNvPr>
          <p:cNvSpPr>
            <a:spLocks noGrp="1"/>
          </p:cNvSpPr>
          <p:nvPr>
            <p:ph type="sldNum" sz="quarter" idx="5"/>
          </p:nvPr>
        </p:nvSpPr>
        <p:spPr/>
        <p:txBody>
          <a:bodyPr/>
          <a:lstStyle/>
          <a:p>
            <a:fld id="{8831EB16-40F0-459C-A18D-3A2C014F1338}" type="slidenum">
              <a:rPr lang="en-US" smtClean="0"/>
              <a:t>3</a:t>
            </a:fld>
            <a:endParaRPr lang="en-US"/>
          </a:p>
        </p:txBody>
      </p:sp>
    </p:spTree>
    <p:extLst>
      <p:ext uri="{BB962C8B-B14F-4D97-AF65-F5344CB8AC3E}">
        <p14:creationId xmlns:p14="http://schemas.microsoft.com/office/powerpoint/2010/main" val="208540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17381-0795-0BEE-75A6-C8F171FB1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8B2D7-F34F-5AF0-7FAE-FEF57DE22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8AC89-32C7-8D18-D8A1-12110CC80D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9D6D4-7EB8-A4BA-D1B1-AFBD822A602E}"/>
              </a:ext>
            </a:extLst>
          </p:cNvPr>
          <p:cNvSpPr>
            <a:spLocks noGrp="1"/>
          </p:cNvSpPr>
          <p:nvPr>
            <p:ph type="sldNum" sz="quarter" idx="5"/>
          </p:nvPr>
        </p:nvSpPr>
        <p:spPr/>
        <p:txBody>
          <a:bodyPr/>
          <a:lstStyle/>
          <a:p>
            <a:fld id="{8831EB16-40F0-459C-A18D-3A2C014F1338}" type="slidenum">
              <a:rPr lang="en-US" smtClean="0"/>
              <a:t>4</a:t>
            </a:fld>
            <a:endParaRPr lang="en-US"/>
          </a:p>
        </p:txBody>
      </p:sp>
    </p:spTree>
    <p:extLst>
      <p:ext uri="{BB962C8B-B14F-4D97-AF65-F5344CB8AC3E}">
        <p14:creationId xmlns:p14="http://schemas.microsoft.com/office/powerpoint/2010/main" val="280573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27E00-CD40-891C-AA28-BAA8BBCA7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F859C-6E2E-4CB7-791A-1A8ACF8F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C420B-2DCB-3C43-8BA6-CAC518CF0E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F337C-6E5E-65C4-9434-288461F19885}"/>
              </a:ext>
            </a:extLst>
          </p:cNvPr>
          <p:cNvSpPr>
            <a:spLocks noGrp="1"/>
          </p:cNvSpPr>
          <p:nvPr>
            <p:ph type="sldNum" sz="quarter" idx="5"/>
          </p:nvPr>
        </p:nvSpPr>
        <p:spPr/>
        <p:txBody>
          <a:bodyPr/>
          <a:lstStyle/>
          <a:p>
            <a:fld id="{8831EB16-40F0-459C-A18D-3A2C014F1338}" type="slidenum">
              <a:rPr lang="en-US" smtClean="0"/>
              <a:t>5</a:t>
            </a:fld>
            <a:endParaRPr lang="en-US"/>
          </a:p>
        </p:txBody>
      </p:sp>
    </p:spTree>
    <p:extLst>
      <p:ext uri="{BB962C8B-B14F-4D97-AF65-F5344CB8AC3E}">
        <p14:creationId xmlns:p14="http://schemas.microsoft.com/office/powerpoint/2010/main" val="1814530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4A88-773F-5D79-8037-D742BFC41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8DEEA-407A-A65B-7D1F-0621C756D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0C60F-E8CF-2EF6-F927-BD0C0A005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0BA670-758D-C6D9-6D8F-612EC6F792FC}"/>
              </a:ext>
            </a:extLst>
          </p:cNvPr>
          <p:cNvSpPr>
            <a:spLocks noGrp="1"/>
          </p:cNvSpPr>
          <p:nvPr>
            <p:ph type="sldNum" sz="quarter" idx="5"/>
          </p:nvPr>
        </p:nvSpPr>
        <p:spPr/>
        <p:txBody>
          <a:bodyPr/>
          <a:lstStyle/>
          <a:p>
            <a:fld id="{8831EB16-40F0-459C-A18D-3A2C014F1338}" type="slidenum">
              <a:rPr lang="en-US" smtClean="0"/>
              <a:t>6</a:t>
            </a:fld>
            <a:endParaRPr lang="en-US"/>
          </a:p>
        </p:txBody>
      </p:sp>
    </p:spTree>
    <p:extLst>
      <p:ext uri="{BB962C8B-B14F-4D97-AF65-F5344CB8AC3E}">
        <p14:creationId xmlns:p14="http://schemas.microsoft.com/office/powerpoint/2010/main" val="3476910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57FF3-27C2-2ECF-4CDA-23089B398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63517-8DB1-F17C-A4BD-846D1FDE1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B84A7-4A03-6C90-3CD1-CBF479DDE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ECC624-E6C5-A10E-90E7-BCD4442FC0EB}"/>
              </a:ext>
            </a:extLst>
          </p:cNvPr>
          <p:cNvSpPr>
            <a:spLocks noGrp="1"/>
          </p:cNvSpPr>
          <p:nvPr>
            <p:ph type="sldNum" sz="quarter" idx="5"/>
          </p:nvPr>
        </p:nvSpPr>
        <p:spPr/>
        <p:txBody>
          <a:bodyPr/>
          <a:lstStyle/>
          <a:p>
            <a:fld id="{8831EB16-40F0-459C-A18D-3A2C014F1338}" type="slidenum">
              <a:rPr lang="en-US" smtClean="0"/>
              <a:t>7</a:t>
            </a:fld>
            <a:endParaRPr lang="en-US"/>
          </a:p>
        </p:txBody>
      </p:sp>
    </p:spTree>
    <p:extLst>
      <p:ext uri="{BB962C8B-B14F-4D97-AF65-F5344CB8AC3E}">
        <p14:creationId xmlns:p14="http://schemas.microsoft.com/office/powerpoint/2010/main" val="3064865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50CD-DEBA-6875-B0F0-A73988073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0279E-9CE9-9E04-D07E-14FDDA1A74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215B7-779E-ADBE-63C9-DAAAF46B8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832F06-255E-3E00-ACAE-CEBF3917AE22}"/>
              </a:ext>
            </a:extLst>
          </p:cNvPr>
          <p:cNvSpPr>
            <a:spLocks noGrp="1"/>
          </p:cNvSpPr>
          <p:nvPr>
            <p:ph type="sldNum" sz="quarter" idx="5"/>
          </p:nvPr>
        </p:nvSpPr>
        <p:spPr/>
        <p:txBody>
          <a:bodyPr/>
          <a:lstStyle/>
          <a:p>
            <a:fld id="{8831EB16-40F0-459C-A18D-3A2C014F1338}" type="slidenum">
              <a:rPr lang="en-US" smtClean="0"/>
              <a:t>8</a:t>
            </a:fld>
            <a:endParaRPr lang="en-US"/>
          </a:p>
        </p:txBody>
      </p:sp>
    </p:spTree>
    <p:extLst>
      <p:ext uri="{BB962C8B-B14F-4D97-AF65-F5344CB8AC3E}">
        <p14:creationId xmlns:p14="http://schemas.microsoft.com/office/powerpoint/2010/main" val="3339134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852DC-F5D0-BEF6-A652-E1E6878A7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E19A1-D569-A270-841A-318646455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6F86E-9973-9E6B-628F-8C44FBA304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C1DAD6-BB11-251F-055F-AF4A6237043E}"/>
              </a:ext>
            </a:extLst>
          </p:cNvPr>
          <p:cNvSpPr>
            <a:spLocks noGrp="1"/>
          </p:cNvSpPr>
          <p:nvPr>
            <p:ph type="sldNum" sz="quarter" idx="5"/>
          </p:nvPr>
        </p:nvSpPr>
        <p:spPr/>
        <p:txBody>
          <a:bodyPr/>
          <a:lstStyle/>
          <a:p>
            <a:fld id="{8831EB16-40F0-459C-A18D-3A2C014F1338}" type="slidenum">
              <a:rPr lang="en-US" smtClean="0"/>
              <a:t>9</a:t>
            </a:fld>
            <a:endParaRPr lang="en-US"/>
          </a:p>
        </p:txBody>
      </p:sp>
    </p:spTree>
    <p:extLst>
      <p:ext uri="{BB962C8B-B14F-4D97-AF65-F5344CB8AC3E}">
        <p14:creationId xmlns:p14="http://schemas.microsoft.com/office/powerpoint/2010/main" val="496600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36509-A7CB-3D88-EBC2-BE6D3D32C5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39B95-B031-2B68-01B4-B4C9A67A8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A2CC9C-3184-5472-79DF-0C51F8DD3A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76953-59D5-C4BB-7AFC-4A7041CE6EDD}"/>
              </a:ext>
            </a:extLst>
          </p:cNvPr>
          <p:cNvSpPr>
            <a:spLocks noGrp="1"/>
          </p:cNvSpPr>
          <p:nvPr>
            <p:ph type="sldNum" sz="quarter" idx="5"/>
          </p:nvPr>
        </p:nvSpPr>
        <p:spPr/>
        <p:txBody>
          <a:bodyPr/>
          <a:lstStyle/>
          <a:p>
            <a:fld id="{8831EB16-40F0-459C-A18D-3A2C014F1338}" type="slidenum">
              <a:rPr lang="en-US" smtClean="0"/>
              <a:t>10</a:t>
            </a:fld>
            <a:endParaRPr lang="en-US"/>
          </a:p>
        </p:txBody>
      </p:sp>
    </p:spTree>
    <p:extLst>
      <p:ext uri="{BB962C8B-B14F-4D97-AF65-F5344CB8AC3E}">
        <p14:creationId xmlns:p14="http://schemas.microsoft.com/office/powerpoint/2010/main" val="1836651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9BF67-D88D-8D22-F9E6-0F37C16CC3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6A3458-9F2D-FEA4-1FFE-31951E92E8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AB64A5-7D5B-33FE-C377-4E3B7DB09920}"/>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74A8831B-687D-EDF4-141B-2718345E4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42CE0-E5B8-C0C9-34FF-9C89EDEB8BC1}"/>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121886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2F576-8906-0E83-FE5C-82FC0BC8B5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E3138D-DFC0-ADDF-EDBC-4AAC0A2A85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D0893-0B14-8AAD-6134-4295A7B1E806}"/>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E1A70ADF-022E-750C-D48A-7C70ED7BA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AD519D-DB4F-A3FB-76B3-A4734EEFE23E}"/>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605481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9785A-FDCF-3295-EC03-84E1428A34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24CE2A-4450-54F5-F5D3-9A1A06EC65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C22D82-3DA4-51DA-9F10-81F942E75F0D}"/>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80B8FC1C-DA80-14D7-788B-7EB00C36E7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DC5C2-879F-9DDA-E1A0-C0D14A4FDDCE}"/>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472662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3EEE6-3090-268B-A0B1-E6B01303EA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4195E2-4F0D-567D-A118-CFEC92B56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21739D-7433-549E-FFD3-686C357A28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DEC9E5-490C-A9EC-EE75-3685A5CF0A32}"/>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6" name="Footer Placeholder 5">
            <a:extLst>
              <a:ext uri="{FF2B5EF4-FFF2-40B4-BE49-F238E27FC236}">
                <a16:creationId xmlns:a16="http://schemas.microsoft.com/office/drawing/2014/main" id="{DCF43D6D-DC05-0121-B6B0-FA724E50B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11ABF0-FB21-EB3A-2236-9FB42D141452}"/>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159315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7F0DC-E781-E81B-AC62-4B21289341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F6D73C-26AC-7A44-ABD5-53ECBAC981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7F8CD5-493C-F815-D2D9-51C95D5465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1C2263-1FC0-84C6-560F-AE97356259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DB3EB-01BD-9FCF-78D3-224EC4F558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533CA1-0A9D-4A23-DBE3-6A308E7C026C}"/>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8" name="Footer Placeholder 7">
            <a:extLst>
              <a:ext uri="{FF2B5EF4-FFF2-40B4-BE49-F238E27FC236}">
                <a16:creationId xmlns:a16="http://schemas.microsoft.com/office/drawing/2014/main" id="{F3E96BCC-666E-02C9-6FD5-4E42269478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433D51-6D5E-2623-14F3-7DCFE3568B69}"/>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118110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1D96-8616-E1EB-4E67-4BDCE3D884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EDDBC1-EF64-729B-9C28-87A965374021}"/>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4" name="Footer Placeholder 3">
            <a:extLst>
              <a:ext uri="{FF2B5EF4-FFF2-40B4-BE49-F238E27FC236}">
                <a16:creationId xmlns:a16="http://schemas.microsoft.com/office/drawing/2014/main" id="{B7E4FB2C-70DB-D1AE-B001-0459B1A662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CF3C10-C6C3-2044-9D5A-A9742FDF62DE}"/>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1981275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CD01C-0163-619B-6145-27EF99FCAF4C}"/>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3" name="Footer Placeholder 2">
            <a:extLst>
              <a:ext uri="{FF2B5EF4-FFF2-40B4-BE49-F238E27FC236}">
                <a16:creationId xmlns:a16="http://schemas.microsoft.com/office/drawing/2014/main" id="{1CE0D0A1-54CD-217A-D4B4-DABB10A2C4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6C0A43-E156-10A2-2EBE-F06FEA0A2A3E}"/>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589206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16A19-8575-5130-B14A-9A579F31CB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ED6C36-3A63-286E-9F87-45CEFA3110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7E9379-67E2-8B88-79A7-0560E3CE0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278B5-6046-507B-2D05-528E680AE447}"/>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6" name="Footer Placeholder 5">
            <a:extLst>
              <a:ext uri="{FF2B5EF4-FFF2-40B4-BE49-F238E27FC236}">
                <a16:creationId xmlns:a16="http://schemas.microsoft.com/office/drawing/2014/main" id="{50FF650D-CAD8-33B7-0FD3-94C27D588F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C3781A-7D6F-8B7B-AF85-A6F99FE33BE9}"/>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2459880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630F-B1FD-2B08-70C2-BB5F7610E9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0436D4-837D-3CCD-F97B-81536F2F13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E9559F-C413-45B7-C352-B6AC4830D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26577-F03B-747B-0E8E-6EDB70D150B9}"/>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6" name="Footer Placeholder 5">
            <a:extLst>
              <a:ext uri="{FF2B5EF4-FFF2-40B4-BE49-F238E27FC236}">
                <a16:creationId xmlns:a16="http://schemas.microsoft.com/office/drawing/2014/main" id="{C4499B0D-B2B2-E412-629D-72C09D3EBE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7D061-17B9-180B-979E-A41EAEA8834C}"/>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3546097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9E48D-4EA9-C947-01B2-8929C64407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2B38F6-94FA-6620-C818-3FA629157F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20C6B-E5F4-9CC9-318F-8F1D2296567C}"/>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07F0C6FD-1A38-E718-EDC7-4B874F328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BA362-DDDE-7F0D-D6B7-F01B4CCEC599}"/>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3710901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352A02-6F9F-E0B9-B6BF-1EA4F9C6B3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461DDE-37BD-EF28-2977-54F5C7CFA1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ADF6FA-5640-342A-9EC2-BB68ED681765}"/>
              </a:ext>
            </a:extLst>
          </p:cNvPr>
          <p:cNvSpPr>
            <a:spLocks noGrp="1"/>
          </p:cNvSpPr>
          <p:nvPr>
            <p:ph type="dt" sz="half" idx="10"/>
          </p:nvPr>
        </p:nvSpPr>
        <p:spPr/>
        <p:txBody>
          <a:body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AE5E5CD6-59A2-A8FA-FB26-F834B63C5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A2AE39-D85D-EA14-999A-97934AD6ECF4}"/>
              </a:ext>
            </a:extLst>
          </p:cNvPr>
          <p:cNvSpPr>
            <a:spLocks noGrp="1"/>
          </p:cNvSpPr>
          <p:nvPr>
            <p:ph type="sldNum" sz="quarter" idx="12"/>
          </p:nvPr>
        </p:nvSpPr>
        <p:spPr/>
        <p:txBody>
          <a:bodyPr/>
          <a:lstStyle/>
          <a:p>
            <a:fld id="{20375D6E-6C43-480F-9155-5466F2B163AA}" type="slidenum">
              <a:rPr lang="en-US" smtClean="0"/>
              <a:t>‹#›</a:t>
            </a:fld>
            <a:endParaRPr lang="en-US"/>
          </a:p>
        </p:txBody>
      </p:sp>
    </p:spTree>
    <p:extLst>
      <p:ext uri="{BB962C8B-B14F-4D97-AF65-F5344CB8AC3E}">
        <p14:creationId xmlns:p14="http://schemas.microsoft.com/office/powerpoint/2010/main" val="126627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CD3355-7FB5-5C1E-9C28-929BD63A60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D4D530-BFF9-91E4-7AD2-C0069E609F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CEDDFB-F8F3-5967-31FB-FBFBC153B6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B27C13-4152-4F33-AF57-87A756D05BD0}" type="datetimeFigureOut">
              <a:rPr lang="en-US" smtClean="0"/>
              <a:t>8/20/2025</a:t>
            </a:fld>
            <a:endParaRPr lang="en-US"/>
          </a:p>
        </p:txBody>
      </p:sp>
      <p:sp>
        <p:nvSpPr>
          <p:cNvPr id="5" name="Footer Placeholder 4">
            <a:extLst>
              <a:ext uri="{FF2B5EF4-FFF2-40B4-BE49-F238E27FC236}">
                <a16:creationId xmlns:a16="http://schemas.microsoft.com/office/drawing/2014/main" id="{B680892F-9BE6-987A-FCA9-BF3693CF4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5DFAA9-B03A-147F-447C-397F417AFF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0375D6E-6C43-480F-9155-5466F2B163AA}" type="slidenum">
              <a:rPr lang="en-US" smtClean="0"/>
              <a:t>‹#›</a:t>
            </a:fld>
            <a:endParaRPr lang="en-US"/>
          </a:p>
        </p:txBody>
      </p:sp>
    </p:spTree>
    <p:extLst>
      <p:ext uri="{BB962C8B-B14F-4D97-AF65-F5344CB8AC3E}">
        <p14:creationId xmlns:p14="http://schemas.microsoft.com/office/powerpoint/2010/main" val="518121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7041A5-03FE-38E3-99F5-A8D2EE7E10FC}"/>
              </a:ext>
            </a:extLst>
          </p:cNvPr>
          <p:cNvSpPr txBox="1"/>
          <p:nvPr/>
        </p:nvSpPr>
        <p:spPr>
          <a:xfrm>
            <a:off x="1748118" y="1835835"/>
            <a:ext cx="8382000" cy="1200329"/>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Data Preprocessing, Model Selection, and Evaluation</a:t>
            </a:r>
          </a:p>
        </p:txBody>
      </p:sp>
      <p:cxnSp>
        <p:nvCxnSpPr>
          <p:cNvPr id="7" name="Straight Connector 6">
            <a:extLst>
              <a:ext uri="{FF2B5EF4-FFF2-40B4-BE49-F238E27FC236}">
                <a16:creationId xmlns:a16="http://schemas.microsoft.com/office/drawing/2014/main" id="{7476ADE7-CE82-31F3-6267-FEFEC213153B}"/>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B01A4D0-0D2A-D04F-76DB-2D4A1C75CF6C}"/>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2AE4F86-D67B-F851-7AB5-0C8B2FCC9417}"/>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2F1C7DF-6161-7EBA-E920-6FEB0B4317D6}"/>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247A880A-7DA9-C99A-616A-16432D761E4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Tree>
    <p:extLst>
      <p:ext uri="{BB962C8B-B14F-4D97-AF65-F5344CB8AC3E}">
        <p14:creationId xmlns:p14="http://schemas.microsoft.com/office/powerpoint/2010/main" val="1612083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26572-E014-2836-8F4C-4C4AFC2FEEC8}"/>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F8994D8-049B-F24A-07F3-C227589D10D0}"/>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3A90939-61B7-3DD5-3931-3CCF911C272C}"/>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925D4EC-6BDB-F6FD-CBBE-82613275FF5F}"/>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EAD2A66-281F-16C0-F552-669FC8C823F1}"/>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DF6E2747-AEA1-93CC-FDCE-D0847BD9B42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C95FF45D-4926-01F7-DABA-D827E2467B1B}"/>
              </a:ext>
            </a:extLst>
          </p:cNvPr>
          <p:cNvSpPr txBox="1"/>
          <p:nvPr/>
        </p:nvSpPr>
        <p:spPr>
          <a:xfrm>
            <a:off x="1452281" y="508001"/>
            <a:ext cx="6102350" cy="461665"/>
          </a:xfrm>
          <a:prstGeom prst="rect">
            <a:avLst/>
          </a:prstGeom>
          <a:noFill/>
        </p:spPr>
        <p:txBody>
          <a:bodyPr wrap="square">
            <a:spAutoFit/>
          </a:bodyPr>
          <a:lstStyle/>
          <a:p>
            <a:pPr>
              <a:buNone/>
            </a:pPr>
            <a:r>
              <a:rPr lang="en-US" sz="2400" b="1" dirty="0"/>
              <a:t>Feature Scaling and Normalization</a:t>
            </a:r>
          </a:p>
        </p:txBody>
      </p:sp>
      <p:sp>
        <p:nvSpPr>
          <p:cNvPr id="17" name="TextBox 16">
            <a:extLst>
              <a:ext uri="{FF2B5EF4-FFF2-40B4-BE49-F238E27FC236}">
                <a16:creationId xmlns:a16="http://schemas.microsoft.com/office/drawing/2014/main" id="{62620860-254C-906A-1978-309A6D7867EA}"/>
              </a:ext>
            </a:extLst>
          </p:cNvPr>
          <p:cNvSpPr txBox="1"/>
          <p:nvPr/>
        </p:nvSpPr>
        <p:spPr>
          <a:xfrm>
            <a:off x="1272330" y="1141775"/>
            <a:ext cx="9228831" cy="4549964"/>
          </a:xfrm>
          <a:prstGeom prst="rect">
            <a:avLst/>
          </a:prstGeom>
          <a:noFill/>
        </p:spPr>
        <p:txBody>
          <a:bodyPr wrap="square">
            <a:spAutoFit/>
          </a:bodyPr>
          <a:lstStyle/>
          <a:p>
            <a:pPr algn="l" fontAlgn="base">
              <a:buNone/>
            </a:pPr>
            <a:r>
              <a:rPr lang="en-US" sz="1400" b="1" i="0" dirty="0">
                <a:solidFill>
                  <a:srgbClr val="273239"/>
                </a:solidFill>
                <a:effectLst/>
                <a:latin typeface="Nunito" pitchFamily="2" charset="0"/>
              </a:rPr>
              <a:t>Why use Feature Scaling?</a:t>
            </a:r>
          </a:p>
          <a:p>
            <a:pPr algn="l" rtl="0" fontAlgn="base">
              <a:spcAft>
                <a:spcPts val="750"/>
              </a:spcAft>
              <a:buNone/>
            </a:pPr>
            <a:r>
              <a:rPr lang="en-US" sz="1400" b="0" i="0" dirty="0">
                <a:solidFill>
                  <a:srgbClr val="273239"/>
                </a:solidFill>
                <a:effectLst/>
                <a:latin typeface="Nunito" pitchFamily="2" charset="0"/>
              </a:rPr>
              <a:t>In machine learning feature scaling is used for number of purposes:</a:t>
            </a:r>
          </a:p>
          <a:p>
            <a:pPr algn="l" fontAlgn="base">
              <a:spcAft>
                <a:spcPts val="1800"/>
              </a:spcAft>
              <a:buFont typeface="Arial" panose="020B0604020202020204" pitchFamily="34" charset="0"/>
              <a:buChar char="•"/>
            </a:pPr>
            <a:r>
              <a:rPr lang="en-US" sz="1400" b="1" i="0" dirty="0">
                <a:solidFill>
                  <a:srgbClr val="273239"/>
                </a:solidFill>
                <a:effectLst/>
                <a:latin typeface="Nunito" pitchFamily="2" charset="0"/>
              </a:rPr>
              <a:t>Range:</a:t>
            </a:r>
            <a:r>
              <a:rPr lang="en-US" sz="1400" b="0" i="0" dirty="0">
                <a:solidFill>
                  <a:srgbClr val="273239"/>
                </a:solidFill>
                <a:effectLst/>
                <a:latin typeface="Nunito" pitchFamily="2" charset="0"/>
              </a:rPr>
              <a:t> Scaling guarantees that all features are on a comparable scale and have comparable ranges. This process is known as feature normalisation. This is significant because the magnitude of the features has an impact on many machine learning techniques. Larger scale features may dominate the learning process and have an excessive impact on the outcomes.</a:t>
            </a:r>
          </a:p>
          <a:p>
            <a:pPr algn="l" fontAlgn="base">
              <a:spcAft>
                <a:spcPts val="1800"/>
              </a:spcAft>
              <a:buFont typeface="Arial" panose="020B0604020202020204" pitchFamily="34" charset="0"/>
              <a:buChar char="•"/>
            </a:pPr>
            <a:r>
              <a:rPr lang="en-US" sz="1400" b="1" i="0" dirty="0">
                <a:solidFill>
                  <a:srgbClr val="273239"/>
                </a:solidFill>
                <a:effectLst/>
                <a:latin typeface="Nunito" pitchFamily="2" charset="0"/>
              </a:rPr>
              <a:t>Algorithm performance improvement:</a:t>
            </a:r>
            <a:r>
              <a:rPr lang="en-US" sz="1400" b="0" i="0" dirty="0">
                <a:solidFill>
                  <a:srgbClr val="273239"/>
                </a:solidFill>
                <a:effectLst/>
                <a:latin typeface="Nunito" pitchFamily="2" charset="0"/>
              </a:rPr>
              <a:t> When the features are scaled several machine learning methods including gradient descent-based algorithms, distance-based algorithms (such k-nearest </a:t>
            </a:r>
            <a:r>
              <a:rPr lang="en-US" sz="1400" b="0" i="0" dirty="0" err="1">
                <a:solidFill>
                  <a:srgbClr val="273239"/>
                </a:solidFill>
                <a:effectLst/>
                <a:latin typeface="Nunito" pitchFamily="2" charset="0"/>
              </a:rPr>
              <a:t>neighbours</a:t>
            </a:r>
            <a:r>
              <a:rPr lang="en-US" sz="1400" b="0" i="0" dirty="0">
                <a:solidFill>
                  <a:srgbClr val="273239"/>
                </a:solidFill>
                <a:effectLst/>
                <a:latin typeface="Nunito" pitchFamily="2" charset="0"/>
              </a:rPr>
              <a:t>) and support vector machines perform better or converge more quickly. The algorithm's performance can be enhanced by scaling the features which prevent the convergence of the algorithm to the ideal outcome.</a:t>
            </a:r>
          </a:p>
          <a:p>
            <a:pPr algn="l" fontAlgn="base">
              <a:spcAft>
                <a:spcPts val="1800"/>
              </a:spcAft>
              <a:buFont typeface="Arial" panose="020B0604020202020204" pitchFamily="34" charset="0"/>
              <a:buChar char="•"/>
            </a:pPr>
            <a:r>
              <a:rPr lang="en-US" sz="1400" b="1" i="0" dirty="0">
                <a:solidFill>
                  <a:srgbClr val="273239"/>
                </a:solidFill>
                <a:effectLst/>
                <a:latin typeface="Nunito" pitchFamily="2" charset="0"/>
              </a:rPr>
              <a:t>Preventing numerical instability:</a:t>
            </a:r>
            <a:r>
              <a:rPr lang="en-US" sz="1400" b="0" i="0" dirty="0">
                <a:solidFill>
                  <a:srgbClr val="273239"/>
                </a:solidFill>
                <a:effectLst/>
                <a:latin typeface="Nunito" pitchFamily="2" charset="0"/>
              </a:rPr>
              <a:t> Numerical instability can be prevented by avoiding significant scale disparities between features. For examples include distance calculations where having features with differing scales can result in numerical overflow or underflow problems. Stable computations are required to mitigate this issue by scaling the features.</a:t>
            </a:r>
          </a:p>
          <a:p>
            <a:pPr algn="l" fontAlgn="base">
              <a:spcAft>
                <a:spcPts val="1800"/>
              </a:spcAft>
              <a:buFont typeface="Arial" panose="020B0604020202020204" pitchFamily="34" charset="0"/>
              <a:buChar char="•"/>
            </a:pPr>
            <a:r>
              <a:rPr lang="en-US" sz="1400" b="1" i="0" dirty="0">
                <a:solidFill>
                  <a:srgbClr val="273239"/>
                </a:solidFill>
                <a:effectLst/>
                <a:latin typeface="Nunito" pitchFamily="2" charset="0"/>
              </a:rPr>
              <a:t>Equal importance:</a:t>
            </a:r>
            <a:r>
              <a:rPr lang="en-US" sz="1400" b="0" i="0" dirty="0">
                <a:solidFill>
                  <a:srgbClr val="273239"/>
                </a:solidFill>
                <a:effectLst/>
                <a:latin typeface="Nunito" pitchFamily="2" charset="0"/>
              </a:rPr>
              <a:t> Scaling features makes sure that each characteristic is given the same consideration during the learning process. Without scaling bigger scale features could dominate the learning producing skewed outcomes. This bias is removed through scaling and each feature contributes fairly to model predictions.</a:t>
            </a:r>
          </a:p>
        </p:txBody>
      </p:sp>
    </p:spTree>
    <p:extLst>
      <p:ext uri="{BB962C8B-B14F-4D97-AF65-F5344CB8AC3E}">
        <p14:creationId xmlns:p14="http://schemas.microsoft.com/office/powerpoint/2010/main" val="956128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1D35-ABB8-4B8C-0C31-03302140DD19}"/>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B4793F5-A383-2B46-8DB2-4F5A5CF2B13F}"/>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EEF6AA35-02AB-3151-88CF-F977F4D8C463}"/>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291C90C-0DBB-DB08-05D3-F18C47ADC18A}"/>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534695D-99D6-33D3-338C-AF620751BFD0}"/>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38748458-FA25-F2D2-634A-DD029066DA8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29" name="TextBox 28">
            <a:extLst>
              <a:ext uri="{FF2B5EF4-FFF2-40B4-BE49-F238E27FC236}">
                <a16:creationId xmlns:a16="http://schemas.microsoft.com/office/drawing/2014/main" id="{EE81C361-4898-A5D5-DF8E-7066B3400BA4}"/>
              </a:ext>
            </a:extLst>
          </p:cNvPr>
          <p:cNvSpPr txBox="1"/>
          <p:nvPr/>
        </p:nvSpPr>
        <p:spPr>
          <a:xfrm>
            <a:off x="1274481" y="1398347"/>
            <a:ext cx="8275917" cy="2031325"/>
          </a:xfrm>
          <a:prstGeom prst="rect">
            <a:avLst/>
          </a:prstGeom>
          <a:noFill/>
        </p:spPr>
        <p:txBody>
          <a:bodyPr wrap="square">
            <a:spAutoFit/>
          </a:bodyPr>
          <a:lstStyle/>
          <a:p>
            <a:r>
              <a:rPr lang="en-US" b="1" dirty="0"/>
              <a:t>Scaling</a:t>
            </a:r>
          </a:p>
          <a:p>
            <a:endParaRPr lang="en-US" b="1" dirty="0"/>
          </a:p>
          <a:p>
            <a:pPr marL="285750" indent="-285750">
              <a:buFont typeface="Arial" panose="020B0604020202020204" pitchFamily="34" charset="0"/>
              <a:buChar char="•"/>
            </a:pPr>
            <a:r>
              <a:rPr lang="en-US" dirty="0"/>
              <a:t>Different features may have different ranges.</a:t>
            </a:r>
          </a:p>
          <a:p>
            <a:pPr marL="742950" lvl="1" indent="-285750">
              <a:buFont typeface="Arial" panose="020B0604020202020204" pitchFamily="34" charset="0"/>
              <a:buChar char="•"/>
            </a:pPr>
            <a:r>
              <a:rPr lang="en-US" dirty="0"/>
              <a:t>Example: Age ranges from 1–100, while salary ranges from 10,000–100,000.</a:t>
            </a:r>
          </a:p>
          <a:p>
            <a:pPr marL="285750" indent="-285750">
              <a:buFont typeface="Arial" panose="020B0604020202020204" pitchFamily="34" charset="0"/>
              <a:buChar char="•"/>
            </a:pPr>
            <a:r>
              <a:rPr lang="en-US" dirty="0"/>
              <a:t>Many ML algorithms (like KNN, SVM, Gradient Descent-based methods) are sensitive to feature magnitude.</a:t>
            </a:r>
          </a:p>
          <a:p>
            <a:pPr marL="285750" indent="-285750">
              <a:buFont typeface="Arial" panose="020B0604020202020204" pitchFamily="34" charset="0"/>
              <a:buChar char="•"/>
            </a:pPr>
            <a:r>
              <a:rPr lang="en-US" dirty="0"/>
              <a:t>Without scaling, features with large ranges dominate the model.</a:t>
            </a:r>
          </a:p>
        </p:txBody>
      </p:sp>
      <p:sp>
        <p:nvSpPr>
          <p:cNvPr id="31" name="TextBox 30">
            <a:extLst>
              <a:ext uri="{FF2B5EF4-FFF2-40B4-BE49-F238E27FC236}">
                <a16:creationId xmlns:a16="http://schemas.microsoft.com/office/drawing/2014/main" id="{4CA629BA-8664-B1FD-464E-37CD8DEE5D6D}"/>
              </a:ext>
            </a:extLst>
          </p:cNvPr>
          <p:cNvSpPr txBox="1"/>
          <p:nvPr/>
        </p:nvSpPr>
        <p:spPr>
          <a:xfrm>
            <a:off x="1452281" y="508001"/>
            <a:ext cx="6102350" cy="461665"/>
          </a:xfrm>
          <a:prstGeom prst="rect">
            <a:avLst/>
          </a:prstGeom>
          <a:noFill/>
        </p:spPr>
        <p:txBody>
          <a:bodyPr wrap="square">
            <a:spAutoFit/>
          </a:bodyPr>
          <a:lstStyle/>
          <a:p>
            <a:pPr>
              <a:buNone/>
            </a:pPr>
            <a:r>
              <a:rPr lang="en-US" sz="2400" b="1" dirty="0"/>
              <a:t>Feature Scaling and Normalization</a:t>
            </a:r>
          </a:p>
        </p:txBody>
      </p:sp>
      <p:sp>
        <p:nvSpPr>
          <p:cNvPr id="5" name="TextBox 4">
            <a:extLst>
              <a:ext uri="{FF2B5EF4-FFF2-40B4-BE49-F238E27FC236}">
                <a16:creationId xmlns:a16="http://schemas.microsoft.com/office/drawing/2014/main" id="{D0EA923E-6C42-A4AB-495C-6EB8E989A1A5}"/>
              </a:ext>
            </a:extLst>
          </p:cNvPr>
          <p:cNvSpPr txBox="1"/>
          <p:nvPr/>
        </p:nvSpPr>
        <p:spPr>
          <a:xfrm>
            <a:off x="1454148" y="3724894"/>
            <a:ext cx="9052477" cy="2585323"/>
          </a:xfrm>
          <a:prstGeom prst="rect">
            <a:avLst/>
          </a:prstGeom>
          <a:noFill/>
        </p:spPr>
        <p:txBody>
          <a:bodyPr wrap="square">
            <a:spAutoFit/>
          </a:bodyPr>
          <a:lstStyle/>
          <a:p>
            <a:pPr>
              <a:buNone/>
            </a:pPr>
            <a:r>
              <a:rPr lang="en-US" b="1"/>
              <a:t>Techniques:</a:t>
            </a:r>
          </a:p>
          <a:p>
            <a:r>
              <a:rPr lang="en-US" b="1"/>
              <a:t>Min-Max Normalization (Scaling to [0,1]): </a:t>
            </a:r>
            <a:endParaRPr lang="en-US"/>
          </a:p>
          <a:p>
            <a:pPr>
              <a:buNone/>
            </a:pPr>
            <a:r>
              <a:rPr lang="en-US"/>
              <a:t>Formula:</a:t>
            </a:r>
          </a:p>
          <a:p>
            <a:pPr>
              <a:buNone/>
            </a:pPr>
            <a:endParaRPr lang="en-US" b="1"/>
          </a:p>
          <a:p>
            <a:pPr lvl="0" eaLnBrk="0" fontAlgn="base" hangingPunct="0">
              <a:spcBef>
                <a:spcPct val="0"/>
              </a:spcBef>
              <a:spcAft>
                <a:spcPct val="0"/>
              </a:spcAft>
              <a:buFontTx/>
              <a:buChar char="•"/>
            </a:pPr>
            <a:endParaRPr lang="en-US" altLang="en-US">
              <a:latin typeface="Arial" panose="020B0604020202020204" pitchFamily="34" charset="0"/>
            </a:endParaRPr>
          </a:p>
          <a:p>
            <a:pPr lvl="0" eaLnBrk="0" fontAlgn="base" hangingPunct="0">
              <a:spcBef>
                <a:spcPct val="0"/>
              </a:spcBef>
              <a:spcAft>
                <a:spcPct val="0"/>
              </a:spcAft>
              <a:buFontTx/>
              <a:buChar char="•"/>
            </a:pPr>
            <a:r>
              <a:rPr lang="en-US" altLang="en-US">
                <a:latin typeface="Arial" panose="020B0604020202020204" pitchFamily="34" charset="0"/>
              </a:rPr>
              <a:t>Pros: Preserves shape of distribution.</a:t>
            </a:r>
          </a:p>
          <a:p>
            <a:pPr lvl="0" eaLnBrk="0" fontAlgn="base" hangingPunct="0">
              <a:spcBef>
                <a:spcPct val="0"/>
              </a:spcBef>
              <a:spcAft>
                <a:spcPct val="0"/>
              </a:spcAft>
              <a:buFontTx/>
              <a:buChar char="•"/>
            </a:pPr>
            <a:r>
              <a:rPr lang="en-US" altLang="en-US">
                <a:latin typeface="Arial" panose="020B0604020202020204" pitchFamily="34" charset="0"/>
              </a:rPr>
              <a:t>Cons: Sensitive to outliers.</a:t>
            </a:r>
          </a:p>
          <a:p>
            <a:pPr>
              <a:buNone/>
            </a:pPr>
            <a:endParaRPr lang="en-US" b="1"/>
          </a:p>
          <a:p>
            <a:pPr>
              <a:buNone/>
            </a:pPr>
            <a:endParaRPr lang="en-US" b="1" dirty="0"/>
          </a:p>
        </p:txBody>
      </p:sp>
      <p:pic>
        <p:nvPicPr>
          <p:cNvPr id="8" name="Picture 7">
            <a:extLst>
              <a:ext uri="{FF2B5EF4-FFF2-40B4-BE49-F238E27FC236}">
                <a16:creationId xmlns:a16="http://schemas.microsoft.com/office/drawing/2014/main" id="{DB551945-BBEF-C1AE-64ED-7FC37BEF7C1B}"/>
              </a:ext>
            </a:extLst>
          </p:cNvPr>
          <p:cNvPicPr>
            <a:picLocks noChangeAspect="1"/>
          </p:cNvPicPr>
          <p:nvPr/>
        </p:nvPicPr>
        <p:blipFill>
          <a:blip r:embed="rId4"/>
          <a:stretch>
            <a:fillRect/>
          </a:stretch>
        </p:blipFill>
        <p:spPr>
          <a:xfrm>
            <a:off x="2548053" y="4326875"/>
            <a:ext cx="2570791" cy="642697"/>
          </a:xfrm>
          <a:prstGeom prst="rect">
            <a:avLst/>
          </a:prstGeom>
        </p:spPr>
      </p:pic>
      <p:sp>
        <p:nvSpPr>
          <p:cNvPr id="13" name="TextBox 12">
            <a:extLst>
              <a:ext uri="{FF2B5EF4-FFF2-40B4-BE49-F238E27FC236}">
                <a16:creationId xmlns:a16="http://schemas.microsoft.com/office/drawing/2014/main" id="{720A6F26-45E5-7CFD-0578-0E86404489EC}"/>
              </a:ext>
            </a:extLst>
          </p:cNvPr>
          <p:cNvSpPr txBox="1"/>
          <p:nvPr/>
        </p:nvSpPr>
        <p:spPr>
          <a:xfrm>
            <a:off x="6096000" y="3955681"/>
            <a:ext cx="4148485" cy="1718419"/>
          </a:xfrm>
          <a:prstGeom prst="rect">
            <a:avLst/>
          </a:prstGeom>
          <a:noFill/>
        </p:spPr>
        <p:txBody>
          <a:bodyPr wrap="square">
            <a:spAutoFit/>
          </a:bodyPr>
          <a:lstStyle/>
          <a:p>
            <a:pPr algn="l" rtl="0" fontAlgn="base">
              <a:spcAft>
                <a:spcPts val="750"/>
              </a:spcAft>
              <a:buNone/>
            </a:pPr>
            <a:r>
              <a:rPr lang="en-US" sz="1400" b="1" i="0" dirty="0">
                <a:solidFill>
                  <a:srgbClr val="273239"/>
                </a:solidFill>
                <a:effectLst/>
                <a:latin typeface="Nunito" pitchFamily="2" charset="0"/>
              </a:rPr>
              <a:t>This method of scaling requires below two-step:</a:t>
            </a:r>
          </a:p>
          <a:p>
            <a:pPr algn="l" fontAlgn="base">
              <a:spcAft>
                <a:spcPts val="1800"/>
              </a:spcAft>
              <a:buFont typeface="+mj-lt"/>
              <a:buAutoNum type="arabicPeriod"/>
            </a:pPr>
            <a:r>
              <a:rPr lang="en-US" sz="1400" b="0" i="0" dirty="0">
                <a:solidFill>
                  <a:srgbClr val="273239"/>
                </a:solidFill>
                <a:effectLst/>
                <a:latin typeface="Nunito" pitchFamily="2" charset="0"/>
              </a:rPr>
              <a:t>First we are supposed to find the minimum and the maximum value of the column.</a:t>
            </a:r>
          </a:p>
          <a:p>
            <a:pPr algn="l" fontAlgn="base">
              <a:spcAft>
                <a:spcPts val="1800"/>
              </a:spcAft>
              <a:buFont typeface="+mj-lt"/>
              <a:buAutoNum type="arabicPeriod" startAt="2"/>
            </a:pPr>
            <a:r>
              <a:rPr lang="en-US" sz="1400" b="0" i="0" dirty="0">
                <a:solidFill>
                  <a:srgbClr val="273239"/>
                </a:solidFill>
                <a:effectLst/>
                <a:latin typeface="Nunito" pitchFamily="2" charset="0"/>
              </a:rPr>
              <a:t>Then we will subtract the minimum value from the entry and divide the result by the difference between the maximum and the minimum value.</a:t>
            </a:r>
          </a:p>
        </p:txBody>
      </p:sp>
      <p:sp>
        <p:nvSpPr>
          <p:cNvPr id="15" name="Rectangle 14">
            <a:extLst>
              <a:ext uri="{FF2B5EF4-FFF2-40B4-BE49-F238E27FC236}">
                <a16:creationId xmlns:a16="http://schemas.microsoft.com/office/drawing/2014/main" id="{3EDE5A57-5A65-1784-9BBC-6BC396AFDA09}"/>
              </a:ext>
            </a:extLst>
          </p:cNvPr>
          <p:cNvSpPr/>
          <p:nvPr/>
        </p:nvSpPr>
        <p:spPr>
          <a:xfrm>
            <a:off x="1452281" y="3542097"/>
            <a:ext cx="9052476" cy="23475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13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B08CB-083E-B908-B504-7E55F6EC6E93}"/>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BD01517-D244-BB18-8EE7-B58036404E64}"/>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56DD34F-9606-9FA4-FF22-4761D06F9B44}"/>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1A68D9B-A846-E4FB-62A9-9BA4DB558FE4}"/>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DF4AF37-37AC-3B33-5F83-1B220088727B}"/>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38149053-F573-678F-9F31-E69604FA0A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BEF80C5B-A985-D166-F13A-CAAEE65139BC}"/>
              </a:ext>
            </a:extLst>
          </p:cNvPr>
          <p:cNvSpPr txBox="1"/>
          <p:nvPr/>
        </p:nvSpPr>
        <p:spPr>
          <a:xfrm>
            <a:off x="1452281" y="508001"/>
            <a:ext cx="6102350" cy="461665"/>
          </a:xfrm>
          <a:prstGeom prst="rect">
            <a:avLst/>
          </a:prstGeom>
          <a:noFill/>
        </p:spPr>
        <p:txBody>
          <a:bodyPr wrap="square">
            <a:spAutoFit/>
          </a:bodyPr>
          <a:lstStyle/>
          <a:p>
            <a:pPr>
              <a:buNone/>
            </a:pPr>
            <a:r>
              <a:rPr lang="en-US" sz="2400" b="1" dirty="0"/>
              <a:t>Feature Scaling and Normalization</a:t>
            </a:r>
          </a:p>
        </p:txBody>
      </p:sp>
      <p:sp>
        <p:nvSpPr>
          <p:cNvPr id="5" name="TextBox 4">
            <a:extLst>
              <a:ext uri="{FF2B5EF4-FFF2-40B4-BE49-F238E27FC236}">
                <a16:creationId xmlns:a16="http://schemas.microsoft.com/office/drawing/2014/main" id="{2C877A44-E973-AC43-8CC9-897A5B7A871D}"/>
              </a:ext>
            </a:extLst>
          </p:cNvPr>
          <p:cNvSpPr txBox="1"/>
          <p:nvPr/>
        </p:nvSpPr>
        <p:spPr>
          <a:xfrm>
            <a:off x="1253316" y="1346875"/>
            <a:ext cx="9371605" cy="2031325"/>
          </a:xfrm>
          <a:prstGeom prst="rect">
            <a:avLst/>
          </a:prstGeom>
          <a:noFill/>
        </p:spPr>
        <p:txBody>
          <a:bodyPr wrap="square">
            <a:spAutoFit/>
          </a:bodyPr>
          <a:lstStyle/>
          <a:p>
            <a:pPr>
              <a:buNone/>
            </a:pPr>
            <a:r>
              <a:rPr lang="en-US" b="1" dirty="0"/>
              <a:t>Techniques:</a:t>
            </a:r>
          </a:p>
          <a:p>
            <a:r>
              <a:rPr lang="en-US" b="1" dirty="0"/>
              <a:t>Standardization (Z-score Normalization): Formula:</a:t>
            </a:r>
          </a:p>
          <a:p>
            <a:pPr>
              <a:buNone/>
            </a:pPr>
            <a:endParaRPr lang="en-US" b="1" dirty="0"/>
          </a:p>
          <a:p>
            <a:pPr lvl="0" eaLnBrk="0" fontAlgn="base" hangingPunct="0">
              <a:spcBef>
                <a:spcPct val="0"/>
              </a:spcBef>
              <a:spcAft>
                <a:spcPct val="0"/>
              </a:spcAft>
              <a:buFontTx/>
              <a:buChar char="•"/>
            </a:pPr>
            <a:endParaRPr lang="en-US" altLang="en-US" dirty="0">
              <a:latin typeface="Arial" panose="020B0604020202020204" pitchFamily="34" charset="0"/>
            </a:endParaRPr>
          </a:p>
          <a:p>
            <a:pPr marL="285750" indent="-285750">
              <a:buFont typeface="Arial" panose="020B0604020202020204" pitchFamily="34" charset="0"/>
              <a:buChar char="•"/>
            </a:pPr>
            <a:r>
              <a:rPr lang="en-US" dirty="0"/>
              <a:t>Converts data to mean 0 and variance 1.</a:t>
            </a:r>
          </a:p>
          <a:p>
            <a:pPr marL="285750" indent="-285750">
              <a:buFont typeface="Arial" panose="020B0604020202020204" pitchFamily="34" charset="0"/>
              <a:buChar char="•"/>
            </a:pPr>
            <a:r>
              <a:rPr lang="en-US" dirty="0"/>
              <a:t>Useful when data follows Gaussian distribution</a:t>
            </a:r>
            <a:endParaRPr lang="en-US" b="1" dirty="0"/>
          </a:p>
          <a:p>
            <a:pPr>
              <a:buNone/>
            </a:pPr>
            <a:endParaRPr lang="en-US" b="1" dirty="0"/>
          </a:p>
        </p:txBody>
      </p:sp>
      <p:pic>
        <p:nvPicPr>
          <p:cNvPr id="3" name="Picture 2">
            <a:extLst>
              <a:ext uri="{FF2B5EF4-FFF2-40B4-BE49-F238E27FC236}">
                <a16:creationId xmlns:a16="http://schemas.microsoft.com/office/drawing/2014/main" id="{BC9ABFE1-F4D9-55FD-F3FD-D9F950DF51C8}"/>
              </a:ext>
            </a:extLst>
          </p:cNvPr>
          <p:cNvPicPr>
            <a:picLocks noChangeAspect="1"/>
          </p:cNvPicPr>
          <p:nvPr/>
        </p:nvPicPr>
        <p:blipFill>
          <a:blip r:embed="rId4"/>
          <a:stretch>
            <a:fillRect/>
          </a:stretch>
        </p:blipFill>
        <p:spPr>
          <a:xfrm>
            <a:off x="6523932" y="1540868"/>
            <a:ext cx="1905266" cy="495369"/>
          </a:xfrm>
          <a:prstGeom prst="rect">
            <a:avLst/>
          </a:prstGeom>
        </p:spPr>
      </p:pic>
      <p:sp>
        <p:nvSpPr>
          <p:cNvPr id="17" name="TextBox 16">
            <a:extLst>
              <a:ext uri="{FF2B5EF4-FFF2-40B4-BE49-F238E27FC236}">
                <a16:creationId xmlns:a16="http://schemas.microsoft.com/office/drawing/2014/main" id="{A9B8AD8A-6A42-02FA-0405-1DA543472B5D}"/>
              </a:ext>
            </a:extLst>
          </p:cNvPr>
          <p:cNvSpPr txBox="1"/>
          <p:nvPr/>
        </p:nvSpPr>
        <p:spPr>
          <a:xfrm>
            <a:off x="1452215" y="3701535"/>
            <a:ext cx="6102416" cy="646331"/>
          </a:xfrm>
          <a:prstGeom prst="rect">
            <a:avLst/>
          </a:prstGeom>
          <a:noFill/>
        </p:spPr>
        <p:txBody>
          <a:bodyPr wrap="square">
            <a:spAutoFit/>
          </a:bodyPr>
          <a:lstStyle/>
          <a:p>
            <a:r>
              <a:rPr lang="en-US" b="1" dirty="0"/>
              <a:t>Robust Scaling:</a:t>
            </a:r>
          </a:p>
          <a:p>
            <a:r>
              <a:rPr lang="en-US" dirty="0"/>
              <a:t>    Formula </a:t>
            </a:r>
            <a:endParaRPr lang="en-US" b="1" dirty="0"/>
          </a:p>
        </p:txBody>
      </p:sp>
      <p:pic>
        <p:nvPicPr>
          <p:cNvPr id="19" name="Picture 18">
            <a:extLst>
              <a:ext uri="{FF2B5EF4-FFF2-40B4-BE49-F238E27FC236}">
                <a16:creationId xmlns:a16="http://schemas.microsoft.com/office/drawing/2014/main" id="{4FEF726A-ADFC-5419-A5BD-2BA0164888C0}"/>
              </a:ext>
            </a:extLst>
          </p:cNvPr>
          <p:cNvPicPr>
            <a:picLocks noChangeAspect="1"/>
          </p:cNvPicPr>
          <p:nvPr/>
        </p:nvPicPr>
        <p:blipFill>
          <a:blip r:embed="rId5"/>
          <a:stretch>
            <a:fillRect/>
          </a:stretch>
        </p:blipFill>
        <p:spPr>
          <a:xfrm>
            <a:off x="2734366" y="4004986"/>
            <a:ext cx="2314898" cy="523948"/>
          </a:xfrm>
          <a:prstGeom prst="rect">
            <a:avLst/>
          </a:prstGeom>
        </p:spPr>
      </p:pic>
      <p:sp>
        <p:nvSpPr>
          <p:cNvPr id="23" name="TextBox 22">
            <a:extLst>
              <a:ext uri="{FF2B5EF4-FFF2-40B4-BE49-F238E27FC236}">
                <a16:creationId xmlns:a16="http://schemas.microsoft.com/office/drawing/2014/main" id="{0C009797-2283-4D00-DF87-8A3A601AA775}"/>
              </a:ext>
            </a:extLst>
          </p:cNvPr>
          <p:cNvSpPr txBox="1"/>
          <p:nvPr/>
        </p:nvSpPr>
        <p:spPr>
          <a:xfrm>
            <a:off x="1452215" y="4527528"/>
            <a:ext cx="6102416" cy="369332"/>
          </a:xfrm>
          <a:prstGeom prst="rect">
            <a:avLst/>
          </a:prstGeom>
          <a:noFill/>
        </p:spPr>
        <p:txBody>
          <a:bodyPr wrap="square">
            <a:spAutoFit/>
          </a:bodyPr>
          <a:lstStyle/>
          <a:p>
            <a:r>
              <a:rPr lang="en-US" dirty="0"/>
              <a:t>Uses median and interquartile range (IQR).</a:t>
            </a:r>
          </a:p>
        </p:txBody>
      </p:sp>
      <p:sp>
        <p:nvSpPr>
          <p:cNvPr id="25" name="TextBox 24">
            <a:extLst>
              <a:ext uri="{FF2B5EF4-FFF2-40B4-BE49-F238E27FC236}">
                <a16:creationId xmlns:a16="http://schemas.microsoft.com/office/drawing/2014/main" id="{848D4987-B1A7-39AC-219D-AFA0D1D68CB2}"/>
              </a:ext>
            </a:extLst>
          </p:cNvPr>
          <p:cNvSpPr txBox="1"/>
          <p:nvPr/>
        </p:nvSpPr>
        <p:spPr>
          <a:xfrm>
            <a:off x="1452215" y="4845902"/>
            <a:ext cx="6102416" cy="369332"/>
          </a:xfrm>
          <a:prstGeom prst="rect">
            <a:avLst/>
          </a:prstGeom>
          <a:noFill/>
        </p:spPr>
        <p:txBody>
          <a:bodyPr wrap="square">
            <a:spAutoFit/>
          </a:bodyPr>
          <a:lstStyle/>
          <a:p>
            <a:r>
              <a:rPr lang="en-US" dirty="0"/>
              <a:t>Robust against outliers.</a:t>
            </a:r>
          </a:p>
        </p:txBody>
      </p:sp>
    </p:spTree>
    <p:extLst>
      <p:ext uri="{BB962C8B-B14F-4D97-AF65-F5344CB8AC3E}">
        <p14:creationId xmlns:p14="http://schemas.microsoft.com/office/powerpoint/2010/main" val="4107873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56498-17B1-6BC0-AEAE-5875692E81F8}"/>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ACF5CA5-E1CF-6D81-A165-CC5CAAE11C5D}"/>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28194E0-9D37-9AAE-0A1B-84961C6305A2}"/>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74269B31-D19F-C97E-DC15-19BCF00EE48D}"/>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5144696-A7CD-5336-BA9D-5FFF3A43A55B}"/>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B3AD13A6-A7C6-1B6B-CA4A-C89CEE644A3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1B8BB85D-D884-B47C-2772-9B3E0F844D15}"/>
              </a:ext>
            </a:extLst>
          </p:cNvPr>
          <p:cNvSpPr txBox="1"/>
          <p:nvPr/>
        </p:nvSpPr>
        <p:spPr>
          <a:xfrm>
            <a:off x="1452280" y="508001"/>
            <a:ext cx="7951599" cy="461665"/>
          </a:xfrm>
          <a:prstGeom prst="rect">
            <a:avLst/>
          </a:prstGeom>
          <a:noFill/>
        </p:spPr>
        <p:txBody>
          <a:bodyPr wrap="square">
            <a:spAutoFit/>
          </a:bodyPr>
          <a:lstStyle/>
          <a:p>
            <a:pPr>
              <a:buNone/>
            </a:pPr>
            <a:r>
              <a:rPr lang="en-US" sz="2400" b="1" dirty="0"/>
              <a:t>Handling Categorical Variables and Feature Encoding</a:t>
            </a:r>
          </a:p>
        </p:txBody>
      </p:sp>
      <p:sp>
        <p:nvSpPr>
          <p:cNvPr id="4" name="TextBox 3">
            <a:extLst>
              <a:ext uri="{FF2B5EF4-FFF2-40B4-BE49-F238E27FC236}">
                <a16:creationId xmlns:a16="http://schemas.microsoft.com/office/drawing/2014/main" id="{3802E414-6A5D-FFFB-70B9-027D912A1E82}"/>
              </a:ext>
            </a:extLst>
          </p:cNvPr>
          <p:cNvSpPr txBox="1"/>
          <p:nvPr/>
        </p:nvSpPr>
        <p:spPr>
          <a:xfrm>
            <a:off x="1270536" y="1189335"/>
            <a:ext cx="6102416" cy="1200329"/>
          </a:xfrm>
          <a:prstGeom prst="rect">
            <a:avLst/>
          </a:prstGeom>
          <a:noFill/>
        </p:spPr>
        <p:txBody>
          <a:bodyPr wrap="square">
            <a:spAutoFit/>
          </a:bodyPr>
          <a:lstStyle/>
          <a:p>
            <a:pPr>
              <a:buNone/>
            </a:pPr>
            <a:r>
              <a:rPr lang="en-US" b="1" dirty="0"/>
              <a:t>Why Encoding?</a:t>
            </a:r>
          </a:p>
          <a:p>
            <a:pPr>
              <a:buFont typeface="Arial" panose="020B0604020202020204" pitchFamily="34" charset="0"/>
              <a:buChar char="•"/>
            </a:pPr>
            <a:r>
              <a:rPr lang="en-US" dirty="0"/>
              <a:t>ML models require numerical input.</a:t>
            </a:r>
          </a:p>
          <a:p>
            <a:pPr>
              <a:buFont typeface="Arial" panose="020B0604020202020204" pitchFamily="34" charset="0"/>
              <a:buChar char="•"/>
            </a:pPr>
            <a:r>
              <a:rPr lang="en-US" dirty="0"/>
              <a:t>Categorical values (like Gender = {Male, Female}) must be converted to numbers.</a:t>
            </a:r>
          </a:p>
        </p:txBody>
      </p:sp>
      <p:sp>
        <p:nvSpPr>
          <p:cNvPr id="8" name="TextBox 7">
            <a:extLst>
              <a:ext uri="{FF2B5EF4-FFF2-40B4-BE49-F238E27FC236}">
                <a16:creationId xmlns:a16="http://schemas.microsoft.com/office/drawing/2014/main" id="{1C3AB47E-651C-2329-C3D8-498B4AB9F825}"/>
              </a:ext>
            </a:extLst>
          </p:cNvPr>
          <p:cNvSpPr txBox="1"/>
          <p:nvPr/>
        </p:nvSpPr>
        <p:spPr>
          <a:xfrm>
            <a:off x="1454077" y="2381746"/>
            <a:ext cx="6102416" cy="3693319"/>
          </a:xfrm>
          <a:prstGeom prst="rect">
            <a:avLst/>
          </a:prstGeom>
          <a:noFill/>
        </p:spPr>
        <p:txBody>
          <a:bodyPr wrap="square">
            <a:spAutoFit/>
          </a:bodyPr>
          <a:lstStyle/>
          <a:p>
            <a:pPr>
              <a:buNone/>
            </a:pPr>
            <a:r>
              <a:rPr lang="en-US" b="1" dirty="0"/>
              <a:t>Encoding Techniques:</a:t>
            </a:r>
          </a:p>
          <a:p>
            <a:pPr>
              <a:buFont typeface="+mj-lt"/>
              <a:buAutoNum type="arabicPeriod"/>
            </a:pPr>
            <a:r>
              <a:rPr lang="en-US" b="1" dirty="0"/>
              <a:t>Label Encoding:</a:t>
            </a:r>
            <a:endParaRPr lang="en-US" dirty="0"/>
          </a:p>
          <a:p>
            <a:pPr marL="742950" lvl="1" indent="-285750">
              <a:buFont typeface="+mj-lt"/>
              <a:buAutoNum type="arabicPeriod"/>
            </a:pPr>
            <a:r>
              <a:rPr lang="en-US" dirty="0"/>
              <a:t>Assigns integer values to categories.</a:t>
            </a:r>
          </a:p>
          <a:p>
            <a:pPr marL="742950" lvl="1" indent="-285750">
              <a:buFont typeface="+mj-lt"/>
              <a:buAutoNum type="arabicPeriod"/>
            </a:pPr>
            <a:r>
              <a:rPr lang="en-US" dirty="0"/>
              <a:t>Example: Male → 0, Female → 1.</a:t>
            </a:r>
          </a:p>
          <a:p>
            <a:pPr marL="742950" lvl="1" indent="-285750">
              <a:buFont typeface="+mj-lt"/>
              <a:buAutoNum type="arabicPeriod"/>
            </a:pPr>
            <a:r>
              <a:rPr lang="en-US" dirty="0"/>
              <a:t>Problem: Implies ordinal relationship (0 &lt; 1).</a:t>
            </a:r>
          </a:p>
          <a:p>
            <a:pPr>
              <a:buFont typeface="+mj-lt"/>
              <a:buAutoNum type="arabicPeriod"/>
            </a:pPr>
            <a:r>
              <a:rPr lang="en-US" b="1" dirty="0"/>
              <a:t>One-Hot Encoding:</a:t>
            </a:r>
            <a:endParaRPr lang="en-US" dirty="0"/>
          </a:p>
          <a:p>
            <a:pPr marL="742950" lvl="1" indent="-285750">
              <a:buFont typeface="+mj-lt"/>
              <a:buAutoNum type="arabicPeriod"/>
            </a:pPr>
            <a:r>
              <a:rPr lang="en-US" dirty="0"/>
              <a:t>Creates separate binary columns.</a:t>
            </a:r>
          </a:p>
          <a:p>
            <a:pPr marL="742950" lvl="1" indent="-285750">
              <a:buFont typeface="+mj-lt"/>
              <a:buAutoNum type="arabicPeriod"/>
            </a:pPr>
            <a:r>
              <a:rPr lang="en-US" dirty="0"/>
              <a:t>Example: Color = {Red, Blue, Green} → Red = [1,0,0], Blue = [0,1,0], Green = [0,0,1].</a:t>
            </a:r>
          </a:p>
          <a:p>
            <a:pPr marL="742950" lvl="1" indent="-285750">
              <a:buFont typeface="+mj-lt"/>
              <a:buAutoNum type="arabicPeriod"/>
            </a:pPr>
            <a:r>
              <a:rPr lang="en-US" dirty="0"/>
              <a:t>Increases dimensionality.</a:t>
            </a:r>
          </a:p>
          <a:p>
            <a:pPr>
              <a:buFont typeface="+mj-lt"/>
              <a:buAutoNum type="arabicPeriod"/>
            </a:pPr>
            <a:r>
              <a:rPr lang="en-US" b="1" dirty="0"/>
              <a:t>Target Encoding:</a:t>
            </a:r>
            <a:endParaRPr lang="en-US" dirty="0"/>
          </a:p>
          <a:p>
            <a:pPr marL="742950" lvl="1" indent="-285750">
              <a:buFont typeface="+mj-lt"/>
              <a:buAutoNum type="arabicPeriod"/>
            </a:pPr>
            <a:r>
              <a:rPr lang="en-US" dirty="0"/>
              <a:t>Replaces categories with mean of target variable.</a:t>
            </a:r>
          </a:p>
          <a:p>
            <a:pPr marL="742950" lvl="1" indent="-285750">
              <a:buFont typeface="+mj-lt"/>
              <a:buAutoNum type="arabicPeriod"/>
            </a:pPr>
            <a:r>
              <a:rPr lang="en-US" dirty="0"/>
              <a:t>Useful in high cardinality features.</a:t>
            </a:r>
          </a:p>
        </p:txBody>
      </p:sp>
    </p:spTree>
    <p:extLst>
      <p:ext uri="{BB962C8B-B14F-4D97-AF65-F5344CB8AC3E}">
        <p14:creationId xmlns:p14="http://schemas.microsoft.com/office/powerpoint/2010/main" val="1703681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C9C4-620F-ED7F-07CD-D9BAC6B50896}"/>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B8729DC-F460-179D-FA78-766E0ADD9557}"/>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5C245AB-58F0-E807-F844-862FA0861770}"/>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30EA48D-8ABA-0052-A66B-A414C40C31B9}"/>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0155384-D0CF-20EA-7439-5B96C20B1732}"/>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BAE7B9D0-2983-C904-A372-90909D21749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BFBF12CF-B2B0-450E-84D8-E80664B0EAFE}"/>
              </a:ext>
            </a:extLst>
          </p:cNvPr>
          <p:cNvSpPr txBox="1"/>
          <p:nvPr/>
        </p:nvSpPr>
        <p:spPr>
          <a:xfrm>
            <a:off x="1452280" y="508001"/>
            <a:ext cx="7951599" cy="461665"/>
          </a:xfrm>
          <a:prstGeom prst="rect">
            <a:avLst/>
          </a:prstGeom>
          <a:noFill/>
        </p:spPr>
        <p:txBody>
          <a:bodyPr wrap="square">
            <a:spAutoFit/>
          </a:bodyPr>
          <a:lstStyle/>
          <a:p>
            <a:pPr>
              <a:buNone/>
            </a:pPr>
            <a:r>
              <a:rPr lang="en-US" sz="2400" b="1" dirty="0"/>
              <a:t>Handling Missing Values and Data Imputation</a:t>
            </a:r>
          </a:p>
        </p:txBody>
      </p:sp>
      <p:sp>
        <p:nvSpPr>
          <p:cNvPr id="3" name="TextBox 2">
            <a:extLst>
              <a:ext uri="{FF2B5EF4-FFF2-40B4-BE49-F238E27FC236}">
                <a16:creationId xmlns:a16="http://schemas.microsoft.com/office/drawing/2014/main" id="{94B5CFD4-5871-662F-4403-018AC7B016B2}"/>
              </a:ext>
            </a:extLst>
          </p:cNvPr>
          <p:cNvSpPr txBox="1"/>
          <p:nvPr/>
        </p:nvSpPr>
        <p:spPr>
          <a:xfrm>
            <a:off x="1452280" y="1260208"/>
            <a:ext cx="6102416" cy="4247317"/>
          </a:xfrm>
          <a:prstGeom prst="rect">
            <a:avLst/>
          </a:prstGeom>
          <a:noFill/>
        </p:spPr>
        <p:txBody>
          <a:bodyPr wrap="square">
            <a:spAutoFit/>
          </a:bodyPr>
          <a:lstStyle/>
          <a:p>
            <a:pPr>
              <a:buNone/>
            </a:pPr>
            <a:r>
              <a:rPr lang="en-US" b="1" dirty="0"/>
              <a:t>Why Handle Missing Data?</a:t>
            </a:r>
          </a:p>
          <a:p>
            <a:pPr>
              <a:buFont typeface="Arial" panose="020B0604020202020204" pitchFamily="34" charset="0"/>
              <a:buChar char="•"/>
            </a:pPr>
            <a:r>
              <a:rPr lang="en-US" dirty="0"/>
              <a:t>Missing values reduce data quality.</a:t>
            </a:r>
          </a:p>
          <a:p>
            <a:pPr>
              <a:buFont typeface="Arial" panose="020B0604020202020204" pitchFamily="34" charset="0"/>
              <a:buChar char="•"/>
            </a:pPr>
            <a:r>
              <a:rPr lang="en-US" dirty="0"/>
              <a:t>Many ML algorithms cannot handle </a:t>
            </a:r>
            <a:r>
              <a:rPr lang="en-US" dirty="0" err="1"/>
              <a:t>NaN</a:t>
            </a:r>
            <a:r>
              <a:rPr lang="en-US" dirty="0"/>
              <a:t> values.</a:t>
            </a:r>
          </a:p>
          <a:p>
            <a:pPr>
              <a:buNone/>
            </a:pPr>
            <a:r>
              <a:rPr lang="en-US" b="1" dirty="0"/>
              <a:t>Techniques:</a:t>
            </a:r>
          </a:p>
          <a:p>
            <a:pPr>
              <a:buFont typeface="+mj-lt"/>
              <a:buAutoNum type="arabicPeriod"/>
            </a:pPr>
            <a:r>
              <a:rPr lang="en-US" b="1" dirty="0"/>
              <a:t>Dropping:</a:t>
            </a:r>
            <a:endParaRPr lang="en-US" dirty="0"/>
          </a:p>
          <a:p>
            <a:pPr marL="742950" lvl="1" indent="-285750">
              <a:buFont typeface="+mj-lt"/>
              <a:buAutoNum type="arabicPeriod"/>
            </a:pPr>
            <a:r>
              <a:rPr lang="en-US" dirty="0"/>
              <a:t>Drop rows/columns with too many missing values.</a:t>
            </a:r>
          </a:p>
          <a:p>
            <a:pPr marL="742950" lvl="1" indent="-285750">
              <a:buFont typeface="+mj-lt"/>
              <a:buAutoNum type="arabicPeriod"/>
            </a:pPr>
            <a:r>
              <a:rPr lang="en-US" dirty="0"/>
              <a:t>Risk: Data loss.</a:t>
            </a:r>
          </a:p>
          <a:p>
            <a:pPr>
              <a:buFont typeface="+mj-lt"/>
              <a:buAutoNum type="arabicPeriod"/>
            </a:pPr>
            <a:r>
              <a:rPr lang="en-US" b="1" dirty="0"/>
              <a:t>Mean/Median/Mode Imputation:</a:t>
            </a:r>
            <a:endParaRPr lang="en-US" dirty="0"/>
          </a:p>
          <a:p>
            <a:pPr marL="742950" lvl="1" indent="-285750">
              <a:buFont typeface="+mj-lt"/>
              <a:buAutoNum type="arabicPeriod"/>
            </a:pPr>
            <a:r>
              <a:rPr lang="en-US" dirty="0"/>
              <a:t>Replace missing values with column mean, median, or mode.</a:t>
            </a:r>
          </a:p>
          <a:p>
            <a:pPr>
              <a:buFont typeface="+mj-lt"/>
              <a:buAutoNum type="arabicPeriod"/>
            </a:pPr>
            <a:r>
              <a:rPr lang="en-US" b="1" dirty="0"/>
              <a:t>KNN Imputation:</a:t>
            </a:r>
            <a:endParaRPr lang="en-US" dirty="0"/>
          </a:p>
          <a:p>
            <a:pPr marL="742950" lvl="1" indent="-285750">
              <a:buFont typeface="+mj-lt"/>
              <a:buAutoNum type="arabicPeriod"/>
            </a:pPr>
            <a:r>
              <a:rPr lang="en-US" dirty="0"/>
              <a:t>Uses nearest neighbors to fill missing values.</a:t>
            </a:r>
          </a:p>
          <a:p>
            <a:pPr>
              <a:buFont typeface="+mj-lt"/>
              <a:buAutoNum type="arabicPeriod"/>
            </a:pPr>
            <a:r>
              <a:rPr lang="en-US" b="1" dirty="0"/>
              <a:t>Advanced Methods:</a:t>
            </a:r>
            <a:endParaRPr lang="en-US" dirty="0"/>
          </a:p>
          <a:p>
            <a:pPr marL="742950" lvl="1" indent="-285750">
              <a:buFont typeface="+mj-lt"/>
              <a:buAutoNum type="arabicPeriod"/>
            </a:pPr>
            <a:r>
              <a:rPr lang="en-US" dirty="0"/>
              <a:t>Regression imputation, MICE (Multiple Imputation by Chained Equations).</a:t>
            </a:r>
          </a:p>
        </p:txBody>
      </p:sp>
    </p:spTree>
    <p:extLst>
      <p:ext uri="{BB962C8B-B14F-4D97-AF65-F5344CB8AC3E}">
        <p14:creationId xmlns:p14="http://schemas.microsoft.com/office/powerpoint/2010/main" val="2178760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E050-E22C-B8CD-5D63-747C059AE311}"/>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C0FCF1B-F19F-84D8-2854-C572C8AE7073}"/>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6B7BFC8-EE3C-5AFC-1058-BA10964463D8}"/>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29873E1-AE9A-A254-A4BE-0AFC112D4732}"/>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4C0FD3C-F8EF-7FCD-89F1-7F13148B8AF7}"/>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6791ACBF-952A-B20A-5D15-9A3B196EF11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9B66A6E5-1F64-3E75-BB0E-FC7E0C18926D}"/>
              </a:ext>
            </a:extLst>
          </p:cNvPr>
          <p:cNvSpPr txBox="1"/>
          <p:nvPr/>
        </p:nvSpPr>
        <p:spPr>
          <a:xfrm>
            <a:off x="1452280" y="508001"/>
            <a:ext cx="7951599" cy="461665"/>
          </a:xfrm>
          <a:prstGeom prst="rect">
            <a:avLst/>
          </a:prstGeom>
          <a:noFill/>
        </p:spPr>
        <p:txBody>
          <a:bodyPr wrap="square">
            <a:spAutoFit/>
          </a:bodyPr>
          <a:lstStyle/>
          <a:p>
            <a:pPr>
              <a:buNone/>
            </a:pPr>
            <a:r>
              <a:rPr lang="en-US" sz="2400" b="1" dirty="0"/>
              <a:t>Model Selection and Evaluation</a:t>
            </a:r>
          </a:p>
        </p:txBody>
      </p:sp>
      <p:sp>
        <p:nvSpPr>
          <p:cNvPr id="3" name="TextBox 2">
            <a:extLst>
              <a:ext uri="{FF2B5EF4-FFF2-40B4-BE49-F238E27FC236}">
                <a16:creationId xmlns:a16="http://schemas.microsoft.com/office/drawing/2014/main" id="{64A12073-9F1A-8766-B7BD-87631C93E2B1}"/>
              </a:ext>
            </a:extLst>
          </p:cNvPr>
          <p:cNvSpPr txBox="1"/>
          <p:nvPr/>
        </p:nvSpPr>
        <p:spPr>
          <a:xfrm>
            <a:off x="1452280" y="1260208"/>
            <a:ext cx="6102416" cy="1200329"/>
          </a:xfrm>
          <a:prstGeom prst="rect">
            <a:avLst/>
          </a:prstGeom>
          <a:noFill/>
        </p:spPr>
        <p:txBody>
          <a:bodyPr wrap="square">
            <a:spAutoFit/>
          </a:bodyPr>
          <a:lstStyle/>
          <a:p>
            <a:r>
              <a:rPr lang="en-US" b="1" dirty="0"/>
              <a:t>Train-Test Split</a:t>
            </a:r>
          </a:p>
          <a:p>
            <a:r>
              <a:rPr lang="en-US" dirty="0"/>
              <a:t>Split dataset into training (used to train model) and testing (used to evaluate).</a:t>
            </a:r>
          </a:p>
          <a:p>
            <a:r>
              <a:rPr lang="en-US" dirty="0"/>
              <a:t>Typical ratio: 70:30 or 80:20</a:t>
            </a:r>
          </a:p>
        </p:txBody>
      </p:sp>
      <p:sp>
        <p:nvSpPr>
          <p:cNvPr id="4" name="TextBox 3">
            <a:extLst>
              <a:ext uri="{FF2B5EF4-FFF2-40B4-BE49-F238E27FC236}">
                <a16:creationId xmlns:a16="http://schemas.microsoft.com/office/drawing/2014/main" id="{616FFE10-B3A9-F629-E375-240A6FB3CE68}"/>
              </a:ext>
            </a:extLst>
          </p:cNvPr>
          <p:cNvSpPr txBox="1"/>
          <p:nvPr/>
        </p:nvSpPr>
        <p:spPr>
          <a:xfrm>
            <a:off x="1357162" y="2995941"/>
            <a:ext cx="6102416" cy="1200329"/>
          </a:xfrm>
          <a:prstGeom prst="rect">
            <a:avLst/>
          </a:prstGeom>
          <a:noFill/>
        </p:spPr>
        <p:txBody>
          <a:bodyPr wrap="square">
            <a:spAutoFit/>
          </a:bodyPr>
          <a:lstStyle/>
          <a:p>
            <a:pPr>
              <a:buNone/>
            </a:pPr>
            <a:r>
              <a:rPr lang="en-US" b="1" dirty="0"/>
              <a:t>Cross-Validation</a:t>
            </a:r>
          </a:p>
          <a:p>
            <a:pPr>
              <a:buFont typeface="Arial" panose="020B0604020202020204" pitchFamily="34" charset="0"/>
              <a:buChar char="•"/>
            </a:pPr>
            <a:r>
              <a:rPr lang="en-US" dirty="0"/>
              <a:t>Divides dataset into </a:t>
            </a:r>
            <a:r>
              <a:rPr lang="en-US" i="1" dirty="0"/>
              <a:t>k</a:t>
            </a:r>
            <a:r>
              <a:rPr lang="en-US" dirty="0"/>
              <a:t> folds.</a:t>
            </a:r>
          </a:p>
          <a:p>
            <a:pPr>
              <a:buFont typeface="Arial" panose="020B0604020202020204" pitchFamily="34" charset="0"/>
              <a:buChar char="•"/>
            </a:pPr>
            <a:r>
              <a:rPr lang="en-US" dirty="0"/>
              <a:t>Each fold is used as test set once.</a:t>
            </a:r>
          </a:p>
          <a:p>
            <a:pPr>
              <a:buFont typeface="Arial" panose="020B0604020202020204" pitchFamily="34" charset="0"/>
              <a:buChar char="•"/>
            </a:pPr>
            <a:r>
              <a:rPr lang="en-US" dirty="0"/>
              <a:t>Provides better generalization.</a:t>
            </a:r>
          </a:p>
        </p:txBody>
      </p:sp>
    </p:spTree>
    <p:extLst>
      <p:ext uri="{BB962C8B-B14F-4D97-AF65-F5344CB8AC3E}">
        <p14:creationId xmlns:p14="http://schemas.microsoft.com/office/powerpoint/2010/main" val="64045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3421D-F842-BB0A-DB92-6BEA2BFEDE05}"/>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B384FD4-BED4-D35C-9002-3BAA78BF3FD9}"/>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4E40A30-15E9-89B3-6106-459AE431645B}"/>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66B0B8F-8085-3476-D2E5-F0FC2E321FC1}"/>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11E7BBE-B022-1978-716A-00E788530A68}"/>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9FFAF54B-358E-09B1-4B97-767105FA2A8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261FF389-9B8C-E22F-BFDE-4DA303F7A464}"/>
              </a:ext>
            </a:extLst>
          </p:cNvPr>
          <p:cNvSpPr txBox="1"/>
          <p:nvPr/>
        </p:nvSpPr>
        <p:spPr>
          <a:xfrm>
            <a:off x="1452280" y="508001"/>
            <a:ext cx="7951599" cy="461665"/>
          </a:xfrm>
          <a:prstGeom prst="rect">
            <a:avLst/>
          </a:prstGeom>
          <a:noFill/>
        </p:spPr>
        <p:txBody>
          <a:bodyPr wrap="square">
            <a:spAutoFit/>
          </a:bodyPr>
          <a:lstStyle/>
          <a:p>
            <a:pPr>
              <a:buNone/>
            </a:pPr>
            <a:r>
              <a:rPr lang="en-US" sz="2400" b="1" dirty="0"/>
              <a:t>Evaluation Metrics</a:t>
            </a:r>
          </a:p>
        </p:txBody>
      </p:sp>
      <p:sp>
        <p:nvSpPr>
          <p:cNvPr id="5" name="TextBox 4">
            <a:extLst>
              <a:ext uri="{FF2B5EF4-FFF2-40B4-BE49-F238E27FC236}">
                <a16:creationId xmlns:a16="http://schemas.microsoft.com/office/drawing/2014/main" id="{748DE231-B67F-84B9-2356-C53A7E87B5A3}"/>
              </a:ext>
            </a:extLst>
          </p:cNvPr>
          <p:cNvSpPr txBox="1"/>
          <p:nvPr/>
        </p:nvSpPr>
        <p:spPr>
          <a:xfrm>
            <a:off x="1452280" y="1273751"/>
            <a:ext cx="6102416" cy="4247317"/>
          </a:xfrm>
          <a:prstGeom prst="rect">
            <a:avLst/>
          </a:prstGeom>
          <a:noFill/>
        </p:spPr>
        <p:txBody>
          <a:bodyPr wrap="square">
            <a:spAutoFit/>
          </a:bodyPr>
          <a:lstStyle/>
          <a:p>
            <a:pPr>
              <a:buNone/>
            </a:pPr>
            <a:r>
              <a:rPr lang="en-US" b="1" dirty="0"/>
              <a:t>For Classification:</a:t>
            </a:r>
          </a:p>
          <a:p>
            <a:pPr>
              <a:buFont typeface="Arial" panose="020B0604020202020204" pitchFamily="34" charset="0"/>
              <a:buChar char="•"/>
            </a:pPr>
            <a:br>
              <a:rPr lang="en-US" dirty="0"/>
            </a:br>
            <a:endParaRPr lang="en-US" dirty="0"/>
          </a:p>
          <a:p>
            <a:pPr>
              <a:buFont typeface="Arial" panose="020B0604020202020204" pitchFamily="34" charset="0"/>
              <a:buChar char="•"/>
            </a:pPr>
            <a:r>
              <a:rPr lang="en-US" b="1" dirty="0"/>
              <a:t>Precision</a:t>
            </a:r>
            <a:r>
              <a:rPr lang="en-US" dirty="0"/>
              <a:t>​ →                  Reliability of positive prediction.</a:t>
            </a:r>
          </a:p>
          <a:p>
            <a:endParaRPr lang="en-US" dirty="0"/>
          </a:p>
          <a:p>
            <a:pPr>
              <a:buFont typeface="Arial" panose="020B0604020202020204" pitchFamily="34" charset="0"/>
              <a:buChar char="•"/>
            </a:pPr>
            <a:r>
              <a:rPr lang="en-US" b="1" dirty="0"/>
              <a:t>Recall (Sensitivity):</a:t>
            </a:r>
            <a:r>
              <a:rPr lang="en-US" dirty="0"/>
              <a:t>                  Ability to capture positives.</a:t>
            </a:r>
          </a:p>
          <a:p>
            <a:endParaRPr lang="en-US" dirty="0"/>
          </a:p>
          <a:p>
            <a:pPr>
              <a:buFont typeface="Arial" panose="020B0604020202020204" pitchFamily="34" charset="0"/>
              <a:buChar char="•"/>
            </a:pPr>
            <a:r>
              <a:rPr lang="en-US" b="1" dirty="0"/>
              <a:t>F1 Score:</a:t>
            </a:r>
            <a:r>
              <a:rPr lang="en-US" dirty="0"/>
              <a:t> Harmonic mean of precision &amp; recall.</a:t>
            </a:r>
          </a:p>
          <a:p>
            <a:pPr>
              <a:buFont typeface="Arial" panose="020B0604020202020204" pitchFamily="34" charset="0"/>
              <a:buChar char="•"/>
            </a:pPr>
            <a:r>
              <a:rPr lang="en-US" b="1" dirty="0"/>
              <a:t>ROC-AUC:</a:t>
            </a:r>
            <a:r>
              <a:rPr lang="en-US" dirty="0"/>
              <a:t> Measures model’s ability to separate classes.</a:t>
            </a:r>
          </a:p>
          <a:p>
            <a:pPr>
              <a:buNone/>
            </a:pPr>
            <a:r>
              <a:rPr lang="en-US" b="1" dirty="0"/>
              <a:t>For Regression:</a:t>
            </a:r>
          </a:p>
          <a:p>
            <a:pPr>
              <a:buFont typeface="Arial" panose="020B0604020202020204" pitchFamily="34" charset="0"/>
              <a:buChar char="•"/>
            </a:pPr>
            <a:r>
              <a:rPr lang="en-US" b="1" dirty="0"/>
              <a:t>MSE (Mean Squared Error):</a:t>
            </a:r>
            <a:r>
              <a:rPr lang="en-US" dirty="0"/>
              <a:t> Average squared error.</a:t>
            </a:r>
          </a:p>
          <a:p>
            <a:pPr>
              <a:buFont typeface="Arial" panose="020B0604020202020204" pitchFamily="34" charset="0"/>
              <a:buChar char="•"/>
            </a:pPr>
            <a:r>
              <a:rPr lang="en-US" b="1" dirty="0"/>
              <a:t>RMSE:</a:t>
            </a:r>
            <a:r>
              <a:rPr lang="en-US" dirty="0"/>
              <a:t> Square root of MSE.</a:t>
            </a:r>
          </a:p>
          <a:p>
            <a:pPr>
              <a:buFont typeface="Arial" panose="020B0604020202020204" pitchFamily="34" charset="0"/>
              <a:buChar char="•"/>
            </a:pPr>
            <a:r>
              <a:rPr lang="en-US" b="1" dirty="0"/>
              <a:t>MAE (Mean Absolute Error):</a:t>
            </a:r>
            <a:r>
              <a:rPr lang="en-US" dirty="0"/>
              <a:t> Average absolute error.</a:t>
            </a:r>
          </a:p>
          <a:p>
            <a:pPr>
              <a:buFont typeface="Arial" panose="020B0604020202020204" pitchFamily="34" charset="0"/>
              <a:buChar char="•"/>
            </a:pPr>
            <a:r>
              <a:rPr lang="en-US" b="1" dirty="0"/>
              <a:t>R² (Coefficient of Determination):</a:t>
            </a:r>
            <a:r>
              <a:rPr lang="en-US" dirty="0"/>
              <a:t> Proportion of variance explained.</a:t>
            </a:r>
          </a:p>
        </p:txBody>
      </p:sp>
      <p:pic>
        <p:nvPicPr>
          <p:cNvPr id="8" name="Picture 7">
            <a:extLst>
              <a:ext uri="{FF2B5EF4-FFF2-40B4-BE49-F238E27FC236}">
                <a16:creationId xmlns:a16="http://schemas.microsoft.com/office/drawing/2014/main" id="{0A585FED-44B0-0173-A93E-49E00CB30913}"/>
              </a:ext>
            </a:extLst>
          </p:cNvPr>
          <p:cNvPicPr>
            <a:picLocks noChangeAspect="1"/>
          </p:cNvPicPr>
          <p:nvPr/>
        </p:nvPicPr>
        <p:blipFill>
          <a:blip r:embed="rId4"/>
          <a:stretch>
            <a:fillRect/>
          </a:stretch>
        </p:blipFill>
        <p:spPr>
          <a:xfrm>
            <a:off x="1874221" y="1601429"/>
            <a:ext cx="2629267" cy="447737"/>
          </a:xfrm>
          <a:prstGeom prst="rect">
            <a:avLst/>
          </a:prstGeom>
        </p:spPr>
      </p:pic>
      <p:pic>
        <p:nvPicPr>
          <p:cNvPr id="12" name="Picture 11">
            <a:extLst>
              <a:ext uri="{FF2B5EF4-FFF2-40B4-BE49-F238E27FC236}">
                <a16:creationId xmlns:a16="http://schemas.microsoft.com/office/drawing/2014/main" id="{821A8181-6894-0B88-F7AF-44A5092A3486}"/>
              </a:ext>
            </a:extLst>
          </p:cNvPr>
          <p:cNvPicPr>
            <a:picLocks noChangeAspect="1"/>
          </p:cNvPicPr>
          <p:nvPr/>
        </p:nvPicPr>
        <p:blipFill>
          <a:blip r:embed="rId5"/>
          <a:stretch>
            <a:fillRect/>
          </a:stretch>
        </p:blipFill>
        <p:spPr>
          <a:xfrm>
            <a:off x="2826853" y="2130099"/>
            <a:ext cx="724001" cy="409632"/>
          </a:xfrm>
          <a:prstGeom prst="rect">
            <a:avLst/>
          </a:prstGeom>
        </p:spPr>
      </p:pic>
      <p:pic>
        <p:nvPicPr>
          <p:cNvPr id="15" name="Picture 14">
            <a:extLst>
              <a:ext uri="{FF2B5EF4-FFF2-40B4-BE49-F238E27FC236}">
                <a16:creationId xmlns:a16="http://schemas.microsoft.com/office/drawing/2014/main" id="{8DD06EDF-D829-EA36-1EDE-111060DDA94F}"/>
              </a:ext>
            </a:extLst>
          </p:cNvPr>
          <p:cNvPicPr>
            <a:picLocks noChangeAspect="1"/>
          </p:cNvPicPr>
          <p:nvPr/>
        </p:nvPicPr>
        <p:blipFill>
          <a:blip r:embed="rId6"/>
          <a:stretch>
            <a:fillRect/>
          </a:stretch>
        </p:blipFill>
        <p:spPr>
          <a:xfrm>
            <a:off x="3714944" y="2591583"/>
            <a:ext cx="714475" cy="447737"/>
          </a:xfrm>
          <a:prstGeom prst="rect">
            <a:avLst/>
          </a:prstGeom>
        </p:spPr>
      </p:pic>
    </p:spTree>
    <p:extLst>
      <p:ext uri="{BB962C8B-B14F-4D97-AF65-F5344CB8AC3E}">
        <p14:creationId xmlns:p14="http://schemas.microsoft.com/office/powerpoint/2010/main" val="4284808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4E88-C076-D42E-8CC9-8D234F393FA2}"/>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D412887-0A4E-E4A0-36A6-D0DB1F97CC57}"/>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86EBA2-3889-371E-2FE7-D42C7C9E94CA}"/>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23ED535-1468-8163-E637-09B05D769F05}"/>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A71CBF9-563F-9F7D-A0D5-F0DE54365679}"/>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F3C7282A-05FB-EC8A-FA51-F0E8F88E720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03FFB67F-1A7C-46A3-287D-7F4D39FDFF0D}"/>
              </a:ext>
            </a:extLst>
          </p:cNvPr>
          <p:cNvSpPr txBox="1"/>
          <p:nvPr/>
        </p:nvSpPr>
        <p:spPr>
          <a:xfrm>
            <a:off x="1452280" y="508001"/>
            <a:ext cx="7951599" cy="461665"/>
          </a:xfrm>
          <a:prstGeom prst="rect">
            <a:avLst/>
          </a:prstGeom>
          <a:noFill/>
        </p:spPr>
        <p:txBody>
          <a:bodyPr wrap="square">
            <a:spAutoFit/>
          </a:bodyPr>
          <a:lstStyle/>
          <a:p>
            <a:pPr>
              <a:buNone/>
            </a:pPr>
            <a:r>
              <a:rPr lang="en-US" sz="2400" b="1" dirty="0"/>
              <a:t>Hyperparameter Tuning and Model Selection</a:t>
            </a:r>
          </a:p>
        </p:txBody>
      </p:sp>
      <p:sp>
        <p:nvSpPr>
          <p:cNvPr id="3" name="TextBox 2">
            <a:extLst>
              <a:ext uri="{FF2B5EF4-FFF2-40B4-BE49-F238E27FC236}">
                <a16:creationId xmlns:a16="http://schemas.microsoft.com/office/drawing/2014/main" id="{78C33ECF-AD49-AF30-C915-E31934A8AE74}"/>
              </a:ext>
            </a:extLst>
          </p:cNvPr>
          <p:cNvSpPr txBox="1"/>
          <p:nvPr/>
        </p:nvSpPr>
        <p:spPr>
          <a:xfrm>
            <a:off x="1318661" y="1110712"/>
            <a:ext cx="6102416" cy="3970318"/>
          </a:xfrm>
          <a:prstGeom prst="rect">
            <a:avLst/>
          </a:prstGeom>
          <a:noFill/>
        </p:spPr>
        <p:txBody>
          <a:bodyPr wrap="square">
            <a:spAutoFit/>
          </a:bodyPr>
          <a:lstStyle/>
          <a:p>
            <a:pPr>
              <a:buNone/>
            </a:pPr>
            <a:r>
              <a:rPr lang="en-US" b="1" dirty="0"/>
              <a:t>What are Hyperparameters?</a:t>
            </a:r>
          </a:p>
          <a:p>
            <a:pPr>
              <a:buFont typeface="Arial" panose="020B0604020202020204" pitchFamily="34" charset="0"/>
              <a:buChar char="•"/>
            </a:pPr>
            <a:r>
              <a:rPr lang="en-US" dirty="0"/>
              <a:t>Parameters set before training.</a:t>
            </a:r>
          </a:p>
          <a:p>
            <a:pPr>
              <a:buFont typeface="Arial" panose="020B0604020202020204" pitchFamily="34" charset="0"/>
              <a:buChar char="•"/>
            </a:pPr>
            <a:r>
              <a:rPr lang="en-US" dirty="0"/>
              <a:t>Example: Learning rate, number of trees in Random Forest, C in SVM.</a:t>
            </a:r>
          </a:p>
          <a:p>
            <a:pPr>
              <a:buNone/>
            </a:pPr>
            <a:r>
              <a:rPr lang="en-US" b="1" dirty="0"/>
              <a:t>Techniques:</a:t>
            </a:r>
          </a:p>
          <a:p>
            <a:pPr>
              <a:buFont typeface="+mj-lt"/>
              <a:buAutoNum type="arabicPeriod"/>
            </a:pPr>
            <a:r>
              <a:rPr lang="en-US" b="1" dirty="0"/>
              <a:t>Grid Search:</a:t>
            </a:r>
            <a:endParaRPr lang="en-US" dirty="0"/>
          </a:p>
          <a:p>
            <a:pPr marL="742950" lvl="1" indent="-285750">
              <a:buFont typeface="+mj-lt"/>
              <a:buAutoNum type="arabicPeriod"/>
            </a:pPr>
            <a:r>
              <a:rPr lang="en-US" dirty="0"/>
              <a:t>Tests all possible combinations.</a:t>
            </a:r>
          </a:p>
          <a:p>
            <a:pPr marL="742950" lvl="1" indent="-285750">
              <a:buFont typeface="+mj-lt"/>
              <a:buAutoNum type="arabicPeriod"/>
            </a:pPr>
            <a:r>
              <a:rPr lang="en-US" dirty="0"/>
              <a:t>Time-consuming.</a:t>
            </a:r>
          </a:p>
          <a:p>
            <a:pPr>
              <a:buFont typeface="+mj-lt"/>
              <a:buAutoNum type="arabicPeriod"/>
            </a:pPr>
            <a:r>
              <a:rPr lang="en-US" b="1" dirty="0"/>
              <a:t>Random Search:</a:t>
            </a:r>
            <a:endParaRPr lang="en-US" dirty="0"/>
          </a:p>
          <a:p>
            <a:pPr marL="742950" lvl="1" indent="-285750">
              <a:buFont typeface="+mj-lt"/>
              <a:buAutoNum type="arabicPeriod"/>
            </a:pPr>
            <a:r>
              <a:rPr lang="en-US" dirty="0"/>
              <a:t>Samples random combinations.</a:t>
            </a:r>
          </a:p>
          <a:p>
            <a:pPr marL="742950" lvl="1" indent="-285750">
              <a:buFont typeface="+mj-lt"/>
              <a:buAutoNum type="arabicPeriod"/>
            </a:pPr>
            <a:r>
              <a:rPr lang="en-US" dirty="0"/>
              <a:t>Faster than grid search.</a:t>
            </a:r>
          </a:p>
          <a:p>
            <a:pPr>
              <a:buFont typeface="+mj-lt"/>
              <a:buAutoNum type="arabicPeriod"/>
            </a:pPr>
            <a:r>
              <a:rPr lang="en-US" b="1" dirty="0"/>
              <a:t>Bayesian Optimization / Automated ML (</a:t>
            </a:r>
            <a:r>
              <a:rPr lang="en-US" b="1" dirty="0" err="1"/>
              <a:t>Optuna</a:t>
            </a:r>
            <a:r>
              <a:rPr lang="en-US" b="1" dirty="0"/>
              <a:t>, </a:t>
            </a:r>
            <a:r>
              <a:rPr lang="en-US" b="1" dirty="0" err="1"/>
              <a:t>Hyperopt</a:t>
            </a:r>
            <a:r>
              <a:rPr lang="en-US" b="1" dirty="0"/>
              <a:t>):</a:t>
            </a:r>
            <a:endParaRPr lang="en-US" dirty="0"/>
          </a:p>
          <a:p>
            <a:pPr marL="742950" lvl="1" indent="-285750">
              <a:buFont typeface="+mj-lt"/>
              <a:buAutoNum type="arabicPeriod"/>
            </a:pPr>
            <a:r>
              <a:rPr lang="en-US" dirty="0"/>
              <a:t>More efficient search.</a:t>
            </a:r>
          </a:p>
        </p:txBody>
      </p:sp>
    </p:spTree>
    <p:extLst>
      <p:ext uri="{BB962C8B-B14F-4D97-AF65-F5344CB8AC3E}">
        <p14:creationId xmlns:p14="http://schemas.microsoft.com/office/powerpoint/2010/main" val="2370437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A1A53-E9EF-00C6-4D08-11A48996D644}"/>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304D9B7-8A0B-0682-B1E6-AF43CB9E5B2C}"/>
              </a:ext>
            </a:extLst>
          </p:cNvPr>
          <p:cNvCxnSpPr>
            <a:cxnSpLocks/>
          </p:cNvCxnSpPr>
          <p:nvPr/>
        </p:nvCxnSpPr>
        <p:spPr>
          <a:xfrm>
            <a:off x="1138518" y="0"/>
            <a:ext cx="0" cy="692075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A4F1F6C-CEE9-A24A-3E71-63AF8DE8752E}"/>
              </a:ext>
            </a:extLst>
          </p:cNvPr>
          <p:cNvCxnSpPr>
            <a:cxnSpLocks/>
          </p:cNvCxnSpPr>
          <p:nvPr/>
        </p:nvCxnSpPr>
        <p:spPr>
          <a:xfrm>
            <a:off x="10739718" y="0"/>
            <a:ext cx="0" cy="6756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79A10C0-C917-7E92-52B2-2355A1D06FC3}"/>
              </a:ext>
            </a:extLst>
          </p:cNvPr>
          <p:cNvCxnSpPr>
            <a:cxnSpLocks/>
          </p:cNvCxnSpPr>
          <p:nvPr/>
        </p:nvCxnSpPr>
        <p:spPr>
          <a:xfrm>
            <a:off x="0" y="10795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CFD685D-2E0D-187D-A71D-3C8572B67164}"/>
              </a:ext>
            </a:extLst>
          </p:cNvPr>
          <p:cNvCxnSpPr>
            <a:cxnSpLocks/>
          </p:cNvCxnSpPr>
          <p:nvPr/>
        </p:nvCxnSpPr>
        <p:spPr>
          <a:xfrm>
            <a:off x="0" y="618490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22" name="Picture 21" descr="Manipal University Jaipur - Wikipedia">
            <a:extLst>
              <a:ext uri="{FF2B5EF4-FFF2-40B4-BE49-F238E27FC236}">
                <a16:creationId xmlns:a16="http://schemas.microsoft.com/office/drawing/2014/main" id="{8749465E-0DF3-2049-9239-6CC1EA06E5E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349" y="90793"/>
            <a:ext cx="847661" cy="847661"/>
          </a:xfrm>
          <a:prstGeom prst="rect">
            <a:avLst/>
          </a:prstGeom>
          <a:noFill/>
          <a:ln>
            <a:noFill/>
          </a:ln>
        </p:spPr>
      </p:pic>
      <p:sp>
        <p:nvSpPr>
          <p:cNvPr id="31" name="TextBox 30">
            <a:extLst>
              <a:ext uri="{FF2B5EF4-FFF2-40B4-BE49-F238E27FC236}">
                <a16:creationId xmlns:a16="http://schemas.microsoft.com/office/drawing/2014/main" id="{3A52E70B-2104-2737-DA49-6DF693318948}"/>
              </a:ext>
            </a:extLst>
          </p:cNvPr>
          <p:cNvSpPr txBox="1"/>
          <p:nvPr/>
        </p:nvSpPr>
        <p:spPr>
          <a:xfrm>
            <a:off x="1452280" y="508001"/>
            <a:ext cx="7951599" cy="461665"/>
          </a:xfrm>
          <a:prstGeom prst="rect">
            <a:avLst/>
          </a:prstGeom>
          <a:noFill/>
        </p:spPr>
        <p:txBody>
          <a:bodyPr wrap="square">
            <a:spAutoFit/>
          </a:bodyPr>
          <a:lstStyle/>
          <a:p>
            <a:pPr>
              <a:buNone/>
            </a:pPr>
            <a:r>
              <a:rPr lang="en-US" sz="2400" b="1" dirty="0"/>
              <a:t>Model Performance Comparison and Interpretation</a:t>
            </a:r>
          </a:p>
        </p:txBody>
      </p:sp>
      <p:sp>
        <p:nvSpPr>
          <p:cNvPr id="6" name="TextBox 5">
            <a:extLst>
              <a:ext uri="{FF2B5EF4-FFF2-40B4-BE49-F238E27FC236}">
                <a16:creationId xmlns:a16="http://schemas.microsoft.com/office/drawing/2014/main" id="{3C27A283-8098-1609-2065-20D60A1E0033}"/>
              </a:ext>
            </a:extLst>
          </p:cNvPr>
          <p:cNvSpPr txBox="1"/>
          <p:nvPr/>
        </p:nvSpPr>
        <p:spPr>
          <a:xfrm>
            <a:off x="1452280" y="1548948"/>
            <a:ext cx="6102416" cy="1477328"/>
          </a:xfrm>
          <a:prstGeom prst="rect">
            <a:avLst/>
          </a:prstGeom>
          <a:noFill/>
        </p:spPr>
        <p:txBody>
          <a:bodyPr wrap="square">
            <a:spAutoFit/>
          </a:bodyPr>
          <a:lstStyle/>
          <a:p>
            <a:pPr marL="285750" indent="-285750">
              <a:buFont typeface="Arial" panose="020B0604020202020204" pitchFamily="34" charset="0"/>
              <a:buChar char="•"/>
            </a:pPr>
            <a:r>
              <a:rPr lang="fr-FR" dirty="0"/>
              <a:t>Train multiple </a:t>
            </a:r>
            <a:r>
              <a:rPr lang="fr-FR" dirty="0" err="1"/>
              <a:t>models</a:t>
            </a:r>
            <a:r>
              <a:rPr lang="fr-FR" dirty="0"/>
              <a:t> (e.g., </a:t>
            </a:r>
            <a:r>
              <a:rPr lang="fr-FR" dirty="0" err="1"/>
              <a:t>Logistic</a:t>
            </a:r>
            <a:r>
              <a:rPr lang="fr-FR" dirty="0"/>
              <a:t> </a:t>
            </a:r>
            <a:r>
              <a:rPr lang="fr-FR" dirty="0" err="1"/>
              <a:t>Regression</a:t>
            </a:r>
            <a:r>
              <a:rPr lang="fr-FR" dirty="0"/>
              <a:t>, </a:t>
            </a:r>
            <a:r>
              <a:rPr lang="fr-FR" dirty="0" err="1"/>
              <a:t>Random</a:t>
            </a:r>
            <a:r>
              <a:rPr lang="fr-FR" dirty="0"/>
              <a:t> Forest, SVM)</a:t>
            </a:r>
          </a:p>
          <a:p>
            <a:pPr marL="285750" indent="-285750">
              <a:buFont typeface="Arial" panose="020B0604020202020204" pitchFamily="34" charset="0"/>
              <a:buChar char="•"/>
            </a:pPr>
            <a:r>
              <a:rPr lang="en-US" dirty="0"/>
              <a:t>Compare metrics (Accuracy, F1, AUC).</a:t>
            </a:r>
          </a:p>
          <a:p>
            <a:pPr marL="285750" indent="-285750">
              <a:buFont typeface="Arial" panose="020B0604020202020204" pitchFamily="34" charset="0"/>
              <a:buChar char="•"/>
            </a:pPr>
            <a:r>
              <a:rPr lang="en-US" dirty="0"/>
              <a:t>Use confusion matrix &amp; classification report for detailed insights.</a:t>
            </a:r>
          </a:p>
        </p:txBody>
      </p:sp>
    </p:spTree>
    <p:extLst>
      <p:ext uri="{BB962C8B-B14F-4D97-AF65-F5344CB8AC3E}">
        <p14:creationId xmlns:p14="http://schemas.microsoft.com/office/powerpoint/2010/main" val="1924444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876</Words>
  <Application>Microsoft Office PowerPoint</Application>
  <PresentationFormat>Widescreen</PresentationFormat>
  <Paragraphs>115</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Nunito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Keshav Jha [MU - Jaipur]</dc:creator>
  <cp:lastModifiedBy>Keshav Jha [MU - Jaipur]</cp:lastModifiedBy>
  <cp:revision>4</cp:revision>
  <dcterms:created xsi:type="dcterms:W3CDTF">2025-08-18T07:37:51Z</dcterms:created>
  <dcterms:modified xsi:type="dcterms:W3CDTF">2025-08-20T03:54:40Z</dcterms:modified>
</cp:coreProperties>
</file>