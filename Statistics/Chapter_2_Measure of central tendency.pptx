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8" r:id="rId6"/>
    <p:sldId id="266" r:id="rId7"/>
    <p:sldId id="269" r:id="rId8"/>
    <p:sldId id="259" r:id="rId9"/>
    <p:sldId id="261" r:id="rId10"/>
    <p:sldId id="262" r:id="rId11"/>
    <p:sldId id="267" r:id="rId12"/>
    <p:sldId id="270" r:id="rId13"/>
    <p:sldId id="263" r:id="rId14"/>
    <p:sldId id="271" r:id="rId15"/>
    <p:sldId id="264" r:id="rId16"/>
    <p:sldId id="272" r:id="rId17"/>
    <p:sldId id="265" r:id="rId18"/>
    <p:sldId id="285" r:id="rId19"/>
    <p:sldId id="273" r:id="rId20"/>
    <p:sldId id="286" r:id="rId21"/>
    <p:sldId id="287" r:id="rId22"/>
    <p:sldId id="288" r:id="rId23"/>
    <p:sldId id="289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C06B-B143-41DE-45EF-7FDA8FFDC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E4D6C-51E5-7214-AA5F-60664C49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CE5D9-F409-374F-F962-2DC038AB7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8B958-6556-78E9-B2E1-6DC06421C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Rahul Sharma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EA7EC-164F-3862-0545-427AC165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1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908C-55E9-9D9F-5C10-0785423C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587A-A57E-FAD2-017E-CC503B07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5270C-9CDE-B4A8-CB34-97FC3CB4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E259C-B46E-3C84-62D4-3492B8F3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Rahul Sharma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646DD-B8F3-75BB-1DB1-AE67A0DF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677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8336-63E5-9A31-278D-55B52B77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36354-3D8A-4E94-10E4-FC83A365D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6944E-2B1C-4727-BB27-FE6F7020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2AEC-EBFE-385B-D498-3E251EBC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B042A-CA8F-1163-D40A-27F3A5E8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17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63B9-ED2C-4C40-E871-02E74745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30F66-0E2D-F8A7-42D0-BB1ADF7E4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7A77C-87D9-6EB8-25B2-8342AC099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AB78-FE81-6528-0D60-8854952C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FF63D-C807-2168-FFEC-A3EA0D46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E7141-07E8-4924-5E95-BA97BD91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6E13-7A2A-4E2B-E7A3-6AC3A694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38C4F-4E90-AA4B-50E4-4F794372D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4F25E-DD07-AEBC-5AB6-D884D86A4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D783B-0725-7412-A000-E2474E25B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57F8-0EC0-8B6C-7FB9-E285F36EE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FF90A-91E0-ECB1-BCA4-6AEA7474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148E78-C90D-83F4-2434-D74C1BC8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121D5-580C-F344-EB6D-FA8A5273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77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CC13-E209-9590-C4E0-603C9335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4685AE-5B3D-E803-A6ED-F5EB2EA2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2C36A-7865-3C7B-900A-E6C33782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0F5AB-007F-7A06-2249-9DACF92F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63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C5D67-A492-7FD8-B3FC-3AC0BFE9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BDD1E-6194-6A3F-0B00-688DFA08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E6174-68CF-59B9-EC6B-001249BD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20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D625-B5E8-3161-52BB-0C9FC49F7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B5E88-31C0-D280-9ACD-86D11B794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BC1D9-0BAC-8187-FC1F-C72924917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F29BA-BDE4-6CD5-EA0B-D7506B2E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E92F6-CB57-203D-3D84-9DBA0830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4BA18-BF0E-D5E4-DBBC-B1FBE200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55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0234-4BC0-E3F2-095D-9CEF7784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608F3-7BAC-2521-75FB-787E9F851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830F9-0E9E-0FF2-C67C-6D7FF0137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2F698-60BD-66B0-1FCB-16A4D4F7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783AB-98E5-FAE8-A75C-998DF79E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94EE4-3FDB-AD75-C3BC-484BBC7C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92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FA14-84A1-BF5F-B81A-88DE82AE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FCEF9-6ADC-44E9-8539-50A5E80CE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912A-5238-A539-449B-43D9DF67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328DC-549D-4103-A089-F110C8D4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B0B0-2D69-AB5D-0340-F6387CA3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70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6ECCD-4C2D-2E77-F207-B5AF1071C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3F817-9FE9-0229-D143-B0E50E5F8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71B7-2EF7-3642-FFF8-00A6FA2C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D4B8-D0AC-4527-6DA4-669FC3E4C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C1BE4-E58A-D82B-096C-64207014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92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24C88-DEF9-0EB1-5B18-6BB3BBCB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A9714-980F-B0AB-DC23-5B3DDC943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55B4-4B70-1B73-3E3D-ACE192F14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ED383-DEFA-46E4-9015-9A55333F7748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7345-58ED-3AB0-82DD-F97FB527A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4813E-AEE9-FB26-75BE-A80B18B0B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29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sharma.rahul@jaipur.manipal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F5EA-F5CC-1F81-0327-4F5EF08AD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6800" y="2275114"/>
            <a:ext cx="7253514" cy="1584505"/>
          </a:xfrm>
        </p:spPr>
        <p:txBody>
          <a:bodyPr anchor="ctr">
            <a:normAutofit fontScale="90000"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SEMESTER I </a:t>
            </a:r>
            <a:br>
              <a:rPr lang="en-IN" sz="2800" dirty="0">
                <a:latin typeface="Arial Black" panose="020B0A04020102020204" pitchFamily="34" charset="0"/>
              </a:rPr>
            </a:br>
            <a:br>
              <a:rPr lang="en-IN" sz="2800" dirty="0">
                <a:latin typeface="Arial Black" panose="020B0A04020102020204" pitchFamily="34" charset="0"/>
              </a:rPr>
            </a:br>
            <a:r>
              <a:rPr lang="en-IN" sz="2800" dirty="0">
                <a:latin typeface="Arial Black" panose="020B0A04020102020204" pitchFamily="34" charset="0"/>
              </a:rPr>
              <a:t>AI6101: APPLIED STATISTICS AND PROBABILITY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AC5EA-D758-8246-D723-A8EA4248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7748" y="4359349"/>
            <a:ext cx="5996763" cy="1860475"/>
          </a:xfrm>
        </p:spPr>
        <p:txBody>
          <a:bodyPr anchor="t">
            <a:normAutofit/>
          </a:bodyPr>
          <a:lstStyle/>
          <a:p>
            <a:endParaRPr lang="en-IN" sz="1300" b="1" dirty="0">
              <a:latin typeface="Arial Black" panose="020B0A04020102020204" pitchFamily="34" charset="0"/>
            </a:endParaRPr>
          </a:p>
          <a:p>
            <a:r>
              <a:rPr lang="en-IN" sz="1300" b="1" dirty="0">
                <a:latin typeface="Arial Black" panose="020B0A04020102020204" pitchFamily="34" charset="0"/>
              </a:rPr>
              <a:t>Dr. Rahul Sharma</a:t>
            </a:r>
          </a:p>
          <a:p>
            <a:r>
              <a:rPr lang="en-IN" sz="1300" dirty="0">
                <a:latin typeface="Arial Black" panose="020B0A04020102020204" pitchFamily="34" charset="0"/>
              </a:rPr>
              <a:t>Assistant Professor (Senior Scale)</a:t>
            </a:r>
          </a:p>
          <a:p>
            <a:r>
              <a:rPr lang="en-IN" sz="1300" dirty="0">
                <a:latin typeface="Arial Black" panose="020B0A04020102020204" pitchFamily="34" charset="0"/>
              </a:rPr>
              <a:t>Department of Artificial Intelligence and Machine Learning </a:t>
            </a:r>
          </a:p>
          <a:p>
            <a:r>
              <a:rPr lang="en-IN" sz="1300" dirty="0">
                <a:latin typeface="Arial Black" panose="020B0A04020102020204" pitchFamily="34" charset="0"/>
              </a:rPr>
              <a:t>Manipal University Jaipur</a:t>
            </a:r>
          </a:p>
          <a:p>
            <a:r>
              <a:rPr lang="en-IN" sz="1300" dirty="0">
                <a:solidFill>
                  <a:schemeClr val="tx2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hlinkClick r:id="rId2"/>
              </a:rPr>
              <a:t>Email: sharma.rahul@jaipur.manipal.edu</a:t>
            </a:r>
            <a:endParaRPr lang="en-IN" sz="1300" dirty="0">
              <a:solidFill>
                <a:schemeClr val="tx2">
                  <a:lumMod val="50000"/>
                  <a:lumOff val="50000"/>
                </a:schemeClr>
              </a:solidFill>
              <a:latin typeface="Arial Black" panose="020B0A04020102020204" pitchFamily="34" charset="0"/>
            </a:endParaRPr>
          </a:p>
          <a:p>
            <a:pPr algn="l"/>
            <a:endParaRPr lang="en-IN" sz="18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algn="l"/>
            <a:endParaRPr lang="en-IN" sz="1800" dirty="0"/>
          </a:p>
        </p:txBody>
      </p:sp>
      <p:pic>
        <p:nvPicPr>
          <p:cNvPr id="5" name="Picture 4" descr="A logo for a university&#10;&#10;AI-generated content may be incorrect.">
            <a:extLst>
              <a:ext uri="{FF2B5EF4-FFF2-40B4-BE49-F238E27FC236}">
                <a16:creationId xmlns:a16="http://schemas.microsoft.com/office/drawing/2014/main" id="{4F23B62B-8DE4-26CD-FB5B-737F7CA38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01" b="22209"/>
          <a:stretch>
            <a:fillRect/>
          </a:stretch>
        </p:blipFill>
        <p:spPr>
          <a:xfrm>
            <a:off x="1741715" y="8634"/>
            <a:ext cx="8534400" cy="226648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641448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A54C-57AD-0C81-D6E1-86A2E358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central tendency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55168-E5AE-21BC-645E-69D026A2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08757" cy="4157219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of central tendency are statistical tools used to identify the centre or typical value in a data set.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main types are </a:t>
            </a: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average of all values.</a:t>
            </a:r>
          </a:p>
          <a:p>
            <a:pPr algn="just">
              <a:lnSpc>
                <a:spcPct val="170000"/>
              </a:lnSpc>
            </a:pP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middle value when data is arranged in order.</a:t>
            </a:r>
          </a:p>
          <a:p>
            <a:pPr algn="just">
              <a:lnSpc>
                <a:spcPct val="170000"/>
              </a:lnSpc>
            </a:pP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value that appears most frequently.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measures help summarize and compare data distributions in a simple way.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146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A4CE7-D2EA-4BC7-784A-338653B1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D4BF8-976F-0925-0AA3-D51E2B44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6" y="802955"/>
            <a:ext cx="5879804" cy="1454051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central tendency: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A9A9-6FD9-7798-3BC9-263F33C74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915644" cy="4106708"/>
          </a:xfrm>
        </p:spPr>
        <p:txBody>
          <a:bodyPr anchor="t">
            <a:normAutofit fontScale="55000" lnSpcReduction="20000"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(Average)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measure of central tendency that represents the sum of all values divided by the number of values.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lnSpc>
                <a:spcPct val="120000"/>
              </a:lnSpc>
              <a:buNone/>
            </a:pPr>
            <a:endParaRPr lang="en-IN" sz="1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N" sz="1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N" sz="1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IN" sz="1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31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numbers: 10, 15, 20, 25, 30</a:t>
            </a:r>
            <a:b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= 10 + 15 + 20 + 25 + 30 = 100</a:t>
            </a:r>
            <a:b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values = 5</a:t>
            </a:r>
            <a:b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= 100 ÷ 5 = </a:t>
            </a:r>
            <a:r>
              <a:rPr lang="en-IN" sz="31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the mean of the given data is </a:t>
            </a:r>
            <a:r>
              <a:rPr lang="en-IN" sz="31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IN" sz="31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58EBE2B-5BBA-3B81-C840-71F4412E6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8392" y="3137639"/>
            <a:ext cx="4142232" cy="1506266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0333FFC-E7F5-950A-2160-EEBCC0C1F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063" y="3718354"/>
            <a:ext cx="2514729" cy="100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2056F-3905-8811-9450-5F961A7F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1B8D-2190-F970-AC3F-DA58EA9C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central tendency: median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20AE-56C9-01FB-8FF7-409CE5ACB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093" y="2020187"/>
            <a:ext cx="10343707" cy="41567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middle value of a data set when the numbers are arranged in ascending or descending order. It divides the data into two equal halves.</a:t>
            </a:r>
          </a:p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find the Median: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the data in order.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number of values is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median is the middle value.</a:t>
            </a: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number of values is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median is the average of the two middle values.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34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B04F84-865A-1B5E-743C-7E4049866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C71F7-A908-0DF5-8CB2-6861B9D8C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central tendency: median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1956-939D-1557-31AF-7FD0CFF65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093" y="2020187"/>
            <a:ext cx="10343707" cy="415677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(odd count):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12, 15, 18, 22, 25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=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(middle value)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(even count):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10, 20, 30, 40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= (20 + 30) ÷ 2 =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median represents the central value of an ordered data set.</a:t>
            </a:r>
          </a:p>
          <a:p>
            <a:pPr marL="0" indent="0">
              <a:buNone/>
            </a:pPr>
            <a:endParaRPr lang="en-IN" sz="2400" dirty="0"/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75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593DC-6668-9C68-E4D0-DDED8C4F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AA41E-B6E0-B7C2-147E-C50F9F3FC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central tendency: mode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CA5D93-74DD-6E40-4FF7-E6FA398038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0752"/>
            <a:ext cx="1076192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value that appears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frequently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a data set. A set can have one mode (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unimodal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more than one mode (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bimodal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or no mode at all.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to find the Mode: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 the frequency of each value.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value with the highest frequency is the mode.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5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07F2D-FBE5-26C4-942A-68C87BA9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6960-0AE6-6FF8-3628-0A3D7639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of central tendency: mode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0F6C6E-6804-29A7-5A5C-8B175EB693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5033" y="1490586"/>
            <a:ext cx="1060021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1 (one mode):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Data: 4, 7, 7, 9, 10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=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(occurs twice)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2 (two modes):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Data: 3, 3, 6, 6, 9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Modes =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and 6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(both occur twice)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 number repeats, the data set has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mode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Mode is useful for categorical data or to know the most common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69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7D091-751F-FBF3-82D7-CCFC88E1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28E6-46B7-78B9-316C-AE339515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of dispersion-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7F6AC-5E33-5BE3-068D-460D4CCF2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30"/>
            <a:ext cx="10515600" cy="544386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measure of dispersion that shows the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highest and lowest values in a data set.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Range=Maximum value−Minimum value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8, 12, 15, 20, 25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= 25, Minimum = 8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= 25 − 8 =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indicates how widely the values in a set are spread out. However, it is sensitive to extreme values (outliers).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04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22027-A6FA-7658-EFEE-1E049697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654C7-5155-E1C0-2FDF-CAB2974F2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163848"/>
            <a:ext cx="9829800" cy="860895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Quartile Deviation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DF00B93-4FED-CABB-BCE4-3272E7732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034" y="4032830"/>
            <a:ext cx="4954693" cy="11395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722E4-FDED-4592-A702-046FA032D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6203" y="2560782"/>
            <a:ext cx="5458340" cy="3461144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I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Quartile Deviation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also known as </a:t>
            </a:r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Semi-Interquartile Range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measures the spread of the middle 50% of a data set. It is based on the first quartile (Q1) and third quartile (Q3).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buNone/>
            </a:pPr>
            <a:endParaRPr lang="en-IN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25th percentile (lower quartile)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75th percentile (upper quartile)</a:t>
            </a:r>
          </a:p>
          <a:p>
            <a:pPr marL="0" indent="0">
              <a:buNone/>
            </a:pPr>
            <a:endParaRPr lang="en-IN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" name="Picture 2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74C50B4-FC89-0998-1578-8EA5F036D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056" y="3822434"/>
            <a:ext cx="3472544" cy="81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E00E1-98D5-C547-36B6-61D600B34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95B2-8AE3-9A07-F34D-0BEF5AFDC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Quartile Deviation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C5D6-FD54-6814-AFCC-276F61E84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093" y="2020187"/>
            <a:ext cx="10343707" cy="415677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Q1 = 20 and Q3 = 40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Quartile deviation is less affected by extreme values and is useful for skewed distributions.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number and a number on a white background&#10;&#10;AI-generated content may be incorrect.">
            <a:extLst>
              <a:ext uri="{FF2B5EF4-FFF2-40B4-BE49-F238E27FC236}">
                <a16:creationId xmlns:a16="http://schemas.microsoft.com/office/drawing/2014/main" id="{CE3EFE24-DFAC-B4E4-9183-4D21C295C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461" y="3429000"/>
            <a:ext cx="4083098" cy="102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14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02CD1-AB3E-91B9-1C69-E860A249E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6C95-CEC1-13F1-3BAC-CFACF1138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7315-34E1-2E58-6DA8-79B63AC78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093" y="2020187"/>
            <a:ext cx="10343707" cy="415677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Deviation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measure of dispersion that shows the average of the absolute differences between each data value and the mean or median of the data set.</a:t>
            </a:r>
          </a:p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E34B7D1-C9FC-59D0-85AB-78F6E07B0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620" y="3299892"/>
            <a:ext cx="6394579" cy="307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91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73A60-DDCB-B2EA-055E-173F7BFD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DBEE-8049-183B-CAD2-8B1177D5B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1C35B-028F-1B6B-F07C-C2A99D46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1541721"/>
            <a:ext cx="10418135" cy="46352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4, 6, 8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= (4 + 6 + 8)/3 = 6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Deviations: |4−6| = 2, |6−6| = 0, |8−6| = 2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Deviation = (2 + 0 + 2)/3 =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1.33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deviation gives a better sense of average variability but ignores the direction (positive or negative) of deviations.</a:t>
            </a: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887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51148-FABD-11C6-F7C1-609ED75D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7880-75FD-EA70-3E13-F8CDC5BB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09E26-B128-5423-D826-9F4C432EF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605516"/>
            <a:ext cx="10439400" cy="45714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widely used measure of dispersion that shows how much the values in a data set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deviate from the mean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average.</a:t>
            </a:r>
          </a:p>
          <a:p>
            <a:pPr marL="0" indent="0" algn="just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5C53E49D-D09B-1518-0D1F-34A2490AB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486" y="2830285"/>
            <a:ext cx="6839114" cy="334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81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AEFED-7860-654B-FAD9-723724FD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91DE-5BC2-1DBE-2766-F5776C1D6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49EE9-14C7-C641-40B2-C83186915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605516"/>
            <a:ext cx="10439400" cy="457144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2, 4, 6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= (2 + 4 + 6)/3 = 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Deviations squared: (2−4)² = 4, (4−4)² = 0, (6−4)² = 4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= (4 + 0 + 4)/3 = 2.67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= √2.67 ≈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1.63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gives a clear picture of how data is spread around the mean and is widely used in statistical analysis.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005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2BC61-8F4F-3313-8D42-F9C5AB106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156AD-2786-286B-7CE5-28D89B09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of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F479F-0ADA-AE64-B150-E84FD6989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521" y="1616149"/>
            <a:ext cx="10269279" cy="456081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of Variation (CV)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measure of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dispersion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the ratio of the standard deviation to the mean. It helps compare the variability of two or more data sets with different units or means.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C2ACB52-6C86-A518-3FFF-F87B66820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572" y="4341968"/>
            <a:ext cx="8250866" cy="106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72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70EFB-998A-2AEC-1929-7115100F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25A1-3D45-CE07-F395-78CFAC13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 of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50D17-66B6-B0E4-E548-934407D6B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81" y="1690688"/>
            <a:ext cx="10269279" cy="456081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Mean = 50 and Standard Deviation = 5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CV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variability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CV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variability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 to the mean. CV is especially useful for comparing consistency between data sets.</a:t>
            </a:r>
          </a:p>
        </p:txBody>
      </p:sp>
      <p:pic>
        <p:nvPicPr>
          <p:cNvPr id="6" name="Picture 5" descr="A black emoji with a white background&#10;&#10;AI-generated content may be incorrect.">
            <a:extLst>
              <a:ext uri="{FF2B5EF4-FFF2-40B4-BE49-F238E27FC236}">
                <a16:creationId xmlns:a16="http://schemas.microsoft.com/office/drawing/2014/main" id="{F688F5F3-F256-389F-286E-BA65E8B33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703" y="3016251"/>
            <a:ext cx="6026888" cy="143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51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9EBDC-C593-DB0B-890D-FA2A6613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6122-C365-3654-8E81-AAFF6A94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98D12-E5A2-AAC9-CC02-98FC0294A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563" y="1605516"/>
            <a:ext cx="10386237" cy="4571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distribution.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Skew (Right-skewed):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 is longer on the right; mean &gt; median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Skew (Left-skewed):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 is longer on the left; mean &lt; median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Skewness: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symmetric (mean = median)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Income data often shows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skewness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150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AAA4C-4A2D-11EA-2F95-E5D70305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6BC2-1E83-AF3B-9908-B3A6502B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A95301-C84E-5612-BC2F-605A58FED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5665" y="1620910"/>
            <a:ext cx="10239154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measures the asymmetry (tilt) of a probability distribution or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= 0 →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perfectly symmetric (like a normal distribution).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Skew (Right-skewed) →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right tail is longer; most values are on the left. Example: income distribution.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Skew (Left-skewed) →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left tail is longer; most values are on the right. Example: age at death (in certain populations).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(sample skewness):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2CB75D9-E464-8194-C59F-BBE3304C7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137" y="5064347"/>
            <a:ext cx="5877485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7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75FA1-A368-CCFB-F97D-A5FB0528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73A8-1E10-CE9C-CB65-587057018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2A93D-DF21-8156-A249-40FA48071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563" y="1605516"/>
            <a:ext cx="10386237" cy="457144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Kurtosis:</a:t>
            </a:r>
          </a:p>
          <a:p>
            <a:pPr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tailedness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peakedness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distribution.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Leptokurtic (High Kurtosis):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 peak, heavy tails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Platykurtic (Low Kurtosis):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Flat peak, light tails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Mesokurtic (Normal Kurtosis):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Bell-shaped, like a normal distribution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return data may have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kurtosis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extreme values.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821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672FE-424F-B4BB-3F8F-E074856D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4B1D-9868-344A-EDBE-1E594369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67DF-A5F2-B575-1463-913DC022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563" y="1605516"/>
            <a:ext cx="10386237" cy="457144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Kurtosis:</a:t>
            </a:r>
          </a:p>
          <a:p>
            <a:pPr algn="just">
              <a:lnSpc>
                <a:spcPct val="150000"/>
              </a:lnSpc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tailedness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peakedness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distribution.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Leptokurtic (High Kurtosis):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Sharp peak, heavy tails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Platykurtic (Low Kurtosis):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Flat peak, light tails</a:t>
            </a:r>
          </a:p>
          <a:p>
            <a:pPr algn="just"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Mesokurtic (Normal Kurtosis):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Bell-shaped, like a normal distribution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return data may have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kurtosis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extreme values.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772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CFC2C-4C7A-2FAA-8B1A-54FDBA0F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5090-089B-5C9E-E6D7-09160908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F5BD80-694D-1F12-077D-475DE98C7E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11449"/>
            <a:ext cx="10644962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measures the “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tailedness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or </a:t>
            </a:r>
            <a:r>
              <a:rPr lang="en-US" alt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peakedness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distribution compared to the normal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= 3 (Mesokurtic) →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as normal distribution.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&gt; 3 (Leptokurtic) → H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eavier tails, sharper peak (more outliers likely).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&lt; 3 (Platykurtic) →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Flatter peak, thinner tails (fewer outliers).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(sample kurtosis):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we report Excess Kurtosis = Kurtosis – 3 so that normal distribution has 0.</a:t>
            </a:r>
          </a:p>
        </p:txBody>
      </p:sp>
      <p:pic>
        <p:nvPicPr>
          <p:cNvPr id="6" name="Picture 5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860F5C92-6F04-4B22-15CE-459B81CD3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637" y="4692660"/>
            <a:ext cx="4429294" cy="98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44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50143-4904-CFCE-027B-66D2B647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E7E30-7A6D-E1E6-B4D0-139B4638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Karl Pearson’s Coefficient of Skewness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1FFF31-B748-C9EA-FC0C-4D3D07D57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4912" y="1999076"/>
            <a:ext cx="10598888" cy="3654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the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and direction of asymmetry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frequency distribution.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Formula</a:t>
            </a: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is not known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Pearson suggested an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4F62FB06-B013-58D3-C273-2B3CF1441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111" y="2889493"/>
            <a:ext cx="4314456" cy="936750"/>
          </a:xfrm>
          <a:prstGeom prst="rect">
            <a:avLst/>
          </a:prstGeom>
        </p:spPr>
      </p:pic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5192520-0946-D713-27AE-BB9CCB777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401" y="4618575"/>
            <a:ext cx="4985657" cy="134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82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4A06-5A0F-F3F3-743E-FB8203DD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Karl Pearson’s Coefficient of Skewness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445B17-705B-44EC-80E7-B0C40DA99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543" y="1592551"/>
            <a:ext cx="10868247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Symmetrical distribution (like Normal distribution).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&gt; 0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Positively skewed (long tail to the right, mean &gt; median &gt; mode).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 0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Negatively skewed (long tail to the left, mean &lt; median &lt; mode).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681E9A9-6F76-A149-56CD-888089EF4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991" y="3280950"/>
            <a:ext cx="10972799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Calculation (General Approach)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(depending on which is available).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(SD)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the formula.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 the result (positive, negative, or zero skewness).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Karl Pearson’s coefficient of skewness uses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mean, median/mode, and standard deviation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asymmetry in data.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93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4E98-643C-D120-A2E3-A469DEE9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5CDB9-0E55-0E8A-8CB2-3F3F6C2CE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Mean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obtained by 10 students in a test are: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25, 28, 30, 32, 35, 40, 42, 45, 50, 55.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mean marks.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Median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are the ages of 11 players of a cricket team: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18, 20, 21, 22, 23, 24, 25, 26, 27, 28, 30.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median age.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449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80DD-73D9-9D1F-73AF-0E61CBEE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7B9E-7DE5-5615-2797-9A2A2A81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29C00-2DC3-E5BC-7503-4A11F04D0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obtained by students are: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10, 15, 20, 20, 25, 25, 25, 30, 35, 40.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mode.</a:t>
            </a: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Range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daily wages (in ₹) of 7 workers are: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120, 150, 180, 200, 220, 250, 300.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range.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725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65220-DFFA-C604-6096-5306DD204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48F65-A06B-8BB1-B441-74472E8B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0B8D4-CEC7-E4B9-57CC-FB36AC6C3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Quartile Deviation (Q.D.)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incomes of 9 families (in ₹ ’000) are: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12, 15, 18, 20, 22, 24, 28, 30, 35.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Quartile Deviation.</a:t>
            </a: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Mean Deviation (M.D.)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obtained by students are: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5, 10, 15, 20, 25.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Mean Deviation about the Mean.</a:t>
            </a: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509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A7FC7-C630-4016-8D00-C854DD85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E946-19BC-AFF5-C81F-4D3B90717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8D1AE-7D38-A9BE-22BC-4A5D485DA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Standard Deviation (S.D.)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obtained in statistics by 5 students are: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12, 15, 20, 22, 25.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Standard Deviation.</a:t>
            </a: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Coefficient of Variation (C.V.)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monthly incomes (in ₹) of 5 persons are: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2000, 2200, 2500, 2800, 3000.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Coefficient of Variation.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32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9F2E-CD0A-6623-3C59-8297DB88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F0C-B4B8-0F22-61A6-E4ABEB59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49EE5-BACF-83B5-93CB-B256EF2A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Skewness (Karl Pearson’s Method)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 = 60, median = 55, and standard deviation = 10.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coefficient of skewness.</a:t>
            </a:r>
          </a:p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Kurtosis (based on β₂)</a:t>
            </a: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distribution, the fourth central moment = 500, and the square of the second central moment = 100² = 10,000.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coefficient of kurtosis (β₂ = μ₄ / μ₂²).</a:t>
            </a: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442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0D9C-8176-F976-4FCE-D352B40E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5CB7-7903-92A5-946C-2AD05F58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E3B1-DF55-9E3D-54BF-CEEDCF694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026290C-E7AE-7BB3-4EF5-827D8A8A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10702"/>
            <a:ext cx="1003935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Mean</a:t>
            </a:r>
            <a:b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= 382 → Mean = 382/10 = 38.2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Median</a:t>
            </a:r>
            <a:b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(11 values), middle = 6th value = 24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</a:t>
            </a:r>
            <a:b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 = 25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Range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 − Min = 300 − 120 =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968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1993-6B0F-2F19-4458-17FA6DC1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302D-6AFF-6DFB-256A-A31261CD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DB291-0B55-8B33-1382-0A1CED8A4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EB1F16-4F52-1811-7EFB-63DA870CD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99332"/>
            <a:ext cx="1118235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Quartile Deviation (Q.D.)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= 22;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Lower half: 12,15,18,20 ⇒ Q1 = (15+18)/2 = 16.5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Upper half: 24,28,30,35 ⇒ Q3 = (28+30)/2 = 29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Q.D. = (Q3 − Q1)/2 = (29 − 16.5)/2 =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6.25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 ₹ ’000)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Mean Deviation about Mean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15; |deviations| = 10,5,0,5,10 → sum = 30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M.D. = 30/5 =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07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274B-404D-0121-90AE-B7462783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7489-A461-6F45-E691-799821518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Numerical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0056-FEEC-1467-A78D-BAD5734D1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A3F502F-B763-AD3D-7DE4-C0C452108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159919"/>
            <a:ext cx="112395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Standard Deviation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(population)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 = 18.8; variance = 22.16 → SD = √22.16 =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4.71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approx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Coefficient of Variation (C.V.)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(population)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 = 2500; SD ≈ 368.78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C.V. = (SD/Mean)×100% ≈ (368.78/2500)×100% =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14.75%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9. Skewness (Karl Pearson, using mean–median)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3(Mean − Median)/SD = 3(60 − 55)/10 =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(positively skewed)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Kurtosis (β₂)</a:t>
            </a:r>
            <a:b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β₂ = μ₄/μ₂² = 500/10,000 =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0.05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(very platykurtic)</a:t>
            </a:r>
          </a:p>
        </p:txBody>
      </p:sp>
    </p:spTree>
    <p:extLst>
      <p:ext uri="{BB962C8B-B14F-4D97-AF65-F5344CB8AC3E}">
        <p14:creationId xmlns:p14="http://schemas.microsoft.com/office/powerpoint/2010/main" val="3063274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991BE-ADF2-1FDD-40FE-EDBEF7013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9EC4-C350-D033-BF22-714599AE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990D-0C33-10DB-537C-D386164A5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F2D8E4E-CB80-B949-FEC3-88490F0F3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40006"/>
            <a:ext cx="1116241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mean, median, and mode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simple examples.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of: 10, 20, 30, 40, 50.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daily wages: 120, 150, 180, 200, 250.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the difference between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Skewness and Kurtosis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Coefficient of Variation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Why is it used?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ages of 9 students are: 12, 13, 14, 15, 15, 16, 17, 18, 20.</a:t>
            </a: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median.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mode of: 5, 10, 10, 15, 20, 20, 20, 25, 30.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incomes of 5 families (in ₹’000) are: 20, 22, 25, 28, 30.</a:t>
            </a: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Coefficient of Variation.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Quartile Deviation and illustrate with a numerical example.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positive and negative skewness with a diagram.</a:t>
            </a:r>
          </a:p>
        </p:txBody>
      </p:sp>
    </p:spTree>
    <p:extLst>
      <p:ext uri="{BB962C8B-B14F-4D97-AF65-F5344CB8AC3E}">
        <p14:creationId xmlns:p14="http://schemas.microsoft.com/office/powerpoint/2010/main" val="1944808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736A7-BA93-E8E3-26E6-9FE20E2C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D7C2-3C4E-FE6B-B4BD-CFD4CA17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2EA1D-8B16-3A15-4291-8A7645702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E87613-1405-9877-6876-EB788E7F5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80" y="1819147"/>
            <a:ext cx="10026501" cy="463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of students are: 12, 15, 20, 22, 25.</a:t>
            </a: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Mean Deviation about Mean.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Standard Deviation of: 2, 4, 6, 8, 10.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distribution, Mean = 50, Median = 45, S.D. = 10.</a:t>
            </a: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Karl Pearson’s coefficient of Skewness.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short notes on:</a:t>
            </a: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Range and its limitations</a:t>
            </a:r>
            <a:b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Importance of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1741039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2BC4-FBB4-2A24-B027-3FF08B76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9578-D172-CB71-E083-07B96A1F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B1E3D-24CE-A110-96DA-918C133AD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099"/>
            <a:ext cx="10515600" cy="4233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/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20A08-2969-3091-7392-FF704D0F9DD9}"/>
              </a:ext>
            </a:extLst>
          </p:cNvPr>
          <p:cNvSpPr txBox="1"/>
          <p:nvPr/>
        </p:nvSpPr>
        <p:spPr>
          <a:xfrm>
            <a:off x="978195" y="1305342"/>
            <a:ext cx="10696354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marks obtained by 10 students are: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25, 28, 30, 32, 35, 40, 42, 45, 50, 55.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Mean, Median and Mode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daily wages of 7 workers are: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120, 150, 180, 200, 220, 250, 300.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Range, Quartile Deviation, and Standard Deviation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:=  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Range = 180, Quartile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50, Standard </a:t>
            </a:r>
            <a:r>
              <a:rPr lang="fr-FR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Deviation</a:t>
            </a:r>
            <a:r>
              <a:rPr lang="fr-F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56.26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 of a distribution is 60, Median = 55, and S.D. = 10.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comment on the nature of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distribution, the second central moment (μ₂) = 25, and the fourth central moment (μ₄) = 450.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state whether the distribution is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leptokurtic, mesokurtic, or platykurtic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Ans: Kurtosis = 0.72</a:t>
            </a:r>
          </a:p>
        </p:txBody>
      </p:sp>
    </p:spTree>
    <p:extLst>
      <p:ext uri="{BB962C8B-B14F-4D97-AF65-F5344CB8AC3E}">
        <p14:creationId xmlns:p14="http://schemas.microsoft.com/office/powerpoint/2010/main" val="339758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2651</Words>
  <Application>Microsoft Office PowerPoint</Application>
  <PresentationFormat>Widescreen</PresentationFormat>
  <Paragraphs>253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Arial Black</vt:lpstr>
      <vt:lpstr>Times New Roman</vt:lpstr>
      <vt:lpstr>Office Theme</vt:lpstr>
      <vt:lpstr>SEMESTER I   AI6101: APPLIED STATISTICS AND PROBABILITY</vt:lpstr>
      <vt:lpstr>Measure of central tendency</vt:lpstr>
      <vt:lpstr>Measure of central tendency: mean</vt:lpstr>
      <vt:lpstr>Measure of central tendency: median</vt:lpstr>
      <vt:lpstr>Measure of central tendency: median</vt:lpstr>
      <vt:lpstr>Measure of central tendency: mode</vt:lpstr>
      <vt:lpstr>Measure of central tendency: mode</vt:lpstr>
      <vt:lpstr>Measures of dispersion- Range</vt:lpstr>
      <vt:lpstr>Quartile Deviation</vt:lpstr>
      <vt:lpstr>Quartile Deviation</vt:lpstr>
      <vt:lpstr>Mean Deviation</vt:lpstr>
      <vt:lpstr>Mean Deviation</vt:lpstr>
      <vt:lpstr>Standard Deviation</vt:lpstr>
      <vt:lpstr>Standard Deviation</vt:lpstr>
      <vt:lpstr>Coefficient of variance</vt:lpstr>
      <vt:lpstr>Coefficient of variance</vt:lpstr>
      <vt:lpstr>Skewness,</vt:lpstr>
      <vt:lpstr>Skewness</vt:lpstr>
      <vt:lpstr>Kurtosis</vt:lpstr>
      <vt:lpstr>Kurtosis</vt:lpstr>
      <vt:lpstr>Kurtosis</vt:lpstr>
      <vt:lpstr>Karl Pearson’s Coefficient of Skewness</vt:lpstr>
      <vt:lpstr>Karl Pearson’s Coefficient of Skewness</vt:lpstr>
      <vt:lpstr>Practice Numerical</vt:lpstr>
      <vt:lpstr>Practice Numerical</vt:lpstr>
      <vt:lpstr>Practice Numerical</vt:lpstr>
      <vt:lpstr>Practice Numerical</vt:lpstr>
      <vt:lpstr>Practice Numerical</vt:lpstr>
      <vt:lpstr>Practice Numerical Answers</vt:lpstr>
      <vt:lpstr>Practice Numerical Answers</vt:lpstr>
      <vt:lpstr>Practice Numerical Answers</vt:lpstr>
      <vt:lpstr>Questions </vt:lpstr>
      <vt:lpstr>Questions </vt:lpstr>
      <vt:lpstr>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Rahul Sharma [MU - Jaipur]</dc:creator>
  <cp:lastModifiedBy>Dr. Rahul Sharma [MU - Jaipur]</cp:lastModifiedBy>
  <cp:revision>62</cp:revision>
  <dcterms:created xsi:type="dcterms:W3CDTF">2025-07-10T10:32:12Z</dcterms:created>
  <dcterms:modified xsi:type="dcterms:W3CDTF">2025-08-29T04:40:39Z</dcterms:modified>
</cp:coreProperties>
</file>