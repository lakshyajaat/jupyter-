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68" r:id="rId5"/>
    <p:sldId id="258" r:id="rId6"/>
    <p:sldId id="267" r:id="rId7"/>
    <p:sldId id="259" r:id="rId8"/>
    <p:sldId id="269" r:id="rId9"/>
    <p:sldId id="260" r:id="rId10"/>
    <p:sldId id="270" r:id="rId11"/>
    <p:sldId id="261" r:id="rId12"/>
    <p:sldId id="271" r:id="rId13"/>
    <p:sldId id="262" r:id="rId14"/>
    <p:sldId id="272" r:id="rId15"/>
    <p:sldId id="263" r:id="rId16"/>
    <p:sldId id="275" r:id="rId17"/>
    <p:sldId id="264" r:id="rId18"/>
    <p:sldId id="273" r:id="rId19"/>
    <p:sldId id="265" r:id="rId20"/>
    <p:sldId id="274"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FC06B-B143-41DE-45EF-7FDA8FFDCC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6E4D6C-51E5-7214-AA5F-60664C4910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80CE5D9-F409-374F-F962-2DC038AB7575}"/>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5" name="Footer Placeholder 4">
            <a:extLst>
              <a:ext uri="{FF2B5EF4-FFF2-40B4-BE49-F238E27FC236}">
                <a16:creationId xmlns:a16="http://schemas.microsoft.com/office/drawing/2014/main" id="{61F8B958-6556-78E9-B2E1-6DC06421C727}"/>
              </a:ext>
            </a:extLst>
          </p:cNvPr>
          <p:cNvSpPr>
            <a:spLocks noGrp="1"/>
          </p:cNvSpPr>
          <p:nvPr>
            <p:ph type="ftr" sz="quarter" idx="11"/>
          </p:nvPr>
        </p:nvSpPr>
        <p:spPr/>
        <p:txBody>
          <a:bodyPr/>
          <a:lstStyle/>
          <a:p>
            <a:r>
              <a:rPr lang="en-IN" dirty="0"/>
              <a:t>Dr. Rahul Sharma</a:t>
            </a:r>
          </a:p>
        </p:txBody>
      </p:sp>
      <p:sp>
        <p:nvSpPr>
          <p:cNvPr id="6" name="Slide Number Placeholder 5">
            <a:extLst>
              <a:ext uri="{FF2B5EF4-FFF2-40B4-BE49-F238E27FC236}">
                <a16:creationId xmlns:a16="http://schemas.microsoft.com/office/drawing/2014/main" id="{1BCEA7EC-164F-3862-0545-427AC1657F31}"/>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411921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B908C-55E9-9D9F-5C10-0785423C91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F8587A-A57E-FAD2-017E-CC503B07A0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35270C-9CDE-B4A8-CB34-97FC3CB41802}"/>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5" name="Footer Placeholder 4">
            <a:extLst>
              <a:ext uri="{FF2B5EF4-FFF2-40B4-BE49-F238E27FC236}">
                <a16:creationId xmlns:a16="http://schemas.microsoft.com/office/drawing/2014/main" id="{028E259C-B46E-3C84-62D4-3492B8F3565E}"/>
              </a:ext>
            </a:extLst>
          </p:cNvPr>
          <p:cNvSpPr>
            <a:spLocks noGrp="1"/>
          </p:cNvSpPr>
          <p:nvPr>
            <p:ph type="ftr" sz="quarter" idx="11"/>
          </p:nvPr>
        </p:nvSpPr>
        <p:spPr/>
        <p:txBody>
          <a:bodyPr/>
          <a:lstStyle/>
          <a:p>
            <a:r>
              <a:rPr lang="en-IN" dirty="0"/>
              <a:t>Dr. Rahul Sharma</a:t>
            </a:r>
          </a:p>
        </p:txBody>
      </p:sp>
      <p:sp>
        <p:nvSpPr>
          <p:cNvPr id="6" name="Slide Number Placeholder 5">
            <a:extLst>
              <a:ext uri="{FF2B5EF4-FFF2-40B4-BE49-F238E27FC236}">
                <a16:creationId xmlns:a16="http://schemas.microsoft.com/office/drawing/2014/main" id="{116646DD-B8F3-75BB-1DB1-AE67A0DF18A5}"/>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4223677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68336-63E5-9A31-278D-55B52B7770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936354-3D8A-4E94-10E4-FC83A365D3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86944E-2B1C-4727-BB27-FE6F70200DE2}"/>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5" name="Footer Placeholder 4">
            <a:extLst>
              <a:ext uri="{FF2B5EF4-FFF2-40B4-BE49-F238E27FC236}">
                <a16:creationId xmlns:a16="http://schemas.microsoft.com/office/drawing/2014/main" id="{127A2AEC-EBFE-385B-D498-3E251EBC4A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1B042A-CA8F-1163-D40A-27F3A5E837C0}"/>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783172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B63B9-ED2C-4C40-E871-02E7474506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830F66-0E2D-F8A7-42D0-BB1ADF7E45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F7A77C-87D9-6EB8-25B2-8342AC099F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514AB78-FE81-6528-0D60-8854952C779D}"/>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6" name="Footer Placeholder 5">
            <a:extLst>
              <a:ext uri="{FF2B5EF4-FFF2-40B4-BE49-F238E27FC236}">
                <a16:creationId xmlns:a16="http://schemas.microsoft.com/office/drawing/2014/main" id="{886FF63D-C807-2168-FFEC-A3EA0D46C8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2E7141-07E8-4924-5E95-BA97BD918087}"/>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16184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F6E13-7A2A-4E2B-E7A3-6AC3A694FD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138C4F-4E90-AA4B-50E4-4F794372D2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14F25E-DD07-AEBC-5AB6-D884D86A42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0D783B-0725-7412-A000-E2474E25B1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9957F8-0EC0-8B6C-7FB9-E285F36EE7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3CFF90A-91E0-ECB1-BCA4-6AEA74747360}"/>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8" name="Footer Placeholder 7">
            <a:extLst>
              <a:ext uri="{FF2B5EF4-FFF2-40B4-BE49-F238E27FC236}">
                <a16:creationId xmlns:a16="http://schemas.microsoft.com/office/drawing/2014/main" id="{66148E78-C90D-83F4-2434-D74C1BC88A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C121D5-580C-F344-EB6D-FA8A52738930}"/>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1731771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BCC13-E209-9590-C4E0-603C93353B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4685AE-5B3D-E803-A6ED-F5EB2EA229A0}"/>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4" name="Footer Placeholder 3">
            <a:extLst>
              <a:ext uri="{FF2B5EF4-FFF2-40B4-BE49-F238E27FC236}">
                <a16:creationId xmlns:a16="http://schemas.microsoft.com/office/drawing/2014/main" id="{9912C36A-7865-3C7B-900A-E6C3378223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B0F5AB-007F-7A06-2249-9DACF92FCC0A}"/>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2799631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0C5D67-A492-7FD8-B3FC-3AC0BFE9B80A}"/>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3" name="Footer Placeholder 2">
            <a:extLst>
              <a:ext uri="{FF2B5EF4-FFF2-40B4-BE49-F238E27FC236}">
                <a16:creationId xmlns:a16="http://schemas.microsoft.com/office/drawing/2014/main" id="{CC4BDD1E-6194-6A3F-0B00-688DFA087D9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3E6174-68CF-59B9-EC6B-001249BD76A4}"/>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553206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DD625-B5E8-3161-52BB-0C9FC49F77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4B5E88-31C0-D280-9ACD-86D11B794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1BBC1D9-0BAC-8187-FC1F-C72924917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DF29BA-BDE4-6CD5-EA0B-D7506B2EFC22}"/>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6" name="Footer Placeholder 5">
            <a:extLst>
              <a:ext uri="{FF2B5EF4-FFF2-40B4-BE49-F238E27FC236}">
                <a16:creationId xmlns:a16="http://schemas.microsoft.com/office/drawing/2014/main" id="{CBEE92F6-CB57-203D-3D84-9DBA0830C6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74BA18-BF0E-D5E4-DBBC-B1FBE2002673}"/>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1197559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E0234-4BC0-E3F2-095D-9CEF7784CD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4608F3-7BAC-2521-75FB-787E9F8515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E830F9-0E9E-0FF2-C67C-6D7FF0137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D2F698-60BD-66B0-1FCB-16A4D4F7756E}"/>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6" name="Footer Placeholder 5">
            <a:extLst>
              <a:ext uri="{FF2B5EF4-FFF2-40B4-BE49-F238E27FC236}">
                <a16:creationId xmlns:a16="http://schemas.microsoft.com/office/drawing/2014/main" id="{351783AB-98E5-FAE8-A75C-998DF79E29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594EE4-3FDB-AD75-C3BC-484BBC7C3354}"/>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2464792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CFA14-84A1-BF5F-B81A-88DE82AEAD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2FCEF9-6ADC-44E9-8539-50A5E80CEC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5A912A-5238-A539-449B-43D9DF676A13}"/>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5" name="Footer Placeholder 4">
            <a:extLst>
              <a:ext uri="{FF2B5EF4-FFF2-40B4-BE49-F238E27FC236}">
                <a16:creationId xmlns:a16="http://schemas.microsoft.com/office/drawing/2014/main" id="{680328DC-549D-4103-A089-F110C8D49E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8B0B0-2D69-AB5D-0340-F6387CA366DD}"/>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934707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36ECCD-4C2D-2E77-F207-B5AF1071CA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43F817-9FE9-0229-D143-B0E50E5F8A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1771B7-2EF7-3642-FFF8-00A6FA2CB0E1}"/>
              </a:ext>
            </a:extLst>
          </p:cNvPr>
          <p:cNvSpPr>
            <a:spLocks noGrp="1"/>
          </p:cNvSpPr>
          <p:nvPr>
            <p:ph type="dt" sz="half" idx="10"/>
          </p:nvPr>
        </p:nvSpPr>
        <p:spPr/>
        <p:txBody>
          <a:bodyPr/>
          <a:lstStyle/>
          <a:p>
            <a:fld id="{C0CED383-DEFA-46E4-9015-9A55333F7748}" type="datetimeFigureOut">
              <a:rPr lang="en-IN" smtClean="0"/>
              <a:t>06-08-2025</a:t>
            </a:fld>
            <a:endParaRPr lang="en-IN"/>
          </a:p>
        </p:txBody>
      </p:sp>
      <p:sp>
        <p:nvSpPr>
          <p:cNvPr id="5" name="Footer Placeholder 4">
            <a:extLst>
              <a:ext uri="{FF2B5EF4-FFF2-40B4-BE49-F238E27FC236}">
                <a16:creationId xmlns:a16="http://schemas.microsoft.com/office/drawing/2014/main" id="{E02CD4B8-D0AC-4527-6DA4-669FC3E4C6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4C1BE4-E58A-D82B-096C-642070141565}"/>
              </a:ext>
            </a:extLst>
          </p:cNvPr>
          <p:cNvSpPr>
            <a:spLocks noGrp="1"/>
          </p:cNvSpPr>
          <p:nvPr>
            <p:ph type="sldNum" sz="quarter" idx="12"/>
          </p:nvPr>
        </p:nvSpPr>
        <p:spPr/>
        <p:txBody>
          <a:bodyPr/>
          <a:lstStyle/>
          <a:p>
            <a:fld id="{872F6D34-5B26-4957-9FB3-9A0AC6972230}" type="slidenum">
              <a:rPr lang="en-IN" smtClean="0"/>
              <a:t>‹#›</a:t>
            </a:fld>
            <a:endParaRPr lang="en-IN"/>
          </a:p>
        </p:txBody>
      </p:sp>
    </p:spTree>
    <p:extLst>
      <p:ext uri="{BB962C8B-B14F-4D97-AF65-F5344CB8AC3E}">
        <p14:creationId xmlns:p14="http://schemas.microsoft.com/office/powerpoint/2010/main" val="557925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424C88-DEF9-0EB1-5B18-6BB3BBCB36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6A9714-980F-B0AB-DC23-5B3DDC943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AF55B4-4B70-1B73-3E3D-ACE192F14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CED383-DEFA-46E4-9015-9A55333F7748}" type="datetimeFigureOut">
              <a:rPr lang="en-IN" smtClean="0"/>
              <a:t>06-08-2025</a:t>
            </a:fld>
            <a:endParaRPr lang="en-IN"/>
          </a:p>
        </p:txBody>
      </p:sp>
      <p:sp>
        <p:nvSpPr>
          <p:cNvPr id="5" name="Footer Placeholder 4">
            <a:extLst>
              <a:ext uri="{FF2B5EF4-FFF2-40B4-BE49-F238E27FC236}">
                <a16:creationId xmlns:a16="http://schemas.microsoft.com/office/drawing/2014/main" id="{A6677345-58ED-3AB0-82DD-F97FB527A3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354813E-AEE9-FB26-75BE-A80B18B0BA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2F6D34-5B26-4957-9FB3-9A0AC6972230}" type="slidenum">
              <a:rPr lang="en-IN" smtClean="0"/>
              <a:t>‹#›</a:t>
            </a:fld>
            <a:endParaRPr lang="en-IN"/>
          </a:p>
        </p:txBody>
      </p:sp>
    </p:spTree>
    <p:extLst>
      <p:ext uri="{BB962C8B-B14F-4D97-AF65-F5344CB8AC3E}">
        <p14:creationId xmlns:p14="http://schemas.microsoft.com/office/powerpoint/2010/main" val="2425296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mailto:sharma.rahul@jaipur.manipal.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file:///C:\Users\sharmara\Downloads\role-of-statistics-in-engineering-a-review-IJERTV11IS100057.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F5EA-F5CC-1F81-0327-4F5EF08AD815}"/>
              </a:ext>
            </a:extLst>
          </p:cNvPr>
          <p:cNvSpPr>
            <a:spLocks noGrp="1"/>
          </p:cNvSpPr>
          <p:nvPr>
            <p:ph type="ctrTitle"/>
          </p:nvPr>
        </p:nvSpPr>
        <p:spPr>
          <a:xfrm>
            <a:off x="2336800" y="2275114"/>
            <a:ext cx="7253514" cy="1584505"/>
          </a:xfrm>
        </p:spPr>
        <p:txBody>
          <a:bodyPr anchor="ctr">
            <a:normAutofit fontScale="90000"/>
          </a:bodyPr>
          <a:lstStyle/>
          <a:p>
            <a:r>
              <a:rPr lang="en-IN" sz="2800" dirty="0">
                <a:latin typeface="Arial Black" panose="020B0A04020102020204" pitchFamily="34" charset="0"/>
              </a:rPr>
              <a:t>SEMESTER I </a:t>
            </a:r>
            <a:br>
              <a:rPr lang="en-IN" sz="2800" dirty="0">
                <a:latin typeface="Arial Black" panose="020B0A04020102020204" pitchFamily="34" charset="0"/>
              </a:rPr>
            </a:br>
            <a:br>
              <a:rPr lang="en-IN" sz="2800" dirty="0">
                <a:latin typeface="Arial Black" panose="020B0A04020102020204" pitchFamily="34" charset="0"/>
              </a:rPr>
            </a:br>
            <a:r>
              <a:rPr lang="en-IN" sz="2800" dirty="0">
                <a:latin typeface="Arial Black" panose="020B0A04020102020204" pitchFamily="34" charset="0"/>
              </a:rPr>
              <a:t>AI6101: APPLIED STATISTICS AND PROBABILITY</a:t>
            </a:r>
          </a:p>
        </p:txBody>
      </p:sp>
      <p:sp>
        <p:nvSpPr>
          <p:cNvPr id="3" name="Subtitle 2">
            <a:extLst>
              <a:ext uri="{FF2B5EF4-FFF2-40B4-BE49-F238E27FC236}">
                <a16:creationId xmlns:a16="http://schemas.microsoft.com/office/drawing/2014/main" id="{67AAC5EA-D758-8246-D723-A8EA42480BEC}"/>
              </a:ext>
            </a:extLst>
          </p:cNvPr>
          <p:cNvSpPr>
            <a:spLocks noGrp="1"/>
          </p:cNvSpPr>
          <p:nvPr>
            <p:ph type="subTitle" idx="1"/>
          </p:nvPr>
        </p:nvSpPr>
        <p:spPr>
          <a:xfrm>
            <a:off x="2987748" y="4359349"/>
            <a:ext cx="5996763" cy="1860475"/>
          </a:xfrm>
        </p:spPr>
        <p:txBody>
          <a:bodyPr anchor="t">
            <a:normAutofit/>
          </a:bodyPr>
          <a:lstStyle/>
          <a:p>
            <a:endParaRPr lang="en-IN" sz="1300" b="1" dirty="0">
              <a:latin typeface="Arial Black" panose="020B0A04020102020204" pitchFamily="34" charset="0"/>
            </a:endParaRPr>
          </a:p>
          <a:p>
            <a:r>
              <a:rPr lang="en-IN" sz="1300" b="1" dirty="0">
                <a:latin typeface="Arial Black" panose="020B0A04020102020204" pitchFamily="34" charset="0"/>
              </a:rPr>
              <a:t>Dr. Rahul Sharma</a:t>
            </a:r>
          </a:p>
          <a:p>
            <a:r>
              <a:rPr lang="en-IN" sz="1300" dirty="0">
                <a:latin typeface="Arial Black" panose="020B0A04020102020204" pitchFamily="34" charset="0"/>
              </a:rPr>
              <a:t>Assistant Professor (Senior Scale)</a:t>
            </a:r>
          </a:p>
          <a:p>
            <a:r>
              <a:rPr lang="en-IN" sz="1300" dirty="0">
                <a:latin typeface="Arial Black" panose="020B0A04020102020204" pitchFamily="34" charset="0"/>
              </a:rPr>
              <a:t>Department of Artificial Intelligence and Machine Learning </a:t>
            </a:r>
          </a:p>
          <a:p>
            <a:r>
              <a:rPr lang="en-IN" sz="1300" dirty="0">
                <a:latin typeface="Arial Black" panose="020B0A04020102020204" pitchFamily="34" charset="0"/>
              </a:rPr>
              <a:t>Manipal University Jaipur</a:t>
            </a:r>
          </a:p>
          <a:p>
            <a:r>
              <a:rPr lang="en-IN" sz="1300" dirty="0">
                <a:solidFill>
                  <a:schemeClr val="tx2">
                    <a:lumMod val="50000"/>
                    <a:lumOff val="50000"/>
                  </a:schemeClr>
                </a:solidFill>
                <a:latin typeface="Arial Black" panose="020B0A04020102020204" pitchFamily="34" charset="0"/>
                <a:hlinkClick r:id="rId2"/>
              </a:rPr>
              <a:t>Email: sharma.rahul@jaipur.manipal.edu</a:t>
            </a:r>
            <a:endParaRPr lang="en-IN" sz="1300" dirty="0">
              <a:solidFill>
                <a:schemeClr val="tx2">
                  <a:lumMod val="50000"/>
                  <a:lumOff val="50000"/>
                </a:schemeClr>
              </a:solidFill>
              <a:latin typeface="Arial Black" panose="020B0A04020102020204" pitchFamily="34" charset="0"/>
            </a:endParaRPr>
          </a:p>
          <a:p>
            <a:pPr algn="l"/>
            <a:endParaRPr lang="en-IN" sz="1800" dirty="0">
              <a:solidFill>
                <a:schemeClr val="tx2">
                  <a:lumMod val="50000"/>
                  <a:lumOff val="50000"/>
                </a:schemeClr>
              </a:solidFill>
            </a:endParaRPr>
          </a:p>
          <a:p>
            <a:pPr algn="l"/>
            <a:endParaRPr lang="en-IN" sz="1800" dirty="0"/>
          </a:p>
        </p:txBody>
      </p:sp>
      <p:pic>
        <p:nvPicPr>
          <p:cNvPr id="5" name="Picture 4" descr="A logo for a university&#10;&#10;AI-generated content may be incorrect.">
            <a:extLst>
              <a:ext uri="{FF2B5EF4-FFF2-40B4-BE49-F238E27FC236}">
                <a16:creationId xmlns:a16="http://schemas.microsoft.com/office/drawing/2014/main" id="{4F23B62B-8DE4-26CD-FB5B-737F7CA38D17}"/>
              </a:ext>
            </a:extLst>
          </p:cNvPr>
          <p:cNvPicPr>
            <a:picLocks noChangeAspect="1"/>
          </p:cNvPicPr>
          <p:nvPr/>
        </p:nvPicPr>
        <p:blipFill>
          <a:blip r:embed="rId3">
            <a:extLst>
              <a:ext uri="{28A0092B-C50C-407E-A947-70E740481C1C}">
                <a14:useLocalDpi xmlns:a14="http://schemas.microsoft.com/office/drawing/2010/main" val="0"/>
              </a:ext>
            </a:extLst>
          </a:blip>
          <a:srcRect t="12601" b="22209"/>
          <a:stretch>
            <a:fillRect/>
          </a:stretch>
        </p:blipFill>
        <p:spPr>
          <a:xfrm>
            <a:off x="1741715" y="8634"/>
            <a:ext cx="8534400" cy="2266480"/>
          </a:xfrm>
          <a:prstGeom prst="rect">
            <a:avLst/>
          </a:prstGeom>
        </p:spPr>
      </p:pic>
      <p:cxnSp>
        <p:nvCxnSpPr>
          <p:cNvPr id="10" name="Straight Connector 9">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641448"/>
      </p:ext>
    </p:extLst>
  </p:cSld>
  <p:clrMapOvr>
    <a:masterClrMapping/>
  </p:clrMapOvr>
  <p:transition spd="slow">
    <p:strips dir="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6A54C-57AD-0C81-D6E1-86A2E35826BA}"/>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Basics of Statistics</a:t>
            </a:r>
          </a:p>
        </p:txBody>
      </p:sp>
      <p:sp>
        <p:nvSpPr>
          <p:cNvPr id="3" name="Content Placeholder 2">
            <a:extLst>
              <a:ext uri="{FF2B5EF4-FFF2-40B4-BE49-F238E27FC236}">
                <a16:creationId xmlns:a16="http://schemas.microsoft.com/office/drawing/2014/main" id="{8B655168-E5AE-21BC-645E-69D026A25C64}"/>
              </a:ext>
            </a:extLst>
          </p:cNvPr>
          <p:cNvSpPr>
            <a:spLocks noGrp="1"/>
          </p:cNvSpPr>
          <p:nvPr>
            <p:ph idx="1"/>
          </p:nvPr>
        </p:nvSpPr>
        <p:spPr>
          <a:xfrm>
            <a:off x="1010093" y="2020187"/>
            <a:ext cx="10343707" cy="4156776"/>
          </a:xfrm>
        </p:spPr>
        <p:txBody>
          <a:bodyPr>
            <a:normAutofit/>
          </a:bodyPr>
          <a:lstStyle/>
          <a:p>
            <a:pPr marL="0" indent="0" algn="just">
              <a:lnSpc>
                <a:spcPct val="150000"/>
              </a:lnSpc>
              <a:buNone/>
            </a:pPr>
            <a:r>
              <a:rPr lang="en-IN" sz="2600" dirty="0">
                <a:latin typeface="Times New Roman" panose="02020603050405020304" pitchFamily="18" charset="0"/>
                <a:cs typeface="Times New Roman" panose="02020603050405020304" pitchFamily="18" charset="0"/>
              </a:rPr>
              <a:t>Statistics is the science of collecting, organizing, analysing, and interpreting data to uncover patterns and make informed decisions. It helps in understanding variability, drawing conclusions, and making predictions based on data from samples or populations.</a:t>
            </a:r>
          </a:p>
        </p:txBody>
      </p:sp>
    </p:spTree>
    <p:extLst>
      <p:ext uri="{BB962C8B-B14F-4D97-AF65-F5344CB8AC3E}">
        <p14:creationId xmlns:p14="http://schemas.microsoft.com/office/powerpoint/2010/main" val="2306146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AB3397-BCDE-43A1-6B73-EF98C83F0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A7B2D-3537-2575-846E-AF4B67316335}"/>
              </a:ext>
            </a:extLst>
          </p:cNvPr>
          <p:cNvSpPr>
            <a:spLocks noGrp="1"/>
          </p:cNvSpPr>
          <p:nvPr>
            <p:ph type="title"/>
          </p:nvPr>
        </p:nvSpPr>
        <p:spPr>
          <a:xfrm>
            <a:off x="838200" y="365125"/>
            <a:ext cx="10515600" cy="708763"/>
          </a:xfrm>
        </p:spPr>
        <p:txBody>
          <a:bodyPr>
            <a:normAutofit/>
          </a:bodyPr>
          <a:lstStyle/>
          <a:p>
            <a:r>
              <a:rPr lang="en-IN" sz="3200" b="1" dirty="0">
                <a:latin typeface="Times New Roman" panose="02020603050405020304" pitchFamily="18" charset="0"/>
                <a:cs typeface="Times New Roman" panose="02020603050405020304" pitchFamily="18" charset="0"/>
              </a:rPr>
              <a:t>Basics of Statistics</a:t>
            </a:r>
          </a:p>
        </p:txBody>
      </p:sp>
      <p:sp>
        <p:nvSpPr>
          <p:cNvPr id="4" name="Rectangle 1">
            <a:extLst>
              <a:ext uri="{FF2B5EF4-FFF2-40B4-BE49-F238E27FC236}">
                <a16:creationId xmlns:a16="http://schemas.microsoft.com/office/drawing/2014/main" id="{D50EE14E-087C-B974-1706-EBD6D045361B}"/>
              </a:ext>
            </a:extLst>
          </p:cNvPr>
          <p:cNvSpPr>
            <a:spLocks noGrp="1" noChangeArrowheads="1"/>
          </p:cNvSpPr>
          <p:nvPr>
            <p:ph idx="1"/>
          </p:nvPr>
        </p:nvSpPr>
        <p:spPr bwMode="auto">
          <a:xfrm>
            <a:off x="838201" y="1139779"/>
            <a:ext cx="10515600" cy="462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science of collecting, organizing, analyzing, and interpreting data to make informed decisions.</a:t>
            </a:r>
          </a:p>
          <a:p>
            <a:pPr algn="just" eaLnBrk="0" fontAlgn="base" hangingPunct="0">
              <a:lnSpc>
                <a:spcPct val="150000"/>
              </a:lnSpc>
              <a:spcBef>
                <a:spcPct val="0"/>
              </a:spcBef>
              <a:spcAft>
                <a:spcPct val="0"/>
              </a:spcAf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 of Statistics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Descriptive (summarizes data) and Inferential (draws conclusions from data).</a:t>
            </a:r>
          </a:p>
          <a:p>
            <a:pPr algn="just" eaLnBrk="0" fontAlgn="base" hangingPunct="0">
              <a:lnSpc>
                <a:spcPct val="150000"/>
              </a:lnSpc>
              <a:spcBef>
                <a:spcPct val="0"/>
              </a:spcBef>
              <a:spcAft>
                <a:spcPct val="0"/>
              </a:spcAf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Types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Qualitative (categorical) and Quantitative (numerical).</a:t>
            </a:r>
          </a:p>
          <a:p>
            <a:pPr algn="just" eaLnBrk="0" fontAlgn="base" hangingPunct="0">
              <a:lnSpc>
                <a:spcPct val="150000"/>
              </a:lnSpc>
              <a:spcBef>
                <a:spcPct val="0"/>
              </a:spcBef>
              <a:spcAft>
                <a:spcPct val="0"/>
              </a:spcAf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of Central Tendency</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Mean (average), Median (middle value), and Mode (most frequent value).</a:t>
            </a:r>
          </a:p>
        </p:txBody>
      </p:sp>
    </p:spTree>
    <p:extLst>
      <p:ext uri="{BB962C8B-B14F-4D97-AF65-F5344CB8AC3E}">
        <p14:creationId xmlns:p14="http://schemas.microsoft.com/office/powerpoint/2010/main" val="1768068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90D4E-D6E6-4E34-4A12-4C0B2D66B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519BD-201E-5551-207A-8D98808AF987}"/>
              </a:ext>
            </a:extLst>
          </p:cNvPr>
          <p:cNvSpPr>
            <a:spLocks noGrp="1"/>
          </p:cNvSpPr>
          <p:nvPr>
            <p:ph type="title"/>
          </p:nvPr>
        </p:nvSpPr>
        <p:spPr>
          <a:xfrm>
            <a:off x="838200" y="365125"/>
            <a:ext cx="10515600" cy="708763"/>
          </a:xfrm>
        </p:spPr>
        <p:txBody>
          <a:bodyPr>
            <a:normAutofit/>
          </a:bodyPr>
          <a:lstStyle/>
          <a:p>
            <a:r>
              <a:rPr lang="en-IN" sz="3200" b="1" dirty="0">
                <a:latin typeface="Times New Roman" panose="02020603050405020304" pitchFamily="18" charset="0"/>
                <a:cs typeface="Times New Roman" panose="02020603050405020304" pitchFamily="18" charset="0"/>
              </a:rPr>
              <a:t>Basics of Statistics</a:t>
            </a:r>
          </a:p>
        </p:txBody>
      </p:sp>
      <p:sp>
        <p:nvSpPr>
          <p:cNvPr id="4" name="Rectangle 1">
            <a:extLst>
              <a:ext uri="{FF2B5EF4-FFF2-40B4-BE49-F238E27FC236}">
                <a16:creationId xmlns:a16="http://schemas.microsoft.com/office/drawing/2014/main" id="{80FD8F9A-3583-C2D0-C41E-669AA502534D}"/>
              </a:ext>
            </a:extLst>
          </p:cNvPr>
          <p:cNvSpPr>
            <a:spLocks noGrp="1" noChangeArrowheads="1"/>
          </p:cNvSpPr>
          <p:nvPr>
            <p:ph idx="1"/>
          </p:nvPr>
        </p:nvSpPr>
        <p:spPr bwMode="auto">
          <a:xfrm>
            <a:off x="988828" y="1370179"/>
            <a:ext cx="10653823" cy="42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of Dispersion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Range, Variance, and Standard Deviation show data spread.</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the likelihood of an event occurring, forming the foundation of inferential statistics.</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 Distribution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bell-shaped curve where most data falls near the mean.</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Sampling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Selecting a subset from a population to make estimates or test hypotheses.</a:t>
            </a:r>
          </a:p>
        </p:txBody>
      </p:sp>
    </p:spTree>
    <p:extLst>
      <p:ext uri="{BB962C8B-B14F-4D97-AF65-F5344CB8AC3E}">
        <p14:creationId xmlns:p14="http://schemas.microsoft.com/office/powerpoint/2010/main" val="4049474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9D1AC-2ACB-8306-1BAA-0862F936C01A}"/>
              </a:ext>
            </a:extLst>
          </p:cNvPr>
          <p:cNvSpPr>
            <a:spLocks noGrp="1"/>
          </p:cNvSpPr>
          <p:nvPr>
            <p:ph type="title"/>
          </p:nvPr>
        </p:nvSpPr>
        <p:spPr>
          <a:xfrm>
            <a:off x="838200" y="365126"/>
            <a:ext cx="10515600" cy="820014"/>
          </a:xfrm>
        </p:spPr>
        <p:txBody>
          <a:bodyPr>
            <a:normAutofit/>
          </a:bodyPr>
          <a:lstStyle/>
          <a:p>
            <a:r>
              <a:rPr lang="en-IN" sz="3200" b="1" dirty="0">
                <a:latin typeface="Times New Roman" panose="02020603050405020304" pitchFamily="18" charset="0"/>
                <a:cs typeface="Times New Roman" panose="02020603050405020304" pitchFamily="18" charset="0"/>
              </a:rPr>
              <a:t>The Role of Statistics in Engineering</a:t>
            </a:r>
          </a:p>
        </p:txBody>
      </p:sp>
      <p:sp>
        <p:nvSpPr>
          <p:cNvPr id="4" name="Rectangle 1">
            <a:extLst>
              <a:ext uri="{FF2B5EF4-FFF2-40B4-BE49-F238E27FC236}">
                <a16:creationId xmlns:a16="http://schemas.microsoft.com/office/drawing/2014/main" id="{0BAA7833-BD96-2F6D-D477-E9A5D2A46040}"/>
              </a:ext>
            </a:extLst>
          </p:cNvPr>
          <p:cNvSpPr>
            <a:spLocks noGrp="1" noChangeArrowheads="1"/>
          </p:cNvSpPr>
          <p:nvPr>
            <p:ph idx="1"/>
          </p:nvPr>
        </p:nvSpPr>
        <p:spPr bwMode="auto">
          <a:xfrm>
            <a:off x="701749" y="1125988"/>
            <a:ext cx="11142922"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Quality Control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product consistency and reliability through statistical process control (SPC) and Six Sigma.</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of Experiments (DOE)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in optimizing product designs and processes by testing multiple variables efficiently.</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Reliability Engineering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statistical models to predict product life and failure rates.</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Analysis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Interprets experimental and operational data to improve systems and processes.</a:t>
            </a:r>
          </a:p>
        </p:txBody>
      </p:sp>
    </p:spTree>
    <p:extLst>
      <p:ext uri="{BB962C8B-B14F-4D97-AF65-F5344CB8AC3E}">
        <p14:creationId xmlns:p14="http://schemas.microsoft.com/office/powerpoint/2010/main" val="3233463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644B1-6B08-546B-48BE-9DCCF2616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C5FE2-C518-4274-E21C-1D9CC64D867F}"/>
              </a:ext>
            </a:extLst>
          </p:cNvPr>
          <p:cNvSpPr>
            <a:spLocks noGrp="1"/>
          </p:cNvSpPr>
          <p:nvPr>
            <p:ph type="title"/>
          </p:nvPr>
        </p:nvSpPr>
        <p:spPr>
          <a:xfrm>
            <a:off x="838200" y="365126"/>
            <a:ext cx="10515600" cy="820014"/>
          </a:xfrm>
        </p:spPr>
        <p:txBody>
          <a:bodyPr>
            <a:normAutofit/>
          </a:bodyPr>
          <a:lstStyle/>
          <a:p>
            <a:r>
              <a:rPr lang="en-IN" sz="3200" b="1" dirty="0">
                <a:latin typeface="Times New Roman" panose="02020603050405020304" pitchFamily="18" charset="0"/>
                <a:cs typeface="Times New Roman" panose="02020603050405020304" pitchFamily="18" charset="0"/>
              </a:rPr>
              <a:t>The Role of Statistics in Engineering</a:t>
            </a:r>
          </a:p>
        </p:txBody>
      </p:sp>
      <p:sp>
        <p:nvSpPr>
          <p:cNvPr id="4" name="Rectangle 1">
            <a:extLst>
              <a:ext uri="{FF2B5EF4-FFF2-40B4-BE49-F238E27FC236}">
                <a16:creationId xmlns:a16="http://schemas.microsoft.com/office/drawing/2014/main" id="{C55621BA-9962-F19D-D23E-4802D875380D}"/>
              </a:ext>
            </a:extLst>
          </p:cNvPr>
          <p:cNvSpPr>
            <a:spLocks noGrp="1" noChangeArrowheads="1"/>
          </p:cNvSpPr>
          <p:nvPr>
            <p:ph idx="1"/>
          </p:nvPr>
        </p:nvSpPr>
        <p:spPr bwMode="auto">
          <a:xfrm>
            <a:off x="838201" y="1767222"/>
            <a:ext cx="11006470" cy="4468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Risk Assessment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Quantifies uncertainty and helps in making risk-informed engineering decisions.</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Simulation &amp; Modeling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engineering designs with probabilistic models and simulations.</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Making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Aids in choosing optimal solutions using statistical decision theory.</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Improvement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Identifies root causes of variation and supports continuous improvement initiatives.</a:t>
            </a:r>
          </a:p>
          <a:p>
            <a:pPr algn="just" eaLnBrk="0" fontAlgn="base" hangingPunct="0">
              <a:lnSpc>
                <a:spcPct val="150000"/>
              </a:lnSpc>
              <a:spcBef>
                <a:spcPct val="0"/>
              </a:spcBef>
              <a:spcAft>
                <a:spcPct val="0"/>
              </a:spcAft>
            </a:pPr>
            <a:r>
              <a:rPr lang="en-IN" sz="2400" dirty="0">
                <a:hlinkClick r:id="rId2"/>
              </a:rPr>
              <a:t>role-of-statistics-in-engineering-a-review-IJERTV11IS100057.pdf</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7221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D5F73-A95F-528B-964B-63EE833E7475}"/>
              </a:ext>
            </a:extLst>
          </p:cNvPr>
          <p:cNvSpPr>
            <a:spLocks noGrp="1"/>
          </p:cNvSpPr>
          <p:nvPr>
            <p:ph type="title"/>
          </p:nvPr>
        </p:nvSpPr>
        <p:spPr>
          <a:xfrm>
            <a:off x="838200" y="365125"/>
            <a:ext cx="10515600" cy="1282922"/>
          </a:xfrm>
        </p:spPr>
        <p:txBody>
          <a:bodyPr>
            <a:normAutofit/>
          </a:bodyPr>
          <a:lstStyle/>
          <a:p>
            <a:r>
              <a:rPr lang="en-IN" sz="3200" b="1" dirty="0">
                <a:latin typeface="Times New Roman" panose="02020603050405020304" pitchFamily="18" charset="0"/>
                <a:cs typeface="Times New Roman" panose="02020603050405020304" pitchFamily="18" charset="0"/>
              </a:rPr>
              <a:t>Basic Principles</a:t>
            </a:r>
            <a:br>
              <a:rPr lang="en-IN" dirty="0"/>
            </a:br>
            <a:endParaRPr lang="en-IN" dirty="0"/>
          </a:p>
        </p:txBody>
      </p:sp>
      <p:sp>
        <p:nvSpPr>
          <p:cNvPr id="4" name="Rectangle 1">
            <a:extLst>
              <a:ext uri="{FF2B5EF4-FFF2-40B4-BE49-F238E27FC236}">
                <a16:creationId xmlns:a16="http://schemas.microsoft.com/office/drawing/2014/main" id="{E94C3465-9CE5-C1D4-924B-FB6C7BDB6CD5}"/>
              </a:ext>
            </a:extLst>
          </p:cNvPr>
          <p:cNvSpPr>
            <a:spLocks noGrp="1" noChangeArrowheads="1"/>
          </p:cNvSpPr>
          <p:nvPr>
            <p:ph idx="1"/>
          </p:nvPr>
        </p:nvSpPr>
        <p:spPr bwMode="auto">
          <a:xfrm>
            <a:off x="838200" y="1593500"/>
            <a:ext cx="10815084"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Accurate and relevant data must be collected systematically.</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should be arranged in tables, charts, or graphs for clarity.</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Summarization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measures like mean, median, and mode to summarize data.</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Variation Analysis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Understand how data values vary using range, variance, and standard deviation.</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Probability Concepts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Apply probability to measure uncertainty and predict outcomes.</a:t>
            </a:r>
          </a:p>
        </p:txBody>
      </p:sp>
    </p:spTree>
    <p:extLst>
      <p:ext uri="{BB962C8B-B14F-4D97-AF65-F5344CB8AC3E}">
        <p14:creationId xmlns:p14="http://schemas.microsoft.com/office/powerpoint/2010/main" val="2106470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65F40-06AD-C2F4-FE73-FF7638D08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CA94D-F6C5-F30E-BD6F-F7E9F40C5EF7}"/>
              </a:ext>
            </a:extLst>
          </p:cNvPr>
          <p:cNvSpPr>
            <a:spLocks noGrp="1"/>
          </p:cNvSpPr>
          <p:nvPr>
            <p:ph type="title"/>
          </p:nvPr>
        </p:nvSpPr>
        <p:spPr>
          <a:xfrm>
            <a:off x="838200" y="365125"/>
            <a:ext cx="10515600" cy="1229759"/>
          </a:xfrm>
        </p:spPr>
        <p:txBody>
          <a:bodyPr>
            <a:normAutofit/>
          </a:bodyPr>
          <a:lstStyle/>
          <a:p>
            <a:r>
              <a:rPr lang="en-IN" sz="3200" b="1" dirty="0">
                <a:latin typeface="Times New Roman" panose="02020603050405020304" pitchFamily="18" charset="0"/>
                <a:cs typeface="Times New Roman" panose="02020603050405020304" pitchFamily="18" charset="0"/>
              </a:rPr>
              <a:t>Basic Principles</a:t>
            </a:r>
            <a:br>
              <a:rPr lang="en-IN" dirty="0"/>
            </a:br>
            <a:endParaRPr lang="en-IN" dirty="0"/>
          </a:p>
        </p:txBody>
      </p:sp>
      <p:sp>
        <p:nvSpPr>
          <p:cNvPr id="4" name="Rectangle 1">
            <a:extLst>
              <a:ext uri="{FF2B5EF4-FFF2-40B4-BE49-F238E27FC236}">
                <a16:creationId xmlns:a16="http://schemas.microsoft.com/office/drawing/2014/main" id="{6F5858C4-5B52-8094-C593-C4C3809D9A56}"/>
              </a:ext>
            </a:extLst>
          </p:cNvPr>
          <p:cNvSpPr>
            <a:spLocks noGrp="1" noChangeArrowheads="1"/>
          </p:cNvSpPr>
          <p:nvPr>
            <p:ph idx="1"/>
          </p:nvPr>
        </p:nvSpPr>
        <p:spPr bwMode="auto">
          <a:xfrm>
            <a:off x="838200" y="1826034"/>
            <a:ext cx="10942674"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Sampling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representative samples to draw conclusions about a larger population.</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Inference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Make predictions or decisions based on sample data using inferential statistics.</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Estimation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Estimate population parameters (e.g., population mean) using sample statistics.</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Hypothesis Testing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 assumptions or claims about a population using data.</a:t>
            </a:r>
          </a:p>
          <a:p>
            <a:pPr algn="just" eaLnBrk="0" fontAlgn="base" hangingPunct="0">
              <a:lnSpc>
                <a:spcPct val="15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Maintain impartiality and avoid bias throughout the statistical process.</a:t>
            </a:r>
          </a:p>
        </p:txBody>
      </p:sp>
    </p:spTree>
    <p:extLst>
      <p:ext uri="{BB962C8B-B14F-4D97-AF65-F5344CB8AC3E}">
        <p14:creationId xmlns:p14="http://schemas.microsoft.com/office/powerpoint/2010/main" val="2124244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1DE8-D9D6-0EB8-6D22-6552EE321FAA}"/>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Retrospective Study</a:t>
            </a:r>
          </a:p>
        </p:txBody>
      </p:sp>
      <p:sp>
        <p:nvSpPr>
          <p:cNvPr id="4" name="Rectangle 1">
            <a:extLst>
              <a:ext uri="{FF2B5EF4-FFF2-40B4-BE49-F238E27FC236}">
                <a16:creationId xmlns:a16="http://schemas.microsoft.com/office/drawing/2014/main" id="{801817C0-C3A8-2872-084F-8780398A251C}"/>
              </a:ext>
            </a:extLst>
          </p:cNvPr>
          <p:cNvSpPr>
            <a:spLocks noGrp="1" noChangeArrowheads="1"/>
          </p:cNvSpPr>
          <p:nvPr>
            <p:ph idx="1"/>
          </p:nvPr>
        </p:nvSpPr>
        <p:spPr bwMode="auto">
          <a:xfrm>
            <a:off x="838200" y="1590410"/>
            <a:ext cx="9961381" cy="4821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retrospective study analyzes past data or records.</a:t>
            </a:r>
          </a:p>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studies causes or risk factors after the outcome has already happened.</a:t>
            </a:r>
          </a:p>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usually designed as a case-control study.</a:t>
            </a:r>
          </a:p>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quick and cost-effective because it uses existing data.</a:t>
            </a:r>
          </a:p>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shows associations, not direct cause-and-effect.</a:t>
            </a:r>
          </a:p>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may suffer from recall bias or selection bias.</a:t>
            </a:r>
          </a:p>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Ethical approval is usually easier to get.</a:t>
            </a:r>
          </a:p>
          <a:p>
            <a:pPr eaLnBrk="0" fontAlgn="base" hangingPunct="0">
              <a:lnSpc>
                <a:spcPct val="150000"/>
              </a:lnSpc>
              <a:spcBef>
                <a:spcPct val="0"/>
              </a:spcBef>
              <a:spcAft>
                <a:spcPct val="0"/>
              </a:spcAf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commonly used in healthcare, epidemiology, and public health.</a:t>
            </a:r>
          </a:p>
        </p:txBody>
      </p:sp>
    </p:spTree>
    <p:extLst>
      <p:ext uri="{BB962C8B-B14F-4D97-AF65-F5344CB8AC3E}">
        <p14:creationId xmlns:p14="http://schemas.microsoft.com/office/powerpoint/2010/main" val="2548885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19111-21A8-920C-F2E4-16E44D481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1A5DF-4ADB-2EE7-7ED5-BE95710B320B}"/>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Retrospective Study</a:t>
            </a:r>
          </a:p>
        </p:txBody>
      </p:sp>
      <p:pic>
        <p:nvPicPr>
          <p:cNvPr id="5" name="Picture 4" descr="A diagram of a study schematic&#10;&#10;AI-generated content may be incorrect.">
            <a:extLst>
              <a:ext uri="{FF2B5EF4-FFF2-40B4-BE49-F238E27FC236}">
                <a16:creationId xmlns:a16="http://schemas.microsoft.com/office/drawing/2014/main" id="{468B353B-A0D5-577E-171A-68617AFD3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393" y="1983083"/>
            <a:ext cx="8772070" cy="42202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98003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707BC-DECD-12B0-B6EF-36A476F107E4}"/>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Observational study</a:t>
            </a:r>
          </a:p>
        </p:txBody>
      </p:sp>
      <p:sp>
        <p:nvSpPr>
          <p:cNvPr id="4" name="Rectangle 1">
            <a:extLst>
              <a:ext uri="{FF2B5EF4-FFF2-40B4-BE49-F238E27FC236}">
                <a16:creationId xmlns:a16="http://schemas.microsoft.com/office/drawing/2014/main" id="{EE73C46F-D123-8128-02DE-D02A67BB77F8}"/>
              </a:ext>
            </a:extLst>
          </p:cNvPr>
          <p:cNvSpPr>
            <a:spLocks noGrp="1" noChangeArrowheads="1"/>
          </p:cNvSpPr>
          <p:nvPr>
            <p:ph idx="1"/>
          </p:nvPr>
        </p:nvSpPr>
        <p:spPr bwMode="auto">
          <a:xfrm>
            <a:off x="838200" y="2073156"/>
            <a:ext cx="10698127" cy="3621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observational study involves watching and recording data without interfering.</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Researchers do not manipulate variables or assign treatments.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used to find natural associations between variables.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are two main types: retrospective (past data) and prospective (future tracking).</a:t>
            </a:r>
          </a:p>
        </p:txBody>
      </p:sp>
    </p:spTree>
    <p:extLst>
      <p:ext uri="{BB962C8B-B14F-4D97-AF65-F5344CB8AC3E}">
        <p14:creationId xmlns:p14="http://schemas.microsoft.com/office/powerpoint/2010/main" val="1931610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8A532-71BE-7818-2874-C256001D0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43FC6-3F1A-7C89-0C4B-0B3B6D33758D}"/>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Observational study</a:t>
            </a:r>
          </a:p>
        </p:txBody>
      </p:sp>
      <p:sp>
        <p:nvSpPr>
          <p:cNvPr id="4" name="Rectangle 1">
            <a:extLst>
              <a:ext uri="{FF2B5EF4-FFF2-40B4-BE49-F238E27FC236}">
                <a16:creationId xmlns:a16="http://schemas.microsoft.com/office/drawing/2014/main" id="{1E253EEF-1A16-5C1C-BC57-F9B1141CEA60}"/>
              </a:ext>
            </a:extLst>
          </p:cNvPr>
          <p:cNvSpPr>
            <a:spLocks noGrp="1" noChangeArrowheads="1"/>
          </p:cNvSpPr>
          <p:nvPr>
            <p:ph idx="1"/>
          </p:nvPr>
        </p:nvSpPr>
        <p:spPr bwMode="auto">
          <a:xfrm>
            <a:off x="712381" y="2298810"/>
            <a:ext cx="10823946" cy="242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in fields like medicine, psychology, and social sciences.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can identify correlations but cannot prove causation.</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Usually easier and cheaper than experimental studies.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when experiments are unethical or impractical.</a:t>
            </a:r>
          </a:p>
        </p:txBody>
      </p:sp>
    </p:spTree>
    <p:extLst>
      <p:ext uri="{BB962C8B-B14F-4D97-AF65-F5344CB8AC3E}">
        <p14:creationId xmlns:p14="http://schemas.microsoft.com/office/powerpoint/2010/main" val="416149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396E0-8740-AFCD-372E-F35869F172D5}"/>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Designed Experiments</a:t>
            </a:r>
          </a:p>
        </p:txBody>
      </p:sp>
      <p:sp>
        <p:nvSpPr>
          <p:cNvPr id="4" name="Rectangle 1">
            <a:extLst>
              <a:ext uri="{FF2B5EF4-FFF2-40B4-BE49-F238E27FC236}">
                <a16:creationId xmlns:a16="http://schemas.microsoft.com/office/drawing/2014/main" id="{3759F05F-1900-C613-AA85-1CFA2565C6DE}"/>
              </a:ext>
            </a:extLst>
          </p:cNvPr>
          <p:cNvSpPr>
            <a:spLocks noGrp="1" noChangeArrowheads="1"/>
          </p:cNvSpPr>
          <p:nvPr>
            <p:ph idx="1"/>
          </p:nvPr>
        </p:nvSpPr>
        <p:spPr bwMode="auto">
          <a:xfrm>
            <a:off x="1020725" y="2040474"/>
            <a:ext cx="10515601" cy="3019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designed experiment, researchers actively control and manipulate one or more variables.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Participants are usually assigned to treatment and control groups.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determine cause-and-effect relationships.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includes elements like randomization, replication, and control.</a:t>
            </a:r>
          </a:p>
        </p:txBody>
      </p:sp>
    </p:spTree>
    <p:extLst>
      <p:ext uri="{BB962C8B-B14F-4D97-AF65-F5344CB8AC3E}">
        <p14:creationId xmlns:p14="http://schemas.microsoft.com/office/powerpoint/2010/main" val="1330816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2103B-32AB-9A3E-DD9A-BD2F6A497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06A9F-3004-AC1F-58A0-21D2A0171C61}"/>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Designed Experiments</a:t>
            </a:r>
          </a:p>
        </p:txBody>
      </p:sp>
      <p:sp>
        <p:nvSpPr>
          <p:cNvPr id="4" name="Rectangle 1">
            <a:extLst>
              <a:ext uri="{FF2B5EF4-FFF2-40B4-BE49-F238E27FC236}">
                <a16:creationId xmlns:a16="http://schemas.microsoft.com/office/drawing/2014/main" id="{3E515674-FE2A-A49C-3B1B-0BB5F171C3FC}"/>
              </a:ext>
            </a:extLst>
          </p:cNvPr>
          <p:cNvSpPr>
            <a:spLocks noGrp="1" noChangeArrowheads="1"/>
          </p:cNvSpPr>
          <p:nvPr>
            <p:ph idx="1"/>
          </p:nvPr>
        </p:nvSpPr>
        <p:spPr bwMode="auto">
          <a:xfrm>
            <a:off x="838200" y="2004221"/>
            <a:ext cx="10515601" cy="242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experiments reduce the chance of bias and confounding variables.</a:t>
            </a:r>
          </a:p>
          <a:p>
            <a:pPr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in scientific research, agriculture, medicine, and engineering.</a:t>
            </a:r>
          </a:p>
          <a:p>
            <a:pPr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more accurate but often more time-consuming and expensive.</a:t>
            </a:r>
          </a:p>
          <a:p>
            <a:pPr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establish clear conclusions about the effect of interventions.</a:t>
            </a:r>
          </a:p>
        </p:txBody>
      </p:sp>
    </p:spTree>
    <p:extLst>
      <p:ext uri="{BB962C8B-B14F-4D97-AF65-F5344CB8AC3E}">
        <p14:creationId xmlns:p14="http://schemas.microsoft.com/office/powerpoint/2010/main" val="1942776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320B4-4C6A-C08A-A142-E5E161FEF90E}"/>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Observing Processes Over Time</a:t>
            </a:r>
          </a:p>
        </p:txBody>
      </p:sp>
      <p:sp>
        <p:nvSpPr>
          <p:cNvPr id="4" name="Rectangle 1">
            <a:extLst>
              <a:ext uri="{FF2B5EF4-FFF2-40B4-BE49-F238E27FC236}">
                <a16:creationId xmlns:a16="http://schemas.microsoft.com/office/drawing/2014/main" id="{FC4D16AA-50C6-A46B-9BC9-DE3FD6AA11C4}"/>
              </a:ext>
            </a:extLst>
          </p:cNvPr>
          <p:cNvSpPr>
            <a:spLocks noGrp="1" noChangeArrowheads="1"/>
          </p:cNvSpPr>
          <p:nvPr>
            <p:ph idx="1"/>
          </p:nvPr>
        </p:nvSpPr>
        <p:spPr bwMode="auto">
          <a:xfrm>
            <a:off x="914400" y="1340403"/>
            <a:ext cx="10228521" cy="4821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Observing processes over time means tracking changes in a system or activity continuously or at regular intervals.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identify trends, patterns, and fluctuations in behavior or performance.</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method is often used in quality control, manufacturing, healthcare, and scientific research.</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 like control charts, run charts, and time series plots are commonly used.</a:t>
            </a:r>
          </a:p>
        </p:txBody>
      </p:sp>
    </p:spTree>
    <p:extLst>
      <p:ext uri="{BB962C8B-B14F-4D97-AF65-F5344CB8AC3E}">
        <p14:creationId xmlns:p14="http://schemas.microsoft.com/office/powerpoint/2010/main" val="2993926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AF083-C302-6B7D-6118-85087F9FE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F5FE4-7A49-5B81-F93F-F8DFC6389F52}"/>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Observing Processes Over Time</a:t>
            </a:r>
          </a:p>
        </p:txBody>
      </p:sp>
      <p:sp>
        <p:nvSpPr>
          <p:cNvPr id="4" name="Rectangle 1">
            <a:extLst>
              <a:ext uri="{FF2B5EF4-FFF2-40B4-BE49-F238E27FC236}">
                <a16:creationId xmlns:a16="http://schemas.microsoft.com/office/drawing/2014/main" id="{43827630-C734-0DC6-297B-07426E9280F5}"/>
              </a:ext>
            </a:extLst>
          </p:cNvPr>
          <p:cNvSpPr>
            <a:spLocks noGrp="1" noChangeArrowheads="1"/>
          </p:cNvSpPr>
          <p:nvPr>
            <p:ph idx="1"/>
          </p:nvPr>
        </p:nvSpPr>
        <p:spPr bwMode="auto">
          <a:xfrm>
            <a:off x="1052623" y="1542950"/>
            <a:ext cx="9516140" cy="4821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allows early detection of problems or abnormalities in a process.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Long-term observation helps in making data-driven decisions.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essential for process improvement and predictive analysis.</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maintain consistency, efficiency, and quality over time.</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involves collecting and analyzing data in a systematic way.</a:t>
            </a:r>
          </a:p>
          <a:p>
            <a:pPr algn="just" eaLnBrk="0" fontAlgn="base" hangingPunct="0">
              <a:lnSpc>
                <a:spcPct val="150000"/>
              </a:lnSpc>
              <a:spcBef>
                <a:spcPct val="0"/>
              </a:spcBef>
              <a:spcAft>
                <a:spcPct val="0"/>
              </a:spcAf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Often combined with statistical methods for better accuracy and insights.</a:t>
            </a:r>
          </a:p>
        </p:txBody>
      </p:sp>
    </p:spTree>
    <p:extLst>
      <p:ext uri="{BB962C8B-B14F-4D97-AF65-F5344CB8AC3E}">
        <p14:creationId xmlns:p14="http://schemas.microsoft.com/office/powerpoint/2010/main" val="4114965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BBAD9-CF3B-BE6B-7A21-C9F4BEE8E2D9}"/>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Mechanistic and Empirical Models</a:t>
            </a:r>
          </a:p>
        </p:txBody>
      </p:sp>
      <p:sp>
        <p:nvSpPr>
          <p:cNvPr id="3" name="Content Placeholder 2">
            <a:extLst>
              <a:ext uri="{FF2B5EF4-FFF2-40B4-BE49-F238E27FC236}">
                <a16:creationId xmlns:a16="http://schemas.microsoft.com/office/drawing/2014/main" id="{9C182C29-6288-86BB-8232-F8D72C93E399}"/>
              </a:ext>
            </a:extLst>
          </p:cNvPr>
          <p:cNvSpPr>
            <a:spLocks noGrp="1"/>
          </p:cNvSpPr>
          <p:nvPr>
            <p:ph idx="1"/>
          </p:nvPr>
        </p:nvSpPr>
        <p:spPr>
          <a:xfrm>
            <a:off x="838200" y="1690688"/>
            <a:ext cx="10515600" cy="4486275"/>
          </a:xfrm>
        </p:spPr>
        <p:txBody>
          <a:bodyPr>
            <a:normAutofit fontScale="25000" lnSpcReduction="20000"/>
          </a:bodyPr>
          <a:lstStyle/>
          <a:p>
            <a:pPr marL="0" indent="0" algn="just">
              <a:lnSpc>
                <a:spcPct val="160000"/>
              </a:lnSpc>
              <a:buNone/>
            </a:pPr>
            <a:r>
              <a:rPr lang="en-IN" sz="10400" b="1" dirty="0">
                <a:latin typeface="Times New Roman" panose="02020603050405020304" pitchFamily="18" charset="0"/>
                <a:cs typeface="Times New Roman" panose="02020603050405020304" pitchFamily="18" charset="0"/>
              </a:rPr>
              <a:t>Mechanistic Models</a:t>
            </a:r>
          </a:p>
          <a:p>
            <a:pPr algn="just">
              <a:lnSpc>
                <a:spcPct val="160000"/>
              </a:lnSpc>
            </a:pPr>
            <a:r>
              <a:rPr lang="en-IN" sz="10400" dirty="0">
                <a:latin typeface="Times New Roman" panose="02020603050405020304" pitchFamily="18" charset="0"/>
                <a:cs typeface="Times New Roman" panose="02020603050405020304" pitchFamily="18" charset="0"/>
              </a:rPr>
              <a:t>Mechanistic models are based on known scientific laws or theories.</a:t>
            </a:r>
          </a:p>
          <a:p>
            <a:pPr algn="just">
              <a:lnSpc>
                <a:spcPct val="160000"/>
              </a:lnSpc>
            </a:pPr>
            <a:r>
              <a:rPr lang="en-IN" sz="10400" dirty="0">
                <a:latin typeface="Times New Roman" panose="02020603050405020304" pitchFamily="18" charset="0"/>
                <a:cs typeface="Times New Roman" panose="02020603050405020304" pitchFamily="18" charset="0"/>
              </a:rPr>
              <a:t>They explain how a system works using cause-and-effect relationships.</a:t>
            </a:r>
          </a:p>
          <a:p>
            <a:pPr algn="just">
              <a:lnSpc>
                <a:spcPct val="160000"/>
              </a:lnSpc>
            </a:pPr>
            <a:r>
              <a:rPr lang="en-IN" sz="10400" dirty="0">
                <a:latin typeface="Times New Roman" panose="02020603050405020304" pitchFamily="18" charset="0"/>
                <a:cs typeface="Times New Roman" panose="02020603050405020304" pitchFamily="18" charset="0"/>
              </a:rPr>
              <a:t>These models use mathematical equations to represent physical, chemical, or biological processes.</a:t>
            </a:r>
          </a:p>
          <a:p>
            <a:pPr algn="just">
              <a:lnSpc>
                <a:spcPct val="160000"/>
              </a:lnSpc>
            </a:pPr>
            <a:r>
              <a:rPr lang="en-IN" sz="10400" dirty="0">
                <a:latin typeface="Times New Roman" panose="02020603050405020304" pitchFamily="18" charset="0"/>
                <a:cs typeface="Times New Roman" panose="02020603050405020304" pitchFamily="18" charset="0"/>
              </a:rPr>
              <a:t>They are highly interpretable and useful for understanding system </a:t>
            </a:r>
            <a:r>
              <a:rPr lang="en-IN" sz="10400" dirty="0" err="1">
                <a:latin typeface="Times New Roman" panose="02020603050405020304" pitchFamily="18" charset="0"/>
                <a:cs typeface="Times New Roman" panose="02020603050405020304" pitchFamily="18" charset="0"/>
              </a:rPr>
              <a:t>behavior</a:t>
            </a:r>
            <a:r>
              <a:rPr lang="en-IN" sz="10400" dirty="0">
                <a:latin typeface="Times New Roman" panose="02020603050405020304" pitchFamily="18" charset="0"/>
                <a:cs typeface="Times New Roman" panose="02020603050405020304" pitchFamily="18" charset="0"/>
              </a:rPr>
              <a:t>.</a:t>
            </a:r>
          </a:p>
          <a:p>
            <a:pPr algn="just">
              <a:lnSpc>
                <a:spcPct val="160000"/>
              </a:lnSpc>
            </a:pPr>
            <a:r>
              <a:rPr lang="en-IN" sz="10400" b="1" dirty="0">
                <a:latin typeface="Times New Roman" panose="02020603050405020304" pitchFamily="18" charset="0"/>
                <a:cs typeface="Times New Roman" panose="02020603050405020304" pitchFamily="18" charset="0"/>
              </a:rPr>
              <a:t>Example: </a:t>
            </a:r>
            <a:r>
              <a:rPr lang="en-IN" sz="10400" dirty="0">
                <a:latin typeface="Times New Roman" panose="02020603050405020304" pitchFamily="18" charset="0"/>
                <a:cs typeface="Times New Roman" panose="02020603050405020304" pitchFamily="18" charset="0"/>
              </a:rPr>
              <a:t>Newton’s laws used in physics-based models.</a:t>
            </a:r>
          </a:p>
          <a:p>
            <a:endParaRPr lang="en-IN" dirty="0"/>
          </a:p>
        </p:txBody>
      </p:sp>
    </p:spTree>
    <p:extLst>
      <p:ext uri="{BB962C8B-B14F-4D97-AF65-F5344CB8AC3E}">
        <p14:creationId xmlns:p14="http://schemas.microsoft.com/office/powerpoint/2010/main" val="3375135772"/>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90F14A5-03FC-DA29-D96A-28FCDAB8E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29036-8759-2570-724A-4BA799BB1261}"/>
              </a:ext>
            </a:extLst>
          </p:cNvPr>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Mechanistic and Empirical Models</a:t>
            </a:r>
          </a:p>
        </p:txBody>
      </p:sp>
      <p:sp>
        <p:nvSpPr>
          <p:cNvPr id="3" name="Content Placeholder 2">
            <a:extLst>
              <a:ext uri="{FF2B5EF4-FFF2-40B4-BE49-F238E27FC236}">
                <a16:creationId xmlns:a16="http://schemas.microsoft.com/office/drawing/2014/main" id="{8EB9990C-C9CB-1069-E649-07EB7E150670}"/>
              </a:ext>
            </a:extLst>
          </p:cNvPr>
          <p:cNvSpPr>
            <a:spLocks noGrp="1"/>
          </p:cNvSpPr>
          <p:nvPr>
            <p:ph idx="1"/>
          </p:nvPr>
        </p:nvSpPr>
        <p:spPr>
          <a:xfrm>
            <a:off x="955158" y="1517280"/>
            <a:ext cx="10398642" cy="4734663"/>
          </a:xfrm>
        </p:spPr>
        <p:txBody>
          <a:bodyPr>
            <a:normAutofit fontScale="62500" lnSpcReduction="20000"/>
          </a:bodyPr>
          <a:lstStyle/>
          <a:p>
            <a:pPr marL="0" indent="0" algn="just">
              <a:lnSpc>
                <a:spcPct val="160000"/>
              </a:lnSpc>
              <a:buNone/>
            </a:pPr>
            <a:r>
              <a:rPr lang="en-IN" sz="4200" b="1" dirty="0">
                <a:latin typeface="Times New Roman" panose="02020603050405020304" pitchFamily="18" charset="0"/>
                <a:cs typeface="Times New Roman" panose="02020603050405020304" pitchFamily="18" charset="0"/>
              </a:rPr>
              <a:t>Empirical Models</a:t>
            </a:r>
          </a:p>
          <a:p>
            <a:pPr algn="just">
              <a:lnSpc>
                <a:spcPct val="160000"/>
              </a:lnSpc>
            </a:pPr>
            <a:r>
              <a:rPr lang="en-IN" sz="4200" dirty="0">
                <a:latin typeface="Times New Roman" panose="02020603050405020304" pitchFamily="18" charset="0"/>
                <a:cs typeface="Times New Roman" panose="02020603050405020304" pitchFamily="18" charset="0"/>
              </a:rPr>
              <a:t>Empirical models are built from observed data, not from physical laws.</a:t>
            </a:r>
          </a:p>
          <a:p>
            <a:pPr algn="just">
              <a:lnSpc>
                <a:spcPct val="160000"/>
              </a:lnSpc>
            </a:pPr>
            <a:r>
              <a:rPr lang="en-IN" sz="4200" dirty="0">
                <a:latin typeface="Times New Roman" panose="02020603050405020304" pitchFamily="18" charset="0"/>
                <a:cs typeface="Times New Roman" panose="02020603050405020304" pitchFamily="18" charset="0"/>
              </a:rPr>
              <a:t>They focus on finding patterns or correlations in data.</a:t>
            </a:r>
          </a:p>
          <a:p>
            <a:pPr algn="just">
              <a:lnSpc>
                <a:spcPct val="160000"/>
              </a:lnSpc>
            </a:pPr>
            <a:r>
              <a:rPr lang="en-IN" sz="4200" dirty="0">
                <a:latin typeface="Times New Roman" panose="02020603050405020304" pitchFamily="18" charset="0"/>
                <a:cs typeface="Times New Roman" panose="02020603050405020304" pitchFamily="18" charset="0"/>
              </a:rPr>
              <a:t>These models often use statistical or machine learning techniques.</a:t>
            </a:r>
          </a:p>
          <a:p>
            <a:pPr algn="just">
              <a:lnSpc>
                <a:spcPct val="160000"/>
              </a:lnSpc>
            </a:pPr>
            <a:r>
              <a:rPr lang="en-IN" sz="4200" dirty="0">
                <a:latin typeface="Times New Roman" panose="02020603050405020304" pitchFamily="18" charset="0"/>
                <a:cs typeface="Times New Roman" panose="02020603050405020304" pitchFamily="18" charset="0"/>
              </a:rPr>
              <a:t>They may provide good predictions but offer less understanding of underlying mechanisms.</a:t>
            </a:r>
          </a:p>
          <a:p>
            <a:pPr algn="just">
              <a:lnSpc>
                <a:spcPct val="160000"/>
              </a:lnSpc>
            </a:pPr>
            <a:r>
              <a:rPr lang="en-IN" sz="4200" b="1" dirty="0">
                <a:latin typeface="Times New Roman" panose="02020603050405020304" pitchFamily="18" charset="0"/>
                <a:cs typeface="Times New Roman" panose="02020603050405020304" pitchFamily="18" charset="0"/>
              </a:rPr>
              <a:t>Example: </a:t>
            </a:r>
            <a:r>
              <a:rPr lang="en-IN" sz="4200" dirty="0">
                <a:latin typeface="Times New Roman" panose="02020603050405020304" pitchFamily="18" charset="0"/>
                <a:cs typeface="Times New Roman" panose="02020603050405020304" pitchFamily="18" charset="0"/>
              </a:rPr>
              <a:t>Linear regression predicting sales from past trends.</a:t>
            </a:r>
          </a:p>
          <a:p>
            <a:endParaRPr lang="en-IN" dirty="0"/>
          </a:p>
        </p:txBody>
      </p:sp>
    </p:spTree>
    <p:extLst>
      <p:ext uri="{BB962C8B-B14F-4D97-AF65-F5344CB8AC3E}">
        <p14:creationId xmlns:p14="http://schemas.microsoft.com/office/powerpoint/2010/main" val="331467246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79A92-B79C-A95A-278E-E78DD4CEE86C}"/>
              </a:ext>
            </a:extLst>
          </p:cNvPr>
          <p:cNvSpPr>
            <a:spLocks noGrp="1"/>
          </p:cNvSpPr>
          <p:nvPr>
            <p:ph type="title"/>
          </p:nvPr>
        </p:nvSpPr>
        <p:spPr>
          <a:xfrm>
            <a:off x="878958" y="322595"/>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Probability and Probability Models</a:t>
            </a:r>
          </a:p>
        </p:txBody>
      </p:sp>
      <p:sp>
        <p:nvSpPr>
          <p:cNvPr id="3" name="Content Placeholder 2">
            <a:extLst>
              <a:ext uri="{FF2B5EF4-FFF2-40B4-BE49-F238E27FC236}">
                <a16:creationId xmlns:a16="http://schemas.microsoft.com/office/drawing/2014/main" id="{3B5D2449-11CA-F035-EAF3-A073E54E4D7A}"/>
              </a:ext>
            </a:extLst>
          </p:cNvPr>
          <p:cNvSpPr>
            <a:spLocks noGrp="1"/>
          </p:cNvSpPr>
          <p:nvPr>
            <p:ph idx="1"/>
          </p:nvPr>
        </p:nvSpPr>
        <p:spPr/>
        <p:txBody>
          <a:bodyPr/>
          <a:lstStyle/>
          <a:p>
            <a:pPr marL="0" indent="0" algn="just">
              <a:lnSpc>
                <a:spcPct val="140000"/>
              </a:lnSpc>
              <a:buNone/>
            </a:pPr>
            <a:r>
              <a:rPr lang="en-IN" sz="2600" b="1" dirty="0">
                <a:latin typeface="Times New Roman" panose="02020603050405020304" pitchFamily="18" charset="0"/>
                <a:cs typeface="Times New Roman" panose="02020603050405020304" pitchFamily="18" charset="0"/>
              </a:rPr>
              <a:t>Probability</a:t>
            </a:r>
          </a:p>
          <a:p>
            <a:pPr algn="just">
              <a:lnSpc>
                <a:spcPct val="140000"/>
              </a:lnSpc>
            </a:pPr>
            <a:r>
              <a:rPr lang="en-IN" sz="2600" dirty="0">
                <a:latin typeface="Times New Roman" panose="02020603050405020304" pitchFamily="18" charset="0"/>
                <a:cs typeface="Times New Roman" panose="02020603050405020304" pitchFamily="18" charset="0"/>
              </a:rPr>
              <a:t>Probability is a measure of how likely an event is to happen.</a:t>
            </a:r>
          </a:p>
          <a:p>
            <a:pPr algn="just">
              <a:lnSpc>
                <a:spcPct val="150000"/>
              </a:lnSpc>
            </a:pPr>
            <a:r>
              <a:rPr lang="en-IN" sz="2600" dirty="0">
                <a:latin typeface="Times New Roman" panose="02020603050405020304" pitchFamily="18" charset="0"/>
                <a:cs typeface="Times New Roman" panose="02020603050405020304" pitchFamily="18" charset="0"/>
              </a:rPr>
              <a:t>It ranges from 0 (impossible) to 1 (certain).</a:t>
            </a:r>
          </a:p>
          <a:p>
            <a:pPr algn="just">
              <a:lnSpc>
                <a:spcPct val="150000"/>
              </a:lnSpc>
            </a:pPr>
            <a:r>
              <a:rPr lang="en-IN" sz="2600" dirty="0">
                <a:latin typeface="Times New Roman" panose="02020603050405020304" pitchFamily="18" charset="0"/>
                <a:cs typeface="Times New Roman" panose="02020603050405020304" pitchFamily="18" charset="0"/>
              </a:rPr>
              <a:t>It helps in quantifying uncertainty in real-life situations.</a:t>
            </a:r>
          </a:p>
          <a:p>
            <a:pPr algn="just">
              <a:lnSpc>
                <a:spcPct val="150000"/>
              </a:lnSpc>
            </a:pPr>
            <a:r>
              <a:rPr lang="en-IN" sz="2600" dirty="0">
                <a:latin typeface="Times New Roman" panose="02020603050405020304" pitchFamily="18" charset="0"/>
                <a:cs typeface="Times New Roman" panose="02020603050405020304" pitchFamily="18" charset="0"/>
              </a:rPr>
              <a:t>Example: The probability of getting heads in a coin toss is 0.5.</a:t>
            </a:r>
          </a:p>
          <a:p>
            <a:pPr algn="just">
              <a:lnSpc>
                <a:spcPct val="140000"/>
              </a:lnSpc>
            </a:pPr>
            <a:r>
              <a:rPr lang="en-IN" sz="2600" dirty="0">
                <a:latin typeface="Times New Roman" panose="02020603050405020304" pitchFamily="18" charset="0"/>
                <a:cs typeface="Times New Roman" panose="02020603050405020304" pitchFamily="18" charset="0"/>
              </a:rPr>
              <a:t>Probability is the foundation of statistics, AI, and data science.</a:t>
            </a:r>
          </a:p>
          <a:p>
            <a:endParaRPr lang="en-IN" dirty="0"/>
          </a:p>
        </p:txBody>
      </p:sp>
    </p:spTree>
    <p:extLst>
      <p:ext uri="{BB962C8B-B14F-4D97-AF65-F5344CB8AC3E}">
        <p14:creationId xmlns:p14="http://schemas.microsoft.com/office/powerpoint/2010/main" val="2875656713"/>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BB54429D-FB81-E19C-D2C3-82AD73418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2F56B-0305-9AC4-2A13-BDA895F0DFF4}"/>
              </a:ext>
            </a:extLst>
          </p:cNvPr>
          <p:cNvSpPr>
            <a:spLocks noGrp="1"/>
          </p:cNvSpPr>
          <p:nvPr>
            <p:ph type="title"/>
          </p:nvPr>
        </p:nvSpPr>
        <p:spPr>
          <a:xfrm>
            <a:off x="878958" y="322595"/>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Probability and Probability Models</a:t>
            </a:r>
          </a:p>
        </p:txBody>
      </p:sp>
      <p:sp>
        <p:nvSpPr>
          <p:cNvPr id="3" name="Content Placeholder 2">
            <a:extLst>
              <a:ext uri="{FF2B5EF4-FFF2-40B4-BE49-F238E27FC236}">
                <a16:creationId xmlns:a16="http://schemas.microsoft.com/office/drawing/2014/main" id="{8D958113-8238-6804-B57A-54C522AA9334}"/>
              </a:ext>
            </a:extLst>
          </p:cNvPr>
          <p:cNvSpPr>
            <a:spLocks noGrp="1"/>
          </p:cNvSpPr>
          <p:nvPr>
            <p:ph idx="1"/>
          </p:nvPr>
        </p:nvSpPr>
        <p:spPr>
          <a:xfrm>
            <a:off x="878958" y="1751197"/>
            <a:ext cx="10515600" cy="4351338"/>
          </a:xfrm>
        </p:spPr>
        <p:txBody>
          <a:bodyPr>
            <a:normAutofit fontScale="92500" lnSpcReduction="20000"/>
          </a:bodyPr>
          <a:lstStyle/>
          <a:p>
            <a:pPr marL="0" indent="0">
              <a:lnSpc>
                <a:spcPct val="150000"/>
              </a:lnSpc>
              <a:buNone/>
            </a:pPr>
            <a:r>
              <a:rPr lang="en-IN" sz="2600" b="1" dirty="0">
                <a:latin typeface="Times New Roman" panose="02020603050405020304" pitchFamily="18" charset="0"/>
                <a:cs typeface="Times New Roman" panose="02020603050405020304" pitchFamily="18" charset="0"/>
              </a:rPr>
              <a:t>Probability Models</a:t>
            </a:r>
          </a:p>
          <a:p>
            <a:pPr>
              <a:lnSpc>
                <a:spcPct val="150000"/>
              </a:lnSpc>
            </a:pPr>
            <a:r>
              <a:rPr lang="en-IN" dirty="0">
                <a:latin typeface="Times New Roman" panose="02020603050405020304" pitchFamily="18" charset="0"/>
                <a:cs typeface="Times New Roman" panose="02020603050405020304" pitchFamily="18" charset="0"/>
              </a:rPr>
              <a:t>A probability model is a mathematical representation of a random process.</a:t>
            </a:r>
          </a:p>
          <a:p>
            <a:pPr>
              <a:lnSpc>
                <a:spcPct val="150000"/>
              </a:lnSpc>
            </a:pPr>
            <a:r>
              <a:rPr lang="en-IN" dirty="0">
                <a:latin typeface="Times New Roman" panose="02020603050405020304" pitchFamily="18" charset="0"/>
                <a:cs typeface="Times New Roman" panose="02020603050405020304" pitchFamily="18" charset="0"/>
              </a:rPr>
              <a:t>It includes a sample space, events, and probabilities assigned to those events.</a:t>
            </a:r>
          </a:p>
          <a:p>
            <a:pPr>
              <a:lnSpc>
                <a:spcPct val="150000"/>
              </a:lnSpc>
            </a:pPr>
            <a:r>
              <a:rPr lang="en-IN" dirty="0">
                <a:latin typeface="Times New Roman" panose="02020603050405020304" pitchFamily="18" charset="0"/>
                <a:cs typeface="Times New Roman" panose="02020603050405020304" pitchFamily="18" charset="0"/>
              </a:rPr>
              <a:t>It helps predict how often outcomes occur over many trials.</a:t>
            </a:r>
          </a:p>
          <a:p>
            <a:pPr>
              <a:lnSpc>
                <a:spcPct val="150000"/>
              </a:lnSpc>
            </a:pPr>
            <a:r>
              <a:rPr lang="en-IN" dirty="0">
                <a:latin typeface="Times New Roman" panose="02020603050405020304" pitchFamily="18" charset="0"/>
                <a:cs typeface="Times New Roman" panose="02020603050405020304" pitchFamily="18" charset="0"/>
              </a:rPr>
              <a:t>Examples: Binomial, Poisson, and Normal distributions.</a:t>
            </a:r>
          </a:p>
          <a:p>
            <a:pPr>
              <a:lnSpc>
                <a:spcPct val="150000"/>
              </a:lnSpc>
            </a:pPr>
            <a:r>
              <a:rPr lang="en-IN" dirty="0">
                <a:latin typeface="Times New Roman" panose="02020603050405020304" pitchFamily="18" charset="0"/>
                <a:cs typeface="Times New Roman" panose="02020603050405020304" pitchFamily="18" charset="0"/>
              </a:rPr>
              <a:t>These models are used in simulations, decision-making, and risk analysis.</a:t>
            </a:r>
          </a:p>
          <a:p>
            <a:endParaRPr lang="en-IN" dirty="0"/>
          </a:p>
        </p:txBody>
      </p:sp>
    </p:spTree>
    <p:extLst>
      <p:ext uri="{BB962C8B-B14F-4D97-AF65-F5344CB8AC3E}">
        <p14:creationId xmlns:p14="http://schemas.microsoft.com/office/powerpoint/2010/main" val="22064347"/>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0E615D0-56C0-BAD2-2CA3-63401CC010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F6E13FC-450B-3895-289D-24D0F820D4F2}"/>
              </a:ext>
            </a:extLst>
          </p:cNvPr>
          <p:cNvSpPr>
            <a:spLocks noGrp="1"/>
          </p:cNvSpPr>
          <p:nvPr>
            <p:ph type="title"/>
          </p:nvPr>
        </p:nvSpPr>
        <p:spPr>
          <a:xfrm>
            <a:off x="4019107" y="382771"/>
            <a:ext cx="5326912" cy="5847907"/>
          </a:xfrm>
        </p:spPr>
        <p:txBody>
          <a:bodyPr/>
          <a:lstStyle/>
          <a:p>
            <a:r>
              <a:rPr lang="en-IN" dirty="0"/>
              <a:t>Thank You….</a:t>
            </a:r>
          </a:p>
        </p:txBody>
      </p:sp>
    </p:spTree>
    <p:extLst>
      <p:ext uri="{BB962C8B-B14F-4D97-AF65-F5344CB8AC3E}">
        <p14:creationId xmlns:p14="http://schemas.microsoft.com/office/powerpoint/2010/main" val="2924144874"/>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138</TotalTime>
  <Words>1167</Words>
  <Application>Microsoft Office PowerPoint</Application>
  <PresentationFormat>Widescreen</PresentationFormat>
  <Paragraphs>115</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Arial Black</vt:lpstr>
      <vt:lpstr>Times New Roman</vt:lpstr>
      <vt:lpstr>Office Theme</vt:lpstr>
      <vt:lpstr>SEMESTER I   AI6101: APPLIED STATISTICS AND PROBABILITY</vt:lpstr>
      <vt:lpstr>Basics of Statistics</vt:lpstr>
      <vt:lpstr>Basics of Statistics</vt:lpstr>
      <vt:lpstr>Basics of Statistics</vt:lpstr>
      <vt:lpstr>The Role of Statistics in Engineering</vt:lpstr>
      <vt:lpstr>The Role of Statistics in Engineering</vt:lpstr>
      <vt:lpstr>Basic Principles </vt:lpstr>
      <vt:lpstr>Basic Principles </vt:lpstr>
      <vt:lpstr>Retrospective Study</vt:lpstr>
      <vt:lpstr>Retrospective Study</vt:lpstr>
      <vt:lpstr>Observational study</vt:lpstr>
      <vt:lpstr>Observational study</vt:lpstr>
      <vt:lpstr>Designed Experiments</vt:lpstr>
      <vt:lpstr>Designed Experiments</vt:lpstr>
      <vt:lpstr>Observing Processes Over Time</vt:lpstr>
      <vt:lpstr>Observing Processes Over Time</vt:lpstr>
      <vt:lpstr>Mechanistic and Empirical Models</vt:lpstr>
      <vt:lpstr>Mechanistic and Empirical Models</vt:lpstr>
      <vt:lpstr>Probability and Probability Models</vt:lpstr>
      <vt:lpstr>Probability and Probability Models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Rahul Sharma [MU - Jaipur]</dc:creator>
  <cp:lastModifiedBy>Dr. Rahul Sharma [MU - Jaipur]</cp:lastModifiedBy>
  <cp:revision>16</cp:revision>
  <dcterms:created xsi:type="dcterms:W3CDTF">2025-07-10T10:32:12Z</dcterms:created>
  <dcterms:modified xsi:type="dcterms:W3CDTF">2025-08-06T04:59:26Z</dcterms:modified>
</cp:coreProperties>
</file>